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1c3e8062dea48d5" /><Relationship Type="http://schemas.openxmlformats.org/officeDocument/2006/relationships/extended-properties" Target="/docProps/app.xml" Id="R8ab64e9bf5364a0f" /><Relationship Type="http://schemas.openxmlformats.org/officeDocument/2006/relationships/officeDocument" Target="/ppt/presentation.xml" Id="R05d6034197a24c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dd4ff1cef942d7"/>
  </p:sldMasterIdLst>
  <p:notesMasterIdLst>
    <p:notesMasterId xmlns:r="http://schemas.openxmlformats.org/officeDocument/2006/relationships" r:id="Rebe0433ce5b04f39"/>
  </p:notesMasterIdLst>
  <p:sldIdLst>
    <p:sldId xmlns:r="http://schemas.openxmlformats.org/officeDocument/2006/relationships" id="256" r:id="R2173ed3228b14c52"/>
    <p:sldId xmlns:r="http://schemas.openxmlformats.org/officeDocument/2006/relationships" id="257" r:id="R39ccc6a4a19f43c4"/>
    <p:sldId xmlns:r="http://schemas.openxmlformats.org/officeDocument/2006/relationships" id="258" r:id="R53e6ccb851ef4aa3"/>
    <p:sldId xmlns:r="http://schemas.openxmlformats.org/officeDocument/2006/relationships" id="259" r:id="R0de27bb59e1646aa"/>
    <p:sldId xmlns:r="http://schemas.openxmlformats.org/officeDocument/2006/relationships" id="260" r:id="R297874b227934e65"/>
    <p:sldId xmlns:r="http://schemas.openxmlformats.org/officeDocument/2006/relationships" id="261" r:id="Rd45fb289f3894897"/>
    <p:sldId xmlns:r="http://schemas.openxmlformats.org/officeDocument/2006/relationships" id="262" r:id="R211558d3a4fd4832"/>
    <p:sldId xmlns:r="http://schemas.openxmlformats.org/officeDocument/2006/relationships" id="263" r:id="Ra14ffcb71b17400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dd4ff1cef942d7" /><Relationship Type="http://schemas.openxmlformats.org/officeDocument/2006/relationships/theme" Target="/ppt/theme/theme1.xml" Id="R573a45813ef545d5" /><Relationship Type="http://schemas.openxmlformats.org/officeDocument/2006/relationships/notesMaster" Target="/ppt/notesMasters/notesMaster1.xml" Id="Rebe0433ce5b04f39" /><Relationship Type="http://schemas.openxmlformats.org/officeDocument/2006/relationships/presProps" Target="/ppt/presProps.xml" Id="R33409740491648a9" /><Relationship Type="http://schemas.openxmlformats.org/officeDocument/2006/relationships/viewProps" Target="/ppt/viewProps.xml" Id="R477dc995dba64758" /><Relationship Type="http://schemas.openxmlformats.org/officeDocument/2006/relationships/tableStyles" Target="/ppt/tableStyles.xml" Id="R8902c8b9797a40b4" /><Relationship Type="http://schemas.openxmlformats.org/officeDocument/2006/relationships/slide" Target="/ppt/slides/slide1.xml" Id="R2173ed3228b14c52" /><Relationship Type="http://schemas.openxmlformats.org/officeDocument/2006/relationships/slide" Target="/ppt/slides/slide2.xml" Id="R39ccc6a4a19f43c4" /><Relationship Type="http://schemas.openxmlformats.org/officeDocument/2006/relationships/slide" Target="/ppt/slides/slide3.xml" Id="R53e6ccb851ef4aa3" /><Relationship Type="http://schemas.openxmlformats.org/officeDocument/2006/relationships/slide" Target="/ppt/slides/slide4.xml" Id="R0de27bb59e1646aa" /><Relationship Type="http://schemas.openxmlformats.org/officeDocument/2006/relationships/slide" Target="/ppt/slides/slide5.xml" Id="R297874b227934e65" /><Relationship Type="http://schemas.openxmlformats.org/officeDocument/2006/relationships/slide" Target="/ppt/slides/slide6.xml" Id="Rd45fb289f3894897" /><Relationship Type="http://schemas.openxmlformats.org/officeDocument/2006/relationships/slide" Target="/ppt/slides/slide7.xml" Id="R211558d3a4fd4832" /><Relationship Type="http://schemas.openxmlformats.org/officeDocument/2006/relationships/slide" Target="/ppt/slides/slide8.xml" Id="Ra14ffcb71b1740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98a5c441b324e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8e4fe2a00145c5" /><Relationship Type="http://schemas.openxmlformats.org/officeDocument/2006/relationships/notesMaster" Target="/ppt/notesMasters/notesMaster1.xml" Id="Rdbbb092169634b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29959ba1ad4da6" /><Relationship Type="http://schemas.openxmlformats.org/officeDocument/2006/relationships/notesMaster" Target="/ppt/notesMasters/notesMaster1.xml" Id="R3765629ae3734e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97255a49d34654" /><Relationship Type="http://schemas.openxmlformats.org/officeDocument/2006/relationships/notesMaster" Target="/ppt/notesMasters/notesMaster1.xml" Id="R4b5b084c01414e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00dbd4643844d0" /><Relationship Type="http://schemas.openxmlformats.org/officeDocument/2006/relationships/notesMaster" Target="/ppt/notesMasters/notesMaster1.xml" Id="R9ac6989387f845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636544adcb4e83" /><Relationship Type="http://schemas.openxmlformats.org/officeDocument/2006/relationships/notesMaster" Target="/ppt/notesMasters/notesMaster1.xml" Id="Rea793999b99845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2a43e93f864575" /><Relationship Type="http://schemas.openxmlformats.org/officeDocument/2006/relationships/notesMaster" Target="/ppt/notesMasters/notesMaster1.xml" Id="R64b2aad2a5f941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a245b46a0543fa" /><Relationship Type="http://schemas.openxmlformats.org/officeDocument/2006/relationships/notesMaster" Target="/ppt/notesMasters/notesMaster1.xml" Id="R7607f8f169a947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aa2cfb27ffe404c" /><Relationship Type="http://schemas.openxmlformats.org/officeDocument/2006/relationships/notesMaster" Target="/ppt/notesMasters/notesMaster1.xml" Id="R5a83e6cc03b24b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735ee26b1c44a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977F69A-FF1A-4224-B4D9-2797F87B1675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8A7C91B-A179-4383-908F-D9D2851FE4E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FFA7EA-7622-46C6-BF27-AD0446A860B6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C2953F-9E28-4D61-B48B-427A739DED47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8BFBB7-5CFC-4F72-8545-ADCF2D03DB4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0a02b92d2434fc6" /><Relationship Type="http://schemas.openxmlformats.org/officeDocument/2006/relationships/slideLayout" Target="/ppt/slideLayouts/slideLayout2.xml" Id="R5008be89197a4e5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CA155F-61CD-4F0E-9013-13F98F65C299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08be89197a4e5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b414383e6f439d" /><Relationship Type="http://schemas.openxmlformats.org/officeDocument/2006/relationships/notesSlide" Target="/ppt/notesSlides/notesSlide1.xml" Id="R82afefe704b347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e221e771634b92" /><Relationship Type="http://schemas.openxmlformats.org/officeDocument/2006/relationships/notesSlide" Target="/ppt/notesSlides/notesSlide2.xml" Id="Reea98853f89549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9db22cf26645c8" /><Relationship Type="http://schemas.openxmlformats.org/officeDocument/2006/relationships/notesSlide" Target="/ppt/notesSlides/notesSlide3.xml" Id="Rc346f97f792645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3692673c0e4c06" /><Relationship Type="http://schemas.openxmlformats.org/officeDocument/2006/relationships/notesSlide" Target="/ppt/notesSlides/notesSlide4.xml" Id="Redbe933a66f146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f26274cf4d846e3" /><Relationship Type="http://schemas.openxmlformats.org/officeDocument/2006/relationships/notesSlide" Target="/ppt/notesSlides/notesSlide5.xml" Id="Rb01acd9991fe46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afca09b0814ae8" /><Relationship Type="http://schemas.openxmlformats.org/officeDocument/2006/relationships/notesSlide" Target="/ppt/notesSlides/notesSlide6.xml" Id="R4034b7a0abb348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6c204115da46d4" /><Relationship Type="http://schemas.openxmlformats.org/officeDocument/2006/relationships/notesSlide" Target="/ppt/notesSlides/notesSlide7.xml" Id="R8264cb1fa09c4f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163b348fe44bd6" /><Relationship Type="http://schemas.openxmlformats.org/officeDocument/2006/relationships/notesSlide" Target="/ppt/notesSlides/notesSlide8.xml" Id="Rd0a11bddad9a402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8BFBB7-5CFC-4F72-8545-ADCF2D03D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EBD6B2-28F3-455B-94B8-5527A139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C2BC7-E86F-4E60-A78D-3C54598A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632DEF-3C5A-4268-903A-BC8F52A2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762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EA042D-7DC4-4FBF-9D68-1E3C7D93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895350"/>
            <a:ext cx="3524250" cy="39814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021C5-19C1-47A7-B6AF-A2DAA44A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FLAGSHIP CASE 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2844C-DD98-4F6D-BD96-F17E38F1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00150"/>
            <a:ext cx="66675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2332"/>
                </a:solidFill>
              </a:defRPr>
            </a:pPr>
            <a:r>
              <a:rPr sz="2550" b="1">
                <a:solidFill>
                  <a:srgbClr val="1A2332"/>
                </a:solidFill>
              </a:rPr>
              <a:t>AI-Powered Routing Reduced Audit Intake Friction Without Weakening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E1C4F0-B393-4A3C-924A-C9676271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6572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568"/>
                </a:solidFill>
              </a:defRPr>
            </a:pPr>
            <a:r>
              <a:rPr sz="1200" b="0">
                <a:solidFill>
                  <a:srgbClr val="4A5568"/>
                </a:solidFill>
              </a:rPr>
              <a:t>Operational intelligence case built from anonymized real work in a regulated financial-services context.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C50519-903A-4050-A28B-B5496E74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48100"/>
            <a:ext cx="1123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657+ items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4E8CC-C215-4E17-89A8-72EB0043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48100"/>
            <a:ext cx="1123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97%+ accuracy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21E55C-3556-4F24-9FA7-2225710A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48100"/>
            <a:ext cx="11239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24+ hrs saved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EB839-8B4F-4B36-8FDC-8ADCFE8A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48100"/>
            <a:ext cx="14478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C5282"/>
                </a:solidFill>
              </a:defRPr>
            </a:pPr>
            <a:r>
              <a:rPr sz="750" b="1">
                <a:solidFill>
                  <a:srgbClr val="2C5282"/>
                </a:solidFill>
              </a:rPr>
              <a:t>Anonymized real 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34182F-8601-4D51-9960-5DA719D94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2001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Work 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7851D5-885E-4A63-BA8D-711349F8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66850"/>
            <a:ext cx="2743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2332"/>
                </a:solidFill>
              </a:defRPr>
            </a:pPr>
            <a:r>
              <a:rPr sz="1650" b="1">
                <a:solidFill>
                  <a:srgbClr val="1A2332"/>
                </a:solidFill>
              </a:rPr>
              <a:t>Anonymized real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7081E-A0C7-49E6-9984-703DAA5B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5265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00F65-4B66-40CE-87BB-8274FDD2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050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657+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8A213F-301E-4613-BDFC-3B33E9C7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audit requirements managed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27827C-4C9E-4D56-98D5-A83E0D53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3370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F30510-D515-4FD4-843E-E2E18366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861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97%+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A8DE6-CBCD-473A-B022-8FF3FAC6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99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assignment accuracy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DF865B-D583-4E20-9FB3-7A588B29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4D383A-A0C1-4C84-9D7F-55C0C27A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6715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24+ hrs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487144-A766-43E5-A266-BCCEB70C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19100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manual work removed weekly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9589FE-9E4D-42D6-A7EC-DAD78296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95800"/>
            <a:ext cx="2990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F58B3A-E0DB-49FD-A149-565D0CCE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48200"/>
            <a:ext cx="2647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2332"/>
                </a:solidFill>
              </a:defRPr>
            </a:pPr>
            <a:r>
              <a:rPr sz="1800" b="1">
                <a:solidFill>
                  <a:srgbClr val="1A2332"/>
                </a:solidFill>
              </a:rPr>
              <a:t>&lt;3%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FA772-1519-40E4-9978-8AF8E08E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972050"/>
            <a:ext cx="2647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misroute escalation rate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820F64-0BFB-4160-BF81-C1FA51E0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666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C5282"/>
                </a:solidFill>
              </a:defRPr>
            </a:pPr>
            <a:r>
              <a:rPr sz="788" b="0">
                <a:solidFill>
                  <a:srgbClr val="2C5282"/>
                </a:solidFill>
              </a:rPr>
              <a:t>Market Research | Competitive Intelligence | AI Workflow Execution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3D740-0D1F-47B0-9F3C-AEDA862C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9800"/>
            <a:ext cx="7048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3335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Based on real operating work in a regulated financial-services environment. Sensitive context is anonymized; metrics are preserved.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35EAC3-F611-45C3-BC06-877184A1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981700"/>
            <a:ext cx="2228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1A2332"/>
                </a:solidFill>
              </a:defRPr>
            </a:pPr>
            <a:r>
              <a:rPr sz="9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AFD60B-F773-4301-9E72-C6993111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191250"/>
            <a:ext cx="4457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205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</p:spTree>
    <p:extLst>
      <p:ext uri="{BB962C8B-B14F-4D97-AF65-F5344CB8AC3E}">
        <p14:creationId xmlns:p14="http://schemas.microsoft.com/office/powerpoint/2010/main" val="16596653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8BFBB7-5CFC-4F72-8545-ADCF2D03D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AE9ED-615A-4523-8645-224F1A9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B6A37-B27A-418A-9153-4C46E310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9F5A7-9CD3-4CAE-9AF9-B51AABA8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OPERATIONAL INTELLIGENCE | AI WORKFLOW DESIGN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CC7A8-DED0-47D8-950A-620E2F6D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02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13F77-D9E4-4561-A935-2F68AB01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legacy process was expensive because judgment and mechanics were bundled together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6B521-9C38-4FDF-8B50-8A7F4318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bottleneck was routing and prioritization, not the substantive audit work itself.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AA37AC-AC67-49C8-B670-40BA640D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0104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5AE0A1-CB3B-4E8F-BDE6-318BF5FC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4A839-3E86-41BD-BC23-EFE4A03E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695791-7FE1-4C63-B5A8-06064CC7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Every incoming requirement required manual reading, categorization, and forwarding.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AA7FEB-1F69-4E7B-BB04-D6747D3E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B1D425-592A-4771-98BD-E2C39C677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Experienced staff handled mechanical sorting work that did not justify their time.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DD787E-92DC-4C4C-9893-1D442156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46F51-BED3-41E0-A17F-81701F86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Misroutes and delayed ownership created audit friction and avoidable rework.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B22AF4-1E30-4127-B198-C1840F60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36385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B1D1C-03B6-4B16-B3CC-E82C7D87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Before-state economics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BD95F-841E-40A2-A283-32B34D3C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895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2332"/>
                </a:solidFill>
              </a:defRPr>
            </a:pPr>
            <a:r>
              <a:rPr sz="1350" b="1">
                <a:solidFill>
                  <a:srgbClr val="1A2332"/>
                </a:solidFill>
              </a:rPr>
              <a:t>24+ hours of senior staff time were spent weekly on a task that should have been structured, not artisanal.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6F556-BD75-42F1-8B72-242D3A47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8390C-2A18-4D07-868C-26B904EA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01 | Operational Intelligence | Anonymized real work | 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57E53-35AF-43AD-9618-34C04EE9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61844112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8BFBB7-5CFC-4F72-8545-ADCF2D03D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CE899-DCC1-42F0-8642-598232DD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A97F37-A91C-46CA-858E-44421909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CF1C53-E77A-4337-BEF8-30128823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OPERATIONAL INTELLIGENCE | AI WORKFLOW DESIGN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364A9-778C-4071-A5DF-941F4544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03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73698-F704-4DD3-89FE-DB5C727F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workflow was rebuilt as a three-layer control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666B0C-B183-4FB0-A1FB-533AA640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design accelerated routine cases while reserving ambiguity for human review.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DE23A-53C9-4802-8797-4361E1D1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26942-1288-49FC-9C56-F9AA90C3E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Classification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A20DF-8B86-408E-A1C6-433B178E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Interprets the requirement, extracts key entities, and assigns a primary category.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85FB4-15A7-4702-B85F-24630608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917929-F1F7-422C-A1BF-992DF30C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Routing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6CE9D-9D25-4B54-B7A3-86524C90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Maps the case to the accountable owner through an editable rules layer.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1ECCF9-2777-4967-9EBD-ACCD13A6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3A153-629F-402A-814A-A2B4AB92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4120F2-DA00-47B3-8ABB-A9E47D22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Uses confidence thresholds to separate auto-routing from human escalation.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5ABAB0-FFEC-4212-917A-68D5B574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49563E-BB57-4399-B864-255DF821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01 | Operational Intelligence | Anonymized real work | 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28B31F-1334-4207-A488-E7EFE4F4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92830295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8BFBB7-5CFC-4F72-8545-ADCF2D03D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8D5A9-8082-4B1B-B390-AF9EC690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8771D-B466-480E-A12C-D4596179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14F9D-3D95-4B5B-BDDB-B576FA70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OPERATIONAL INTELLIGENCE | AI WORKFLOW DESIGN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26880-4194-4F60-94B7-6914E6F3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04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79C75C-8025-4A57-8403-5410115E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architecture was designed to remain editable under changing audit needs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F4CD9-3A14-427D-802B-5A6728D0A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Separating interpretation, routing logic, review thresholds, and logging is what made the workflow maintainable.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3FDF6-5C7C-4BA8-94A6-9B0186C8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3E608-1CED-4FA5-94DB-FC852197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C3E43-C99C-4B75-A6BD-4AE3C7CB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0A88BB-45D8-45FD-B89D-0DADB3DC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Primary role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EC2A05-F015-4DBC-8652-D95162F5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E672BB-A0C2-4646-BCEF-6B6019C4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Editable element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3CA523-0E24-4FEB-A8DA-799C7033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8A2DAB-85F1-4FAB-8107-D273C362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Risk reduced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5CE8C9-1602-416F-A73C-F84A9AE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5FA4CC-836C-4C72-A815-D01DB6E0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13A70B-3133-41D6-9744-9CBE2B7F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27D8F1-3103-4356-9C77-5E392505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Read and classify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134DEA-20DD-4C8E-9647-6C9A1D73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CDC903-84AE-4C81-B70D-3AC62572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Examples and categories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177CFA-72D4-433B-9363-E150F4C1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E3D9A1-728B-4713-BEF8-CC563524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Inconsistent intake reading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6AC744-277A-4922-A147-DF9225C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29A13B-FF79-4795-8BC9-3B6169A9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Routing matrix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63CD3-62E6-466F-ACAB-46B5865C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AF7C6-5C21-45E5-8D40-89761E93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Assign owner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B0BD9F-D344-453A-8988-95D7C397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6ACC1C-B90E-4889-AF88-EBFE7F7B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Rules table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419B54-0294-4140-88B1-544A8952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BBDC25-32E3-401D-AB63-CB3C2A7E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Hard-coded routing rigidity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8C9361-CD3D-41A2-90E5-E60196EF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21A2BD-CC84-497A-8A65-721BF6FA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Confidence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649E7B-67E0-4D24-A9CB-8D0D32015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70A593-6EF0-4BAB-B102-27A4033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Escalate ambiguity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343A5A-553C-4803-A15D-9A4F1F8B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DE2244-2759-41AD-A2D6-5BB0AEB0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Threshold logic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17CE3F-0A79-4C36-99F4-B3125722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566EC8-1E84-4240-8B53-AF5CE5DF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False certainty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E5E734-73FF-4D21-9176-76B11F06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8566BE-6538-408C-9656-756890A2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Logging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F28909-E524-4D55-B1B3-74C50A0B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6198FCE-CA64-40A0-BDFC-C60599AE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Preserve traceability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80121E6-8188-480A-8904-C07355F2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CB070B2-7935-46BC-99A8-CA5F6843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Case history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032729-2DDA-4E4B-956C-56997D42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03DC8D-550D-46F9-B079-4FD7CAB6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Opaque automation behavior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89C3B3-22E1-4D7C-ACDD-162C0592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The value is not just speed. It is a workflow that can evolve without losing control logic.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188DF9-3ACE-4BBA-AE76-6BDBA8B2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DCD789-752A-4DFC-8E8D-D7A172DE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01 | Operational Intelligence | Anonymized real work | 01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B15FF6-F42B-4ABF-96E3-BAFE6CF4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87748005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8BFBB7-5CFC-4F72-8545-ADCF2D03D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AB468-7CA8-4483-A139-00E9B457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EB6C7-D9BB-4B61-824D-430882CC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20907A-522E-49D6-B547-6470672E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OPERATIONAL INTELLIGENCE | AI WORKFLOW DESIGN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58A0A-0AC3-4723-A15B-78388EEC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05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A5A461-7084-45F8-86A1-B8FF5A95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results changed both throughput and control quality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B6B76-33E6-47FE-B7A5-F3F2EC90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strongest result is that speed improved alongside consistency, not instead of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BEC7C-400E-4AF4-86A9-B0C7C81A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F4949B-22C3-4146-B10C-92225372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5B9444-8884-4AC0-BE40-C8B40046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234BC-85B0-4838-B3F3-FDA36C4A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E97509-6A6A-4029-955B-618554D97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78DED-CB93-4C30-BF91-863739C0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2F5BA-5DEB-4221-9FA4-681062D59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57450"/>
            <a:ext cx="2743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8D8DFE-5DB1-4C5A-98CD-10C8B915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43175"/>
            <a:ext cx="2590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Change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49DA0-343B-4184-9DFE-B81E5BCC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75AAA6-09C8-40B3-803B-3AD37503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Processing 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62C1D-760B-495D-B3E4-D53A672E8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32545B-6B2E-43C2-B469-4A56292D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15-20 min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B994F-B670-4B5A-96D7-DDA8FD58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3C49E-3594-47DA-950D-E46B80E5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30-45 sec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8528BA-AD1F-4071-B63C-58B3D916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6CAE08-15CE-4541-ACA3-CDFBBF7D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8575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95% reduction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80702E-3A36-441A-A61E-5D718BAA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497D5F-475F-461A-B34A-B55E5F28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Weekly manual effort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2F0A01-5177-48F1-B765-447D373D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D86245-76F4-4319-9CAB-AD68DC6A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24+ hrs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058F20-DCCF-4BFC-BC97-E9AFBECC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6FE24F-DD7A-4990-911A-7FE88D49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&lt;2 hrs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24718C-72A7-4DB4-82D7-7C915DD1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1ABD33-04BB-4620-AEE4-EC10EA2C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099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92% reduction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6C4A42-8447-4F3F-832B-E99EA53D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84CA5-C680-40B5-80BE-47B03EF6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Assignment accuracy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AACA5D-CE19-4939-B0A5-FF9ECABF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1CE00C-5853-43CF-A9B1-DA4C39F9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~88%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ECD3C5-6B01-48FB-82CB-31AAB839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B9BFAB-C234-4BAE-B82D-28D20452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97%+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4838CD-0B31-4C31-859F-1183CBB9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862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2A4988-63E2-41D5-A188-0D9464A9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9624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+9pp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A0E2A0-8AF2-4CA6-A377-A7936B61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7CEF72-7409-4988-BDEA-3C1A983E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Misroute escalation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137319-9128-4ED0-AC85-029611A0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CBB471-D95B-43F4-B955-1EA2701B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~12%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63F163-D893-41D3-A8A6-131C3DE1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542015-8D4D-4E5E-BC73-E38995A2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&lt;3%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3B417A-8FDB-4B5F-8BD2-5B24BADD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3865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94A0DF-1BC3-48B5-8AF9-A4AD4EFB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485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Material reduction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B0CE48-E99D-4E1A-9845-AF75ABE7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6237C2-1943-4CD5-A6E0-1D39CA13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Response cycle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368531C-315B-4ECE-99E7-36D6E95B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9911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94ED6FF-C7C1-44D7-BAEF-F3622619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673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24-48 hrs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FC6687-F6BF-43F9-8D30-9AE7BC2F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911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E11318-0C3A-4206-8933-8EB8A783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673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&lt;4 hrs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36806B-3EB5-4DDA-B4A7-3F4B8413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91100"/>
            <a:ext cx="2743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2E8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252BD8-1028-4F75-A4C2-D0E50772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67300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202C"/>
                </a:solidFill>
              </a:defRPr>
            </a:pPr>
            <a:r>
              <a:rPr sz="825" b="0">
                <a:solidFill>
                  <a:srgbClr val="1A202C"/>
                </a:solidFill>
              </a:rPr>
              <a:t>Much faster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E443758-EB9F-4FC8-A1CF-52B0545C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914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4A5568"/>
                </a:solidFill>
              </a:defRPr>
            </a:pPr>
            <a:r>
              <a:rPr sz="863" b="0">
                <a:solidFill>
                  <a:srgbClr val="4A5568"/>
                </a:solidFill>
              </a:rPr>
              <a:t>Metrics reflect workflow handling quality rather than model-lab benchmark scoring.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B9C48B-FE56-4BB6-9B8C-86F62D9C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5BA461C-A962-4315-B400-01A3E9DD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01 | Operational Intelligence | Anonymized real work | 01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AAF407-13BC-49EE-AC2D-F16DCA78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62477234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8BFBB7-5CFC-4F72-8545-ADCF2D03D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6EE26-55C6-4F65-B7CB-A4A3DC1BE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7F1839-8CF0-4BC6-B76B-276CA1AA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88D3D-AAE1-4F70-8C59-057ADB63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OPERATIONAL INTELLIGENCE | AI WORKFLOW DESIGN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285982-CC51-4C99-8ED2-4E917128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06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F8CD4-01C3-4D1E-984A-4ADF55EF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governance layer is what made the workflow usable in a regulated setting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52643-D50E-4FD1-A75D-45427A999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The design did not pretend uncertainty did not exist. It operationalized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EAFDB-DB04-49D9-8D23-2E074115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701040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A7FD8-4D89-4F57-90F0-C4A0E19F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67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Key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02A600-2FFC-44CF-A728-AFCE2E7C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4D81B-C969-4B97-8248-CC75779C5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High-confidence items were auto-routed to preserve throughput.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E9956-BD54-43AD-B2D1-646D2CB8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57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C81E84-32AB-48FD-A4A7-858FC39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195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Low-confidence items were escalated to human review instead of being forced through the system.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89EA92-8223-47D6-959E-0B3306E48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DB57E-0937-40F2-ABA0-47B2A8FC5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601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Routing logic was editable without code changes, which preserved maintainability and auditability.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A79DF4-8EF3-42E3-94C4-A55D1960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19350"/>
            <a:ext cx="3638550" cy="3067050"/>
          </a:xfrm>
          <a:prstGeom xmlns:a="http://schemas.openxmlformats.org/drawingml/2006/main" prst="roundRect">
            <a:avLst>
              <a:gd name="adj" fmla="val 248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59B1E-66B4-4017-87D2-31A73132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2895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C5282"/>
                </a:solidFill>
              </a:defRPr>
            </a:pPr>
            <a:r>
              <a:rPr sz="825" b="1">
                <a:solidFill>
                  <a:srgbClr val="2C5282"/>
                </a:solidFill>
              </a:rPr>
              <a:t>Why this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C380F-0ED6-4953-86E3-471B4955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2895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2332"/>
                </a:solidFill>
              </a:defRPr>
            </a:pPr>
            <a:r>
              <a:rPr sz="1350" b="1">
                <a:solidFill>
                  <a:srgbClr val="1A2332"/>
                </a:solidFill>
              </a:rPr>
              <a:t>The asset proves Santiago can design AI-enabled workflows with control logic, not just prompts.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748D8-29D4-4D87-8CDB-B0285659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A908E5-9BFD-4F96-BED6-7E1916D3E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01 | Operational Intelligence | Anonymized real work | 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4BFF93-B581-40D5-92D3-AADDF28D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0062901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8BFBB7-5CFC-4F72-8545-ADCF2D03D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1BDE2-5F14-4C9F-B540-EC6CD544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54DCE-9778-49E6-9D75-0C128E12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D5F776-0C52-45E8-A3E8-AE886012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OPERATIONAL INTELLIGENCE | AI WORKFLOW DESIGN | REGULATED FINANCIAL SERVICES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862DA-7A54-4129-808F-DDC0B02F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52400"/>
            <a:ext cx="1485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4A5568"/>
                </a:solidFill>
              </a:defRPr>
            </a:pPr>
            <a:r>
              <a:rPr sz="788" b="0">
                <a:solidFill>
                  <a:srgbClr val="4A5568"/>
                </a:solidFill>
              </a:rPr>
              <a:t>07 /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90B6E-69C4-48BA-A6D0-CAD3B83B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74485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2332"/>
                </a:solidFill>
              </a:defRPr>
            </a:pPr>
            <a:r>
              <a:rPr sz="2100" b="1">
                <a:solidFill>
                  <a:srgbClr val="1A2332"/>
                </a:solidFill>
              </a:rPr>
              <a:t>The same design pattern transfers to other high-volume judgment workflows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17C52-05EE-4236-B7A7-9EF0F1D8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7448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A5568"/>
                </a:solidFill>
              </a:defRPr>
            </a:pPr>
            <a:r>
              <a:rPr sz="1050" b="0">
                <a:solidFill>
                  <a:srgbClr val="4A5568"/>
                </a:solidFill>
              </a:rPr>
              <a:t>What generalizes is the operating architecture: classify, route, review ambiguity, and preserve traceability.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896F76-539B-4B9D-84D6-34D21511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0E64AE-F0D5-4D57-8483-16902527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Document triage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4EE044-0F25-420C-B197-D6055243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Useful where many incoming requests need fast assignment without losing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DBC579-1B52-40D5-BE72-A2427358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51CFC7-7A77-453F-B6C5-2DB10957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Control-sensitive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89F3E1-A7DB-4A2A-8F06-738E4779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Relevant when exceptions and reviewability matter as much as speed.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7E1675-13B5-46E0-BCAC-70643831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52700"/>
            <a:ext cx="35052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7986D-B82E-4243-B7CB-E2C9224C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3162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C5282"/>
                </a:solidFill>
              </a:defRPr>
            </a:pPr>
            <a:r>
              <a:rPr sz="900" b="1">
                <a:solidFill>
                  <a:srgbClr val="2C5282"/>
                </a:solidFill>
              </a:rPr>
              <a:t>Human-in-the-loop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DF739-FBC9-4DCE-9D9A-F01552A8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31623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Strong fit for systems where automation should narrow labor, not remove judgment.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BA8F29-B18B-4B07-A4A4-2616A0DE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79DF81-5966-416B-96DD-8CAC628D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5905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4A5568"/>
                </a:solidFill>
              </a:defRPr>
            </a:pPr>
            <a:r>
              <a:rPr sz="713" b="0">
                <a:solidFill>
                  <a:srgbClr val="4A5568"/>
                </a:solidFill>
              </a:rPr>
              <a:t>Flagship Case 01 | Operational Intelligence | Anonymized real work | 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FF21B-E94F-4298-A333-AE0706AC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53200"/>
            <a:ext cx="3009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13" b="1">
                <a:solidFill>
                  <a:srgbClr val="4A5568"/>
                </a:solidFill>
              </a:defRPr>
            </a:pPr>
            <a:r>
              <a:rPr sz="713" b="1">
                <a:solidFill>
                  <a:srgbClr val="4A5568"/>
                </a:solidFill>
              </a:rPr>
              <a:t>Santiago Garces Chavarria</a:t>
            </a:r>
          </a:p>
        </p:txBody>
      </p:sp>
    </p:spTree>
    <p:extLst>
      <p:ext uri="{BB962C8B-B14F-4D97-AF65-F5344CB8AC3E}">
        <p14:creationId xmlns:p14="http://schemas.microsoft.com/office/powerpoint/2010/main" val="14716161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8BFBB7-5CFC-4F72-8545-ADCF2D03DB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9BD056-1DDC-476D-9522-7538C107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E183D-8862-435C-AD60-BE883221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32"/>
          </a:solidFill>
          <a:ln xmlns:a="http://schemas.openxmlformats.org/drawingml/2006/main" w="0">
            <a:solidFill>
              <a:srgbClr val="1A23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D7D7D-D480-4123-BDC4-F6C3F000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953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A2332"/>
                </a:solidFill>
              </a:defRPr>
            </a:pPr>
            <a:r>
              <a:rPr sz="2250" b="1">
                <a:solidFill>
                  <a:srgbClr val="1A2332"/>
                </a:solidFill>
              </a:rPr>
              <a:t>This is proof of execution under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07D036-610E-4BCD-93CD-AF048938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6667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568"/>
                </a:solidFill>
              </a:defRPr>
            </a:pPr>
            <a:r>
              <a:rPr sz="1275" b="0">
                <a:solidFill>
                  <a:srgbClr val="4A5568"/>
                </a:solidFill>
              </a:rPr>
              <a:t>The case is strongest not because it uses AI, but because it shows AI connected to workflow design, governance, and measurable business impact.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FA6FF-D10C-44FD-A795-664414E9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2674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F38692-9198-4644-BD9A-38517D39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909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Takeaways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F1E31-73EC-4FBF-A612-3A6C66E1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2FB90-D0B1-45D6-8F2C-5E245328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147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Relevant for workflow automation, document triage, compliance operations, and operational intelligence work.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AD70F-C27F-4A80-AC6A-1CCD6421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82CE"/>
          </a:solidFill>
          <a:ln xmlns:a="http://schemas.openxmlformats.org/drawingml/2006/main" w="0">
            <a:solidFill>
              <a:srgbClr val="3182C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5B64EB-BA41-441E-9B8E-307AEA4A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481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14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202C"/>
                </a:solidFill>
              </a:defRPr>
            </a:pPr>
            <a:r>
              <a:rPr sz="1125" b="0">
                <a:solidFill>
                  <a:srgbClr val="1A202C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09B07-02E8-47F7-AEB0-AB31B8FF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143000"/>
            <a:ext cx="3238500" cy="41148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8C4F2-CCF7-4FA5-873C-2E233C34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4287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C5282"/>
                </a:solidFill>
              </a:defRPr>
            </a:pPr>
            <a:r>
              <a:rPr sz="788" b="1">
                <a:solidFill>
                  <a:srgbClr val="2C5282"/>
                </a:solidFill>
              </a:rPr>
              <a:t>Contact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FF0526-80EE-41C4-9E1D-37036B0D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514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0089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2332"/>
                </a:solidFill>
              </a:defRPr>
            </a:pPr>
            <a:r>
              <a:rPr sz="1500" b="1">
                <a:solidFill>
                  <a:srgbClr val="1A2332"/>
                </a:solidFill>
              </a:rPr>
              <a:t>Santiago Garces Chavarria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3FC3E6-1BB7-4B91-9178-F2A904D6F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38350"/>
            <a:ext cx="2362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C5282"/>
                </a:solidFill>
              </a:defRPr>
            </a:pPr>
            <a:r>
              <a:rPr sz="825" b="0">
                <a:solidFill>
                  <a:srgbClr val="2C5282"/>
                </a:solidFill>
              </a:rPr>
              <a:t>Market Research | Competitive Intelligence | AI Workflow 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99BDC-8005-4D00-B818-F625A36A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23622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A202C"/>
                </a:solidFill>
              </a:defRPr>
            </a:pPr>
            <a:r>
              <a:rPr sz="1050" b="0">
                <a:solidFill>
                  <a:srgbClr val="1A202C"/>
                </a:solidFill>
              </a:rPr>
              <a:t>Based on real operating work in a regulated financial-services environment. Sensitive context is anonymized; metrics are preserved.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2F2F8B-43E8-4EED-AE55-50068F95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2362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santiago.garces.blevine@gmail.com</a:t>
            </a:r>
          </a:p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Medellin, Colombia</a:t>
            </a:r>
          </a:p>
          <a:p xmlns:a="http://schemas.openxmlformats.org/drawingml/2006/main">
            <a:pPr algn="l">
              <a:defRPr sz="1013" b="0">
                <a:solidFill>
                  <a:srgbClr val="1A202C"/>
                </a:solidFill>
              </a:defRPr>
            </a:pPr>
            <a:r>
              <a:rPr sz="1013" b="0">
                <a:solidFill>
                  <a:srgbClr val="1A202C"/>
                </a:solidFill>
              </a:rPr>
              <a:t>For recruiter review or project discussion, email santiago.garces.blevine@gmail.com. Include the role or problem, timeline, and expected deliverable format.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C8A180-49DD-414F-B7FA-DDDE6063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53000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4A5568"/>
                </a:solidFill>
              </a:defRPr>
            </a:pPr>
            <a:r>
              <a:rPr sz="750" b="0">
                <a:solidFill>
                  <a:srgbClr val="4A5568"/>
                </a:solidFill>
              </a:rPr>
              <a:t>Flagship Case 01 | Operational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4127965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2026-04-23T00:03:53.2060000Z</dcterms:created>
  <dcterms:modified xsi:type="dcterms:W3CDTF">2026-04-23T00:03:53.2060000Z</dcterms:modified>
</coreProperties>
</file>