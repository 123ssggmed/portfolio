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33e25afca04983" /><Relationship Type="http://schemas.openxmlformats.org/officeDocument/2006/relationships/extended-properties" Target="/docProps/app.xml" Id="R267a092f949546b8" /><Relationship Type="http://schemas.openxmlformats.org/officeDocument/2006/relationships/officeDocument" Target="/ppt/presentation.xml" Id="R8b33a5bd77b84e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6826bf019f4218"/>
  </p:sldMasterIdLst>
  <p:notesMasterIdLst>
    <p:notesMasterId xmlns:r="http://schemas.openxmlformats.org/officeDocument/2006/relationships" r:id="R033340a17d9b4a29"/>
  </p:notesMasterIdLst>
  <p:sldIdLst>
    <p:sldId xmlns:r="http://schemas.openxmlformats.org/officeDocument/2006/relationships" id="256" r:id="R6927972ff12c4a99"/>
    <p:sldId xmlns:r="http://schemas.openxmlformats.org/officeDocument/2006/relationships" id="257" r:id="R6cf966283f334f11"/>
    <p:sldId xmlns:r="http://schemas.openxmlformats.org/officeDocument/2006/relationships" id="258" r:id="R961e6d9b040f4194"/>
    <p:sldId xmlns:r="http://schemas.openxmlformats.org/officeDocument/2006/relationships" id="259" r:id="R27d034f7f5054b80"/>
    <p:sldId xmlns:r="http://schemas.openxmlformats.org/officeDocument/2006/relationships" id="260" r:id="Rc4d86afbcb9d47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826bf019f4218" /><Relationship Type="http://schemas.openxmlformats.org/officeDocument/2006/relationships/theme" Target="/ppt/theme/theme1.xml" Id="Rc78b80040d894b7c" /><Relationship Type="http://schemas.openxmlformats.org/officeDocument/2006/relationships/notesMaster" Target="/ppt/notesMasters/notesMaster1.xml" Id="R033340a17d9b4a29" /><Relationship Type="http://schemas.openxmlformats.org/officeDocument/2006/relationships/presProps" Target="/ppt/presProps.xml" Id="R73703e9af63a4676" /><Relationship Type="http://schemas.openxmlformats.org/officeDocument/2006/relationships/viewProps" Target="/ppt/viewProps.xml" Id="Rb093d5ce49c64509" /><Relationship Type="http://schemas.openxmlformats.org/officeDocument/2006/relationships/tableStyles" Target="/ppt/tableStyles.xml" Id="Ref206bd605214ac4" /><Relationship Type="http://schemas.openxmlformats.org/officeDocument/2006/relationships/slide" Target="/ppt/slides/slide1.xml" Id="R6927972ff12c4a99" /><Relationship Type="http://schemas.openxmlformats.org/officeDocument/2006/relationships/slide" Target="/ppt/slides/slide2.xml" Id="R6cf966283f334f11" /><Relationship Type="http://schemas.openxmlformats.org/officeDocument/2006/relationships/slide" Target="/ppt/slides/slide3.xml" Id="R961e6d9b040f4194" /><Relationship Type="http://schemas.openxmlformats.org/officeDocument/2006/relationships/slide" Target="/ppt/slides/slide4.xml" Id="R27d034f7f5054b80" /><Relationship Type="http://schemas.openxmlformats.org/officeDocument/2006/relationships/slide" Target="/ppt/slides/slide5.xml" Id="Rc4d86afbcb9d47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3bcc095f3414d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523743cc704d95" /><Relationship Type="http://schemas.openxmlformats.org/officeDocument/2006/relationships/notesMaster" Target="/ppt/notesMasters/notesMaster1.xml" Id="R2528c70865234f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8077a9b62b4e41" /><Relationship Type="http://schemas.openxmlformats.org/officeDocument/2006/relationships/notesMaster" Target="/ppt/notesMasters/notesMaster1.xml" Id="R3be605bce16247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8bd2eee8c0483a" /><Relationship Type="http://schemas.openxmlformats.org/officeDocument/2006/relationships/notesMaster" Target="/ppt/notesMasters/notesMaster1.xml" Id="Rb553e1bc7dc54f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c2a40ae6fc4bad" /><Relationship Type="http://schemas.openxmlformats.org/officeDocument/2006/relationships/notesMaster" Target="/ppt/notesMasters/notesMaster1.xml" Id="Ra3818831d58e44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d8ab928a92452e" /><Relationship Type="http://schemas.openxmlformats.org/officeDocument/2006/relationships/notesMaster" Target="/ppt/notesMasters/notesMaster1.xml" Id="R53938b04bc1e41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7ade8a8a9475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C5DCD69-8915-44A2-8403-A6CDBCD76A0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2A56E0-F92A-479E-A33A-FE49C4B49FE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C4F6B9-03D4-45D0-A31C-650A7BE0D4A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56A21C-7F08-4989-867A-1C6A613A0B2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29761E-1B91-4154-99AE-15ABDA523F2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cd43f9e720a4649" /><Relationship Type="http://schemas.openxmlformats.org/officeDocument/2006/relationships/slideLayout" Target="/ppt/slideLayouts/slideLayout2.xml" Id="R09b6785f3c0b49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3FE961-22DE-41FE-BB51-1377C53E968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6785f3c0b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5e557a60524ba1" /><Relationship Type="http://schemas.openxmlformats.org/officeDocument/2006/relationships/notesSlide" Target="/ppt/notesSlides/notesSlide1.xml" Id="R3937bb6516c04a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600fa6ca1b4a87" /><Relationship Type="http://schemas.openxmlformats.org/officeDocument/2006/relationships/notesSlide" Target="/ppt/notesSlides/notesSlide2.xml" Id="Rb19ed228875e40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d8026213e84534" /><Relationship Type="http://schemas.openxmlformats.org/officeDocument/2006/relationships/notesSlide" Target="/ppt/notesSlides/notesSlide3.xml" Id="Rc77f9385c21e4a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64bafbda8a4bfc" /><Relationship Type="http://schemas.openxmlformats.org/officeDocument/2006/relationships/notesSlide" Target="/ppt/notesSlides/notesSlide4.xml" Id="R8ec8732e9b7c4a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d0d4844de643ad" /><Relationship Type="http://schemas.openxmlformats.org/officeDocument/2006/relationships/notesSlide" Target="/ppt/notesSlides/notesSlide5.xml" Id="Re29ae00327d546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29761E-1B91-4154-99AE-15ABDA52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49BC9-AD28-4EF9-8BCD-FD93CCC1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FC442-244F-461D-99B0-DE8C36BA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B82D7-9736-4EF9-9981-006802CF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CB047-4E7E-467A-9F52-59FB066D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95350"/>
            <a:ext cx="3524250" cy="39814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55511-162B-40F1-9B03-892CEF88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FLAGSHIP PORTFOLIO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B7D50-FFB7-4EC3-B333-0446BBC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666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2332"/>
                </a:solidFill>
              </a:defRPr>
            </a:pPr>
            <a:r>
              <a:rPr sz="2550" b="1">
                <a:solidFill>
                  <a:srgbClr val="1A2332"/>
                </a:solidFill>
              </a:rPr>
              <a:t>Three flagship cases arranged as a single executive proof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05066-91AB-4AC7-9176-5BF97AC3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57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1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568"/>
                </a:solidFill>
              </a:defRPr>
            </a:pPr>
            <a:r>
              <a:rPr sz="1200" b="0">
                <a:solidFill>
                  <a:srgbClr val="4A5568"/>
                </a:solidFill>
              </a:rPr>
              <a:t>This portfolio is designed as a proof system, not as a library of unrelated samples. It is organized around three flagship cases. The first case proves operational execution under real constraints in a regulated environment. The second and third cases form a commercial-strategy chain: market structure, benchmark logic, and pricing architecture. Together they show how Santiago moves from messy inputs to structured judgment, and from structured judgment to decision-ready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06A4A-D648-49E7-962B-4AFB135C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21158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3 flagship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FB884-76E7-4A8B-977A-5388C60D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" y="3848100"/>
            <a:ext cx="115252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2 proof pillars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6CC59-61E4-4632-9857-F108199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805" y="3848100"/>
            <a:ext cx="156591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97%+ workflow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317B3-BD1B-4FF6-8271-D7CAA38D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965" y="3848100"/>
            <a:ext cx="22098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12-player commercial benchmark univ…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7288E-CDE6-4B94-8928-6538AF36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001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Work 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AC772-DF42-494B-BE5F-EA1C9BE4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2743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332"/>
                </a:solidFill>
              </a:defRPr>
            </a:pPr>
            <a:r>
              <a:rPr sz="1650" b="1">
                <a:solidFill>
                  <a:srgbClr val="1A2332"/>
                </a:solidFill>
              </a:rPr>
              <a:t>Portfolio guide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64358-4DCF-4078-8726-79631CC3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C58A7-2960-4BD0-86DE-D3C55314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0424E-6A69-42D7-AC97-5FE327B3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flagship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3EB93-845A-4C0E-ADDB-67AE0C2A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92FEE-922A-4182-9D48-E9C31B1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6F4AD-6723-4250-BFB5-8424E8A6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proof pillars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6D869-9374-4339-BF10-BEFD4779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0D015-8157-45A2-813B-AF6860AE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97%+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D2DB7-7D3D-414A-BE97-5EEBF1FD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workflow accuracy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B9F08-E9C1-4BDE-8E24-1BC9F33D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F6313-093F-4F29-925C-BA5B3F01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482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12-player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5E984-3DBF-49BA-94D4-B7EE3A7B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720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commercial benchmark universe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6FD31-A20F-42A7-B5E6-5324CBD2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C5282"/>
                </a:solidFill>
              </a:defRPr>
            </a:pPr>
            <a:r>
              <a:rPr sz="788" b="0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234C35-0F82-4A01-BAF4-AAF747C9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Canonical guide to the three flagship portfolio cases and the evidence logic that ties them together.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40C1B-000A-4B38-8C42-4877C58E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817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5EFA9D-C820-428C-A2F1-F0A8F2C6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912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205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</p:spTree>
    <p:extLst>
      <p:ext uri="{BB962C8B-B14F-4D97-AF65-F5344CB8AC3E}">
        <p14:creationId xmlns:p14="http://schemas.microsoft.com/office/powerpoint/2010/main" val="12385897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29761E-1B91-4154-99AE-15ABDA52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EB18C-68B7-4BC9-9E40-3A7E5B6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E9DBD-26F4-41C7-8475-B6A300D0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9B451-C15F-4BA9-825D-B91B4003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AC4E0-44E0-492E-A600-261ADAA5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86AA2-784A-4708-B80D-24E9B4A2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Portfolio 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B6E51-00DA-43F2-B319-B826A2E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package is designed to show execution under constraints and commercial judgment in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D4B10-2903-46CE-9062-33FC3682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0104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DF2D4-5233-4181-B4E8-93FA08C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7E263-F16E-4626-8293-09C606F6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F460B-1FB0-47B2-AC5E-7874C7C0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Santiago's value is clearest when the work requires analytical judgment, written clarity, and disciplined structure under ambigui…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CE505-1F9A-4E40-9059-6196E25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70DDD-1D03-47EC-A390-8489E484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The flagship portfolio therefore focuses on two proof pillars: operational intelligence and commercial intelligence. That is the…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581BB-2988-4E95-A963-7C7CBF9E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36385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1E888-5AB6-493A-8CC5-A64756A4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Guide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1D66F-92ED-4E42-BF15-4AB24082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895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2332"/>
                </a:solidFill>
              </a:defRPr>
            </a:pPr>
            <a:r>
              <a:rPr sz="1350" b="1">
                <a:solidFill>
                  <a:srgbClr val="1A2332"/>
                </a:solidFill>
              </a:rPr>
              <a:t>This portfolio is designed as a proof system, not as a library of unrelated samples. It is organized around three flagship cases. The first case proves operational execution under…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2EB62-BEF8-4926-A5C6-428E629A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E2A6E-244A-41AC-B921-8C629DE9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Control Dossier for the 3 Hero Cases | Portfolio guide | GUIDE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C5634-12F7-427A-8285-F4645878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7066579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29761E-1B91-4154-99AE-15ABDA52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F9823-80C1-4AD9-9DF8-193A5F62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8CE7B-9784-4D3D-9C4A-28B04A5E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B7BA6-BD70-4A15-9AAC-2979A769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1C9B2-3B89-4388-8F61-EE1178FA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95A72-2EAA-4B0C-87C4-551F2A7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three hero cases are meant to be read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23F5E-8C3F-4A26-A00D-C7973CFC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Each case stands alone, but the full package gets stronger when the operational and commercial logic are read as a chain.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49FF8-EFAC-4796-B42C-049431C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31D47-66D8-427C-8D67-47C19351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01 | Operational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0F59E-C961-4A0E-BB29-BF54E495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 regulated financial-services environment was processing more than 650 audit requirements annually through a manual classification and routing workflow. The legacy process consumed senior staff time, introduc…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A6CF1-7106-4182-9269-D9E20B4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285A0-9F18-4D0D-A42F-F04C2825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02 | Commercial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6B87B-C7B3-40B2-8ECF-5AD4ACB2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This case merges market research and competitive benchmarking into one commercial-intelligence asset. The category examined is AI productivity software. The analysis identifies three market archetypes, maps ho…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CA414-0F0A-47BB-8C2E-0958FB3C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AAEBD-9510-48AC-BAA6-9DE705DC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03 | Pricing and Monetization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D3253-B40B-46F8-9CBE-CC67A1DB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This pricing case translates the commercial logic from the AI productivity market analysis into a monetization design. The problem is a common one: a workflow product with one broad offer is trying to serve mu…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8EA8B-87E4-4EF7-B775-872C0B33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35B86-26CD-45C8-832B-59584C91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Control Dossier for the 3 Hero Cases | Portfolio guide | GUIDE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A9BDA-F830-413A-964C-BF9E31B9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4682601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29761E-1B91-4154-99AE-15ABDA52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955F2-1C4B-4C38-9FBB-71CCFE8C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7A2B0-EA4D-4187-B5EC-5745F5C7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78EE9-991F-4822-8DBA-3077A41A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C0924-23FB-4DE0-955D-6E71961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E9169-C6DF-4C8B-ADFA-18FEE99C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Two Proof Pillars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24D8C-E2C5-4721-8352-F4CABD26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guide explains why these cases were selected and what each one proves.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CC0A7-4426-4DF8-83B3-95EC1E8F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68D0A-39C6-4776-9072-9EEE8370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Pillar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EC0FB-E99A-468C-9BE2-94219ACE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6DC3A-2604-4D38-839C-2C8EDD27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61C25-2E9C-4952-89E9-D7F1262D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8A409-3FB7-4139-8641-2717A4BF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Business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3D7E7-4A45-4B6B-B210-2CF533C5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A6B6F-00AF-4E7C-8B2E-AA83334D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What it proves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A8630-E5DD-4480-89D7-372078C8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B4CDC-2608-4443-B9BB-C9B73F7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Operational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02995-DBEC-42DF-9F1B-4C9FA84E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08ABE-027F-4285-9418-8B94467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01 AI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4274D-B48F-42D1-A167-3A4A44B6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CC86E-2D69-462C-88D1-0E2AE4F3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Can Santiago design and improve real workflows under control constraints?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36FF9-1BA8-4047-8AE8-8958CE60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73B2B-23F6-481B-8223-C1D4DEC0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Execution, control design, measured 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7F721-CB33-47B5-9779-09FF175A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131E7-1B8A-4E3F-A3E2-D8E086E9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Commercial 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A5260-6BB7-4F3E-A9CB-A225D786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0C560D-1011-47C2-A8B4-44D761C3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02 Commercial Intelligence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9B9BE-2859-4CDC-827D-6F07EF4D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2046B-8B74-4F99-8783-F8158052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Can Santiago convert market noise into a strategy thesis and benchmark logic?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B893E-480D-44C2-AE76-5DDA0FEF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B07A14-B194-4EE7-AF74-1A7DE0E5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Research depth, competitor framing, positioning judgment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00B35-2AAD-4864-A000-07453665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D5D2AD-18D0-4803-87F3-30CFF0DC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Commercial intelligence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55C147-ABAC-4086-A870-FD011321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360836-069F-4D0C-AA1E-051D1C9E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03 Pricing Strategy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2E1A31-17BA-4FD3-813A-70E3116E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488936-BB77-4F33-8155-AB9A463D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Can Santiago translate evidence into monetization design and rollout logic?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CB9739-A15B-450B-A570-7E5CF72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960E2C-510A-417E-87BB-9920A76F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Commercial reasoning, packaging, validation design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C444E2-E79B-458B-87BC-2AF25FC4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Case 01 stands on its own because it is grounded in anonymized real operating evidence.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63EE6D-7A65-4813-84DE-B89B9093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88DB22-AAFC-4AC0-8B5D-76BCE1B1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Control Dossier for the 3 Hero Cases | Portfolio guide | GUIDE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D70240-7847-4F9D-821E-16336B80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5055518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29761E-1B91-4154-99AE-15ABDA52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03533-BFA1-4364-81B0-F6ED017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0026A-1AB9-4C31-9FA3-96F58983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33F6C-F842-4EB7-A3E0-8481677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2332"/>
                </a:solidFill>
              </a:defRPr>
            </a:pPr>
            <a:r>
              <a:rPr sz="2250" b="1">
                <a:solidFill>
                  <a:srgbClr val="1A2332"/>
                </a:solidFill>
              </a:rPr>
              <a:t>Read the package as one proof system, not as disconnected samples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96119-6411-4837-A4B5-F1B5810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568"/>
                </a:solidFill>
              </a:defRPr>
            </a:pPr>
            <a:r>
              <a:rPr sz="1275" b="0">
                <a:solidFill>
                  <a:srgbClr val="4A5568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02662-F1AC-412F-9C5E-454486BB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2674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70CC1-C003-44BE-BCC0-8FE6B025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Takeaways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0FDBC-252D-4010-B3CC-7A31191F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2E086-4313-4DFA-8D69-758A150D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For recruiters: read this guide, then Case 01, then whichever commercial case matches the role.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B884F-7E15-4714-A603-432531A3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9806E-6BE2-486D-9D88-48D9B07A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For founders or clients: start with Case 01 for operational proof, then Case 02 for commercial framing.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285F5-E5F9-46DA-B765-C6351705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614B5-48A0-484B-A67F-3F6F13A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1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83FB6-291F-4045-8907-561FBF6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43000"/>
            <a:ext cx="3238500" cy="41148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4C63A-2C1E-47CE-A524-12F71598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2AE10-EF09-481B-A749-6FA56D0F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089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D6A95-5922-4AB9-AE6C-552539C9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2362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C5282"/>
                </a:solidFill>
              </a:defRPr>
            </a:pPr>
            <a:r>
              <a:rPr sz="825" b="0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C2635-5093-4E87-A191-9AD0F483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Canonical guide to the three flagship portfolio cases and the evidence logic that ties them together.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0FAC4-597F-4345-971D-E8BE5A25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56939-F8FF-4816-9D8D-F83C20EB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Control Dossier for the 3 Hero Cases</a:t>
            </a:r>
          </a:p>
        </p:txBody>
      </p:sp>
    </p:spTree>
    <p:extLst>
      <p:ext uri="{BB962C8B-B14F-4D97-AF65-F5344CB8AC3E}">
        <p14:creationId xmlns:p14="http://schemas.microsoft.com/office/powerpoint/2010/main" val="307595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2026-04-23T00:03:52.1420000Z</dcterms:created>
  <dcterms:modified xsi:type="dcterms:W3CDTF">2026-04-23T00:03:52.1420000Z</dcterms:modified>
</coreProperties>
</file>