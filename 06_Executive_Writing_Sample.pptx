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1611824004c17" /><Relationship Type="http://schemas.openxmlformats.org/officeDocument/2006/relationships/extended-properties" Target="/docProps/app.xml" Id="Re46ad04c12f64b1f" /><Relationship Type="http://schemas.openxmlformats.org/officeDocument/2006/relationships/officeDocument" Target="/ppt/presentation.xml" Id="R12705eece954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227b1016944f1"/>
  </p:sldMasterIdLst>
  <p:notesMasterIdLst>
    <p:notesMasterId xmlns:r="http://schemas.openxmlformats.org/officeDocument/2006/relationships" r:id="R209491876832437c"/>
  </p:notesMasterIdLst>
  <p:sldIdLst>
    <p:sldId xmlns:r="http://schemas.openxmlformats.org/officeDocument/2006/relationships" id="256" r:id="Rbad195189899451b"/>
    <p:sldId xmlns:r="http://schemas.openxmlformats.org/officeDocument/2006/relationships" id="257" r:id="R0c14a0f05f694762"/>
    <p:sldId xmlns:r="http://schemas.openxmlformats.org/officeDocument/2006/relationships" id="258" r:id="R951132d5c48b409a"/>
    <p:sldId xmlns:r="http://schemas.openxmlformats.org/officeDocument/2006/relationships" id="259" r:id="Rfb61eec3fdbf4f4a"/>
    <p:sldId xmlns:r="http://schemas.openxmlformats.org/officeDocument/2006/relationships" id="260" r:id="R5ca10f7e3b014366"/>
    <p:sldId xmlns:r="http://schemas.openxmlformats.org/officeDocument/2006/relationships" id="261" r:id="R27e56a8423bd49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227b1016944f1" /><Relationship Type="http://schemas.openxmlformats.org/officeDocument/2006/relationships/theme" Target="/ppt/theme/theme1.xml" Id="Rc18a88f1ee2e46e4" /><Relationship Type="http://schemas.openxmlformats.org/officeDocument/2006/relationships/notesMaster" Target="/ppt/notesMasters/notesMaster1.xml" Id="R209491876832437c" /><Relationship Type="http://schemas.openxmlformats.org/officeDocument/2006/relationships/presProps" Target="/ppt/presProps.xml" Id="R5336661d32e54303" /><Relationship Type="http://schemas.openxmlformats.org/officeDocument/2006/relationships/viewProps" Target="/ppt/viewProps.xml" Id="R6733f2438a49489b" /><Relationship Type="http://schemas.openxmlformats.org/officeDocument/2006/relationships/tableStyles" Target="/ppt/tableStyles.xml" Id="Re17ee00f159945fd" /><Relationship Type="http://schemas.openxmlformats.org/officeDocument/2006/relationships/slide" Target="/ppt/slides/slide1.xml" Id="Rbad195189899451b" /><Relationship Type="http://schemas.openxmlformats.org/officeDocument/2006/relationships/slide" Target="/ppt/slides/slide2.xml" Id="R0c14a0f05f694762" /><Relationship Type="http://schemas.openxmlformats.org/officeDocument/2006/relationships/slide" Target="/ppt/slides/slide3.xml" Id="R951132d5c48b409a" /><Relationship Type="http://schemas.openxmlformats.org/officeDocument/2006/relationships/slide" Target="/ppt/slides/slide4.xml" Id="Rfb61eec3fdbf4f4a" /><Relationship Type="http://schemas.openxmlformats.org/officeDocument/2006/relationships/slide" Target="/ppt/slides/slide5.xml" Id="R5ca10f7e3b014366" /><Relationship Type="http://schemas.openxmlformats.org/officeDocument/2006/relationships/slide" Target="/ppt/slides/slide6.xml" Id="R27e56a8423bd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b167f41a1a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227b9a51d4d0a" /><Relationship Type="http://schemas.openxmlformats.org/officeDocument/2006/relationships/notesMaster" Target="/ppt/notesMasters/notesMaster1.xml" Id="Rdb6ec019e210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d3868d99c4527" /><Relationship Type="http://schemas.openxmlformats.org/officeDocument/2006/relationships/notesMaster" Target="/ppt/notesMasters/notesMaster1.xml" Id="R95a444b380bb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f499bd3db847fc" /><Relationship Type="http://schemas.openxmlformats.org/officeDocument/2006/relationships/notesMaster" Target="/ppt/notesMasters/notesMaster1.xml" Id="R6ac352ad2927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99a8bff8a54906" /><Relationship Type="http://schemas.openxmlformats.org/officeDocument/2006/relationships/notesMaster" Target="/ppt/notesMasters/notesMaster1.xml" Id="R973182c549a74b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ac4b7acebb4751" /><Relationship Type="http://schemas.openxmlformats.org/officeDocument/2006/relationships/notesMaster" Target="/ppt/notesMasters/notesMaster1.xml" Id="R4e39dad7308f40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8bf581ce24780" /><Relationship Type="http://schemas.openxmlformats.org/officeDocument/2006/relationships/notesMaster" Target="/ppt/notesMasters/notesMaster1.xml" Id="R0cd8aa51f5b2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7a51c04324e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85F0BA1-2319-4228-9A80-BA1DEA6E56F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3B4A7C-A5E4-40EC-9635-042EE9639AE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924F27-B472-471E-9025-6605F1B6241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40F354-5D83-4D04-A94A-606E59DB085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f6dd88b31d4593" /><Relationship Type="http://schemas.openxmlformats.org/officeDocument/2006/relationships/slideLayout" Target="/ppt/slideLayouts/slideLayout2.xml" Id="R15a82f962a4d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10AD95-6B7A-4F6D-89E8-D6A9894A012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82f962a4d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422915e5e4f4e" /><Relationship Type="http://schemas.openxmlformats.org/officeDocument/2006/relationships/notesSlide" Target="/ppt/notesSlides/notesSlide1.xml" Id="R9aa1ebe030c4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4cca3af1c4744" /><Relationship Type="http://schemas.openxmlformats.org/officeDocument/2006/relationships/notesSlide" Target="/ppt/notesSlides/notesSlide2.xml" Id="Red7077db78bc4c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3b2f635104a3f" /><Relationship Type="http://schemas.openxmlformats.org/officeDocument/2006/relationships/notesSlide" Target="/ppt/notesSlides/notesSlide3.xml" Id="R4712f1bb731b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179425b1a4654" /><Relationship Type="http://schemas.openxmlformats.org/officeDocument/2006/relationships/notesSlide" Target="/ppt/notesSlides/notesSlide4.xml" Id="R12dfab333e85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a48aeeb6c84002" /><Relationship Type="http://schemas.openxmlformats.org/officeDocument/2006/relationships/notesSlide" Target="/ppt/notesSlides/notesSlide5.xml" Id="R3aac086f83f34e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b397449da48d6" /><Relationship Type="http://schemas.openxmlformats.org/officeDocument/2006/relationships/notesSlide" Target="/ppt/notesSlides/notesSlide6.xml" Id="Rf1f6cc27341747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C2771-7F15-4F6C-A11A-1CCCEA23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4E233-A66D-4560-99DF-7CE84566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BC956-F1A9-405A-BE7E-990CDD06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7DCD0-7796-476D-8DBD-789B2AC0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EXECUTIVE WRITING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0E502-F69C-4FE2-8FA9-F85ED82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Three Factors Reshaping Competition in Latin American Fintech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E4B0F-7ABA-4A21-BBED-89ECB98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concise strategy brief designed to show executive communication quality and argument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4B50E-F1D7-4C64-B590-03A101AC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20EA4-903C-4A2B-AA53-D8A5DC4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3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2FBD7-BA6A-4E4C-A68D-1E0BFBCE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DA5EC-7571-4214-B986-B56CEC5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Fintech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3E66F-F33E-416B-ABAD-6BF09992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139827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11BBA-DA62-4A7B-96B5-D248726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12077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1-page brief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B1E91-60AF-4544-8A6D-5FED5CB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33800"/>
            <a:ext cx="158686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7A277-3C51-4110-B524-A10F3F66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3800475"/>
            <a:ext cx="13963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Self-initiated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731DE-AF19-49BB-B9D7-2D14D18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A3928-3839-417E-BC69-DF9C773A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D2CB6-FBAF-4139-A698-9E8C7067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Self-initiated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9EFAB-04C7-4DD1-938E-EA6DA100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3  strategic factors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4  market examples referenced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1 page  executive brief core format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01382-3157-444C-B1CE-5ABBB72C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97C26-AA9F-4746-96D4-AAD608B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writing sample demonstrating executive communication, structured argumentation, and strategic synthesis.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032D0-B4BC-4EB0-A4D4-98CFCB79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8D1FD-7FF6-4F21-A4BD-65BB7F0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1445806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C4B3-D611-43A8-907B-F192F50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3C3C-C162-4AF4-BBF6-4DFF34BD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7E18B-903B-46FE-8518-B0C48D3B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STRATEGIC ANALYSIS | FINTECH | LATIN AMERICA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0EF6B-552B-49E9-A30C-1BC6BC3C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BE8CF-C85F-473B-892E-D2B0E67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landscape is shifting because infrastructure, capital, and distribution are moving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0B69D-8650-4A83-83E5-ABAAC8FB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useful question is where value can still be captured as the market matures.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0DF39-76E8-47EE-813B-309401B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A87A5-79DA-44FE-8BFC-2333CCA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24758-9701-47C9-AC69-48AD78E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0BC75-2CD9-48B7-B6B6-633B0DA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Open banking is changing how new entrants access customer data and payment 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41C7-9CA3-4E9C-95D9-538038C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06CA3-50FE-48B6-B5D6-23C728BA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Neobank scale economics are raising the bar for broad consumer entry.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AB246-6CA4-4153-ABC5-54C690C4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2ACB9-00E9-44A4-A8DA-4BEBE97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Embedded finance is moving distribution power into non-financial platforms.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CD457-9BCD-4AE9-BBC7-6BFECFB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5DADD-E7FC-4241-B3B3-7A9AAFA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What this sample proves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1C180-325D-4847-89F2-1CDA08D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Clear English writing, concise synthesis, and commercially useful framing.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7EDBE-4280-4695-AE66-47AAC0D7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EF93A-F039-4279-810F-92FDB5C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Executive Brief | Self-initiated | 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536D6-EEA5-46F9-B0AC-91253A0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0342710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96068-BE96-4B16-9D44-2E03127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5C0EA-F6C3-434B-8B93-67187BF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E2CC1-AA36-4FAE-BD74-ACDF51A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STRATEGIC ANALYSIS | FINTECH | LATIN AMERICA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39631-8323-46F3-A9B6-AD32338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8FF5-4955-40FB-BF6F-8AEB90F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three factors point to a more selective opportunity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947E5-3E38-4F1A-A078-CEF622A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Broad entry narratives are weaker than they looked a few years ago.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CD824-0AD0-485F-A752-8DDBDD9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FCB61-463F-41C4-A6C2-7D11E09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Open banking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B7D82-06E8-446B-B04F-A564B166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Favors specialized models that build on new infrastructure instead of fighting incumbents directly.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80987-F7B0-4811-BB9E-E831EA9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F72E4-6312-45FC-8CBB-1D13E023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Neobank consolidation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BDC67-E430-4186-8F7E-EB03ADC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Shrinks the window for undifferentiated new-bank entry.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3079-C6DD-4AD6-9D46-E253C33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2F438-C0A0-418F-ACA6-D385EC1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Embedded 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28238-F68E-4154-B3C4-E8234923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Pushes more value toward infrastructure and partnership models.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42E4C-E586-4127-9452-6F76EC1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FBD38-16EB-4477-AD08-18D456B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Executive Brief | Self-initiated |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46DEF-8F5B-4F3C-9F31-D0171AE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6648503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637CF-F81F-45CE-AAC1-E68C9EE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1B90C-DF66-4BCA-B2D8-11E139B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F4326-82B6-46AC-BEA0-7310B43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STRATEGIC ANALYSIS | FINTECH | LATIN AMERICA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D6EA9-BDDD-4DA6-A4A9-AE2F3D9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CC739-5A31-4D20-8DBC-06392ED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factors are different, but the strategic direction is coherent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16E49-AC2E-49A6-A97E-463CC39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force points away from broad consumer entry and toward sharper positioning.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F0FF7-46CB-4C98-B096-EA2ABD38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02E89-AEF9-47AF-B8D7-176AE048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Factor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18BE0-F87D-41B9-AABC-1E21C04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19916-0B2D-4EA3-8746-99BCFEFC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Competitive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1AE3F-B0A9-4F18-B05C-66DEE318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C97BF-1285-4288-8DC0-3B4AB8F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505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Strategic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41DF4-9B1E-4B0F-8537-3FB6079D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481BB-158E-470B-B373-765D4DA3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Open banking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F5586-DC72-4CB1-93B6-DFA8FCD8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F972B-05CD-42EE-B5E4-8D099F9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Lower infrastructure friction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07783-813C-4739-B023-6ED76E2C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7A8C4-B90E-43D0-AF24-747DFEC0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Specialize rather than replace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0FCD1-5800-48E3-8D9C-DF36B91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FF2F4-D443-4AF9-9AFD-B657520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Neobank consolidation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B828C-63FF-4492-B3D1-5183557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A012E-2A69-44CD-9D29-E172AE4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Higher bar for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CC701-47E3-4DAD-A05E-B19FBDA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E9C4A-870E-4214-80F3-D7C8B0B9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Target under-served verticals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366D6-B174-4FB6-83CF-F65927A2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933B5-4F58-4060-ABCB-390522FD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Embedded finance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E154B-7550-4100-99A8-BB3780F6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68D0E5-70D6-4E8A-9105-2D31F41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Distribution shifts outward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D20EB-A7EF-4DE9-829E-F0F399E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5B044E-A3AA-41BF-AD65-67D3D04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Build infrastructure and partnerships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739B6D-A0BA-4026-9425-E4E3752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strength of the brief is the compression of structure and implication into a compact format.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2A4A9-B74B-4900-8E88-1EEA894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40596-8644-4BD1-9A35-A08E7FD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Executive Brief | Self-initiated | 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7F74D-6089-485C-86A4-0372A2D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3535878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EB6C4-7ABF-4734-90A9-819477DB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94175-F749-4831-8480-9EB5CC5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1FBB3-FFC8-42F8-AAE3-DD9ABB5B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STRATEGIC ANALYSIS | FINTECH | LATIN AMERICA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57EAF-6A3E-4E51-8C6A-476FF1E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DC920-9A58-4346-9AB7-E0ED9F3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recommendation is narrow by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7D68C-A672-4BEE-AA77-8471252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This is what executive writing should do: reduce noise and make the directional call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01A1F-B7F2-4198-98A3-89DF759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08462-217F-4B3C-AA50-FB63B3F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E0F63-C1B9-4D9E-A612-590F089B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430BB-708D-4633-9E57-55807A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Operators should prioritize open-banking integration and partnership-led distribution.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6A0E5-FFC7-45FA-976B-E3659DF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6D05F-C8EB-4E2C-9B77-2FDE9D60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New entrants should favor vertical specialization over broad neobank positioning.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09B75-B35F-40D0-B62D-0851657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8DF61-055A-41C1-BB5B-67D348AE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Investors should watch infrastructure-layer fintech plays with API-based revenue logic.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BC281-33F5-4CCE-B8AF-8EFAC92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1B021-0EFB-4D40-BD77-473F89A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Communication 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42D22-5814-403C-BDB1-97A9179A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writing sample demonstrates concise argumentation without losing strategic substance.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B21BA-532F-4354-8A10-34C5C8D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46D9F-3B0E-4144-A3DB-ECEDD517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Executive Brief | Self-initiated | 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A30D2-B6AB-42B0-AB60-B99F206D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6968209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93DC2-FC7C-444C-A9EF-64CE3CBA3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A166A-2289-419B-9D0C-0EFE382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CD4A2-A912-4C37-BED4-D8A0C4D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This sample is about clarity under compression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D4DE-B780-4453-ADD7-7E6F3097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It shows that Santiago can write in an executive register, not only produce long-form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4C70A-A2FD-4411-97D6-1EF3006C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962A6-EACF-4E24-A4C7-BDFE7A5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D9C02-89CA-40E4-8941-99BAF0E6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Relevant for writing-sample review, executive briefs, and client-ready memo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C48DF-DF4B-4B0D-B104-D0C49B77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FCE87-F7DC-44BB-9B6F-57CBC772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6ABAE-5826-455C-892D-48FF52B0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1C4F4-3E17-4A03-BB2F-3AEF4B6C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3B072-ABFC-417A-9E8C-494C652A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70C4C-11C6-42D9-992C-F9B95332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8EBD5-C64E-4F78-BD26-57921F1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writing sample demonstrating executive communication, structured argumentation, and strategic synthesis.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79FAD-88EF-4B7E-ADAA-9D013C40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10100-B0EF-41F9-947F-4AB9C26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Executive Brief</a:t>
            </a:r>
          </a:p>
        </p:txBody>
      </p:sp>
    </p:spTree>
    <p:extLst>
      <p:ext uri="{BB962C8B-B14F-4D97-AF65-F5344CB8AC3E}">
        <p14:creationId xmlns:p14="http://schemas.microsoft.com/office/powerpoint/2010/main" val="1991787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2026-04-22T03:24:06.2290000Z</dcterms:created>
  <dcterms:modified xsi:type="dcterms:W3CDTF">2026-04-22T03:24:06.2290000Z</dcterms:modified>
</coreProperties>
</file>