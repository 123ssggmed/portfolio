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d16d6b75274600" /><Relationship Type="http://schemas.openxmlformats.org/officeDocument/2006/relationships/extended-properties" Target="/docProps/app.xml" Id="R19c3011b770b41be" /><Relationship Type="http://schemas.openxmlformats.org/officeDocument/2006/relationships/officeDocument" Target="/ppt/presentation.xml" Id="Re2bbc013cb844c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42c276b093419c"/>
  </p:sldMasterIdLst>
  <p:notesMasterIdLst>
    <p:notesMasterId xmlns:r="http://schemas.openxmlformats.org/officeDocument/2006/relationships" r:id="R4c7f239dedb0460a"/>
  </p:notesMasterIdLst>
  <p:sldIdLst>
    <p:sldId xmlns:r="http://schemas.openxmlformats.org/officeDocument/2006/relationships" id="256" r:id="Ree826ea562324a83"/>
    <p:sldId xmlns:r="http://schemas.openxmlformats.org/officeDocument/2006/relationships" id="257" r:id="R7dd9eb97721c49af"/>
    <p:sldId xmlns:r="http://schemas.openxmlformats.org/officeDocument/2006/relationships" id="258" r:id="R6046035171f8415d"/>
    <p:sldId xmlns:r="http://schemas.openxmlformats.org/officeDocument/2006/relationships" id="259" r:id="Rf804b7dcd897486d"/>
    <p:sldId xmlns:r="http://schemas.openxmlformats.org/officeDocument/2006/relationships" id="260" r:id="Rdd514edf1f254d9c"/>
    <p:sldId xmlns:r="http://schemas.openxmlformats.org/officeDocument/2006/relationships" id="261" r:id="Rf68b9d6db48b42ed"/>
    <p:sldId xmlns:r="http://schemas.openxmlformats.org/officeDocument/2006/relationships" id="262" r:id="R97a80f6bcd6840cd"/>
    <p:sldId xmlns:r="http://schemas.openxmlformats.org/officeDocument/2006/relationships" id="263" r:id="R35cc381748164664"/>
    <p:sldId xmlns:r="http://schemas.openxmlformats.org/officeDocument/2006/relationships" id="264" r:id="R81ed5cbf39b14a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2c276b093419c" /><Relationship Type="http://schemas.openxmlformats.org/officeDocument/2006/relationships/theme" Target="/ppt/theme/theme1.xml" Id="R4304dcc1e6354f1a" /><Relationship Type="http://schemas.openxmlformats.org/officeDocument/2006/relationships/notesMaster" Target="/ppt/notesMasters/notesMaster1.xml" Id="R4c7f239dedb0460a" /><Relationship Type="http://schemas.openxmlformats.org/officeDocument/2006/relationships/presProps" Target="/ppt/presProps.xml" Id="R0e9f0c4b1bfe43fe" /><Relationship Type="http://schemas.openxmlformats.org/officeDocument/2006/relationships/viewProps" Target="/ppt/viewProps.xml" Id="R7df139c8774c41f8" /><Relationship Type="http://schemas.openxmlformats.org/officeDocument/2006/relationships/tableStyles" Target="/ppt/tableStyles.xml" Id="Ra7dd36152d0447ae" /><Relationship Type="http://schemas.openxmlformats.org/officeDocument/2006/relationships/slide" Target="/ppt/slides/slide1.xml" Id="Ree826ea562324a83" /><Relationship Type="http://schemas.openxmlformats.org/officeDocument/2006/relationships/slide" Target="/ppt/slides/slide2.xml" Id="R7dd9eb97721c49af" /><Relationship Type="http://schemas.openxmlformats.org/officeDocument/2006/relationships/slide" Target="/ppt/slides/slide3.xml" Id="R6046035171f8415d" /><Relationship Type="http://schemas.openxmlformats.org/officeDocument/2006/relationships/slide" Target="/ppt/slides/slide4.xml" Id="Rf804b7dcd897486d" /><Relationship Type="http://schemas.openxmlformats.org/officeDocument/2006/relationships/slide" Target="/ppt/slides/slide5.xml" Id="Rdd514edf1f254d9c" /><Relationship Type="http://schemas.openxmlformats.org/officeDocument/2006/relationships/slide" Target="/ppt/slides/slide6.xml" Id="Rf68b9d6db48b42ed" /><Relationship Type="http://schemas.openxmlformats.org/officeDocument/2006/relationships/slide" Target="/ppt/slides/slide7.xml" Id="R97a80f6bcd6840cd" /><Relationship Type="http://schemas.openxmlformats.org/officeDocument/2006/relationships/slide" Target="/ppt/slides/slide8.xml" Id="R35cc381748164664" /><Relationship Type="http://schemas.openxmlformats.org/officeDocument/2006/relationships/slide" Target="/ppt/slides/slide9.xml" Id="R81ed5cbf39b1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aebce6b018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cb22680db413f" /><Relationship Type="http://schemas.openxmlformats.org/officeDocument/2006/relationships/notesMaster" Target="/ppt/notesMasters/notesMaster1.xml" Id="R40f990dfd4be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82e6449d1f494a" /><Relationship Type="http://schemas.openxmlformats.org/officeDocument/2006/relationships/notesMaster" Target="/ppt/notesMasters/notesMaster1.xml" Id="Rc3512477616d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d5f1e616c47d3" /><Relationship Type="http://schemas.openxmlformats.org/officeDocument/2006/relationships/notesMaster" Target="/ppt/notesMasters/notesMaster1.xml" Id="R78df9a279153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783f7b61848a5" /><Relationship Type="http://schemas.openxmlformats.org/officeDocument/2006/relationships/notesMaster" Target="/ppt/notesMasters/notesMaster1.xml" Id="Rbf3b9cdf8fa8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4cbdb7690c4f91" /><Relationship Type="http://schemas.openxmlformats.org/officeDocument/2006/relationships/notesMaster" Target="/ppt/notesMasters/notesMaster1.xml" Id="R667c148a291a43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22bc30cd3f4479" /><Relationship Type="http://schemas.openxmlformats.org/officeDocument/2006/relationships/notesMaster" Target="/ppt/notesMasters/notesMaster1.xml" Id="R7ec2364eb600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9e802bf11b4b0b" /><Relationship Type="http://schemas.openxmlformats.org/officeDocument/2006/relationships/notesMaster" Target="/ppt/notesMasters/notesMaster1.xml" Id="R48bd066ed09245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adca12486d4372" /><Relationship Type="http://schemas.openxmlformats.org/officeDocument/2006/relationships/notesMaster" Target="/ppt/notesMasters/notesMaster1.xml" Id="Rffc2672284e547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42533e174e44e7" /><Relationship Type="http://schemas.openxmlformats.org/officeDocument/2006/relationships/notesMaster" Target="/ppt/notesMasters/notesMaster1.xml" Id="R8e6ccc4d4281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d7d561aec4b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795FE09-D700-466B-948C-7F4ACB7A20C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14A6D9-9F68-4E11-A024-3FB453F2476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DB2C21-1C0D-4DFF-B081-C0B81701D98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0A5037-CE06-4B07-91D9-1D987AF181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7d73d775c14eb2" /><Relationship Type="http://schemas.openxmlformats.org/officeDocument/2006/relationships/slideLayout" Target="/ppt/slideLayouts/slideLayout2.xml" Id="Rc0119ca61498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3D85C9-B1C3-4123-8899-35A90265028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19ca61498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252f2d1654e9b" /><Relationship Type="http://schemas.openxmlformats.org/officeDocument/2006/relationships/notesSlide" Target="/ppt/notesSlides/notesSlide1.xml" Id="R6778d720d699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34f8617eb4410" /><Relationship Type="http://schemas.openxmlformats.org/officeDocument/2006/relationships/notesSlide" Target="/ppt/notesSlides/notesSlide2.xml" Id="R2c8cf5a23d26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9bf0b03def439b" /><Relationship Type="http://schemas.openxmlformats.org/officeDocument/2006/relationships/notesSlide" Target="/ppt/notesSlides/notesSlide3.xml" Id="R80b9ef7526e241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4287746326406f" /><Relationship Type="http://schemas.openxmlformats.org/officeDocument/2006/relationships/chart" Target="/ppt/slides/charts/chart1.xml" Id="R68e25765e2924265" /><Relationship Type="http://schemas.openxmlformats.org/officeDocument/2006/relationships/notesSlide" Target="/ppt/notesSlides/notesSlide4.xml" Id="R0b878eb64cee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d5f8b059af4ec8" /><Relationship Type="http://schemas.openxmlformats.org/officeDocument/2006/relationships/notesSlide" Target="/ppt/notesSlides/notesSlide5.xml" Id="R3c48ae89b5d74b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d554c69e414ac4" /><Relationship Type="http://schemas.openxmlformats.org/officeDocument/2006/relationships/notesSlide" Target="/ppt/notesSlides/notesSlide6.xml" Id="Rc77e47782699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8a868f3154e76" /><Relationship Type="http://schemas.openxmlformats.org/officeDocument/2006/relationships/notesSlide" Target="/ppt/notesSlides/notesSlide7.xml" Id="R7433c4d085754d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6cc1834514a51" /><Relationship Type="http://schemas.openxmlformats.org/officeDocument/2006/relationships/notesSlide" Target="/ppt/notesSlides/notesSlide8.xml" Id="R29324f831fe445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8f43af3c74e03" /><Relationship Type="http://schemas.openxmlformats.org/officeDocument/2006/relationships/notesSlide" Target="/ppt/notesSlides/notesSlide9.xml" Id="Rbffcb266848c4d6c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Avg. monthly price</c:v>
          </c:tx>
          <c:cat>
            <c:strLit>
              <c:ptCount val="3"/>
              <c:pt idx="0">
                <c:v>Incumbents</c:v>
              </c:pt>
              <c:pt idx="1">
                <c:v>Challengers</c:v>
              </c:pt>
              <c:pt idx="2">
                <c:v>Specialists</c:v>
              </c:pt>
            </c:strLit>
          </c:cat>
          <c:val>
            <c:numLit>
              <c:formatCode/>
              <c:ptCount val="3"/>
              <c:pt idx="0">
                <c:v>20</c:v>
              </c:pt>
              <c:pt idx="1">
                <c:v>55</c:v>
              </c:pt>
              <c:pt idx="2">
                <c:v>24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C41EF-66DB-42D3-B1E5-47588DEE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4F060-C851-4089-ABB7-D0D13CF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13C6E-3633-44AE-83C4-2CBFA63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A5552-A2B7-466B-AACA-5412EE7A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COMPETITIVE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44351-DBC4-459D-BD5F-45D931C6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Productivity Benchmarking: Pricing, Feature Scorecards, and White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78B57-FBE3-448B-A564-571DBD1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comparison-led view of where vendors differentiate and where a new entrant can still win.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F2682-E9B0-42FC-98B9-305AA6D7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AD362-4AE9-4477-9AFD-A7ACF1B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9 vendors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CA1E7-29C2-463D-BED5-80EF856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524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513FA-4B99-47DA-AA4E-62CCA48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4 scoring dimensions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3DC92-5F5D-4C58-8DB4-EFA39C1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1DEC-EB24-4A42-8758-B7174400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3 archetypes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0A378-6A15-4F9F-9C5B-4052A91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158686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AEE8D-7291-4C79-AABD-CCFD080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00475"/>
            <a:ext cx="13963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Self-initiated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47844-014B-4EF0-8BD1-203279A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EF713-FC0F-4103-9982-C9C61FB1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580AC-B195-4545-9E99-5F8D3578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Self-initiated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6AE6E-46C3-49CF-B0DC-B04AB64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9  vendors benchmarked directly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4  scoring dimensions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3  commercial archetypes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3CE38-52D4-4132-962B-D70F919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7BA2A-61D6-48F8-8CE2-742428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benchmarking study built from public pricing pages, product documentation, and review-platform signals. Simulated decision-grade sample.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0FF75-E2DD-44EC-B64C-A6C2204F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AAFFE-D513-4E92-A2A1-C55A637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884224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4DB2-C4A3-4499-BFFB-9EB0B9D1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E06E-9542-4DEB-8CE3-1D81DB4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68FCA-1576-4E2C-819C-84FC484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A647C-DC84-4018-A74E-A4FDE81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8AA39-4E80-4EF4-9491-55A296B3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benchmark was designed to surface patterns, not just names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03235-1848-4ECD-9649-3C92A429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competitor list is only useful when it explains how vendors actually win.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85945-48D3-4D57-9E95-ADBC726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DDF44-232D-4A83-ABE9-C66163A7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DE788-4038-42AB-8BB8-3A558B2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8FC96-66F4-454B-B18D-30C709F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framework scores output quality, workflow depth, collaboration design, and compliance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E4D0D-0D80-46D6-BD98-66FEC5C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00CA6-10A5-48D5-953F-C13076DF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vendor set spans incumbents, challengers, and specialists so the comparison stays structural.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74354-8846-4CAC-A3F8-5FC562A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FE841-5FD1-4355-88B5-D9DDA72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goal is to isolate where a new entrant can position with economic discipline.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F9CF9-3E0B-4B84-A141-2EAA8F60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FCBBA-61A5-45B6-9557-8B0D763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C5883-A46F-4D96-8DDB-C780E95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Benchmarking turns messy market information into a repeatable decision lens.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260BC-7268-4F63-AC40-BD336B54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D27EC-C076-4700-90BD-5949075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9C7C4-79C8-4C0E-AFE9-70C4457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191485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03446-4DA7-4C21-B241-9923E69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19B1F-B5DB-48D4-9AAB-6B22D10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E7804-373F-4EE0-870E-EC14151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50B96-E8D6-44AC-963F-3AB9D2E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68517-A7FF-491E-8786-2E324BDA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commercial archetypes shape the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CCFF1-7BB3-4B36-918C-704AE45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archetype wins with a different mechanism and loses for a different reason.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3369D-3108-4651-9BF6-788A5210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44EE2-2776-42C6-ABE0-0EB0A6B2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Incumbents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7C163-DCEA-426E-8019-4325DEA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 distribution and low apparent price because AI is bundled into a broader suite.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27539-63F2-486F-81FB-BBA53D8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F963C-A5ED-42CA-9700-5635584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Challengers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CD270-274F-40DF-93E9-FE3EC3E4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Premium pricing supported by workflow-specific value and stronger output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F9CDA-1E4C-4207-880E-DF6ECFD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96BB7-CE6B-440B-8D36-0619774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Specialists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AF843-2E6D-40DD-8FD2-A03B72B6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Narrow workflow depth creates stickiness but can limit category expansion.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62D6E-746A-436F-AC0F-0138F066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389BF-EC7A-45F9-8957-80B612A8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0ADCE-EAA7-440D-AAC6-6BF3FEEE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4977333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7C97E-A232-4292-B9E1-AACB431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A363B-2B26-4D45-B3AA-B28BEF7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0D0F9-2D8D-4C83-8B22-C1F75502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4C039-B44E-4129-B08F-8F021C9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FC149-507E-47E9-9C86-D3E57A8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Average pricing follows the archetype 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42536-D0E8-4D74-8A80-4AE99E8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Higher pricing only holds where the product meaningfully changes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8F61A-DB8F-4FB7-B117-A1DD948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0100" y="2686050"/>
          <a:ext xmlns:a="http://schemas.openxmlformats.org/drawingml/2006/main" cx="762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e25765e292426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1A9BF-C128-4F5E-B73E-28B59BA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30328-3584-46AC-B6A7-7F6C78F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7E6"/>
                </a:solidFill>
              </a:defRPr>
            </a:pPr>
            <a:r>
              <a:rPr sz="825" b="1">
                <a:solidFill>
                  <a:srgbClr val="C9D7E6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C674A-7D1F-47B2-99C9-69A3ADE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133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pricing gap is not arbitrary. It reflects differences in distribution leverage and visible workflow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F20DC-3486-4277-BF63-DE28BD20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A14F4-4CED-420E-8C50-AA5DD309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6F0E0-4E1A-41D8-97D0-18556A4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7801073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9B66E-4303-4F1C-A44F-A402075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38F5-0E18-4675-866F-8E7A070A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819E8-7E09-4989-BC74-ED9EBD3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886EB-8730-4F72-A240-A493C010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0BFB1-3613-4F05-96E8-A56B388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scorecard makes the trade-offs explicit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AB42A-40D4-464D-9046-0C7E8CA4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No vendor dominates every dimension. The right benchmark answer depends on the target segment.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2CE13-32EE-4CD5-8951-CB068F0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C0618-D937-425F-9D8E-AD7F6AC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25FAE-E6D9-43A0-9DF7-7778C47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C9963-B9B7-4905-9255-98528B2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Output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CAAEF-4A50-4475-9AE1-83A3ED5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32F19-67FC-4926-BA78-68D89CB0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Workflow 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56F34-70B4-4A34-974A-7EB2023C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D400-E2C1-4D0A-BB4C-910973C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Collaboration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5AE99-51D2-4BD8-9427-31A0B9D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17992-AD36-4865-9A59-64E430B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38D95-1BDD-487B-B816-9DED387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0273B-61DD-46FB-A1F9-18E57D2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Notion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D3AB5-63D9-4A91-8767-BDA3552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8003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1F42E-3F0C-406E-9060-60377F6F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765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31ADF-976C-4637-8795-B59E9296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8003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20E97-4BDA-415B-A6CA-332ABAA9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765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A3750-F755-4EAF-87DF-2812F4C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8003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CA538-CF4D-4FF6-9A0C-E277AB4F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765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54F70-6B3A-4650-BCD5-9C249B9C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8003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88B15-602F-44CC-9FDD-51EFFFDA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765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3C233-2DA4-4C9B-9814-A459238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D64B6-AE09-4E46-AA91-EE873C1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FFA07-90D1-4FA0-A143-3CFE7BC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3147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6458A-9646-4A66-885E-8BDFE27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909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16C359-C3E2-4BF6-904C-414F7C06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3147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69BFC-85F7-405B-B8BF-610BF7A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909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49BFB-7207-4F1B-B481-E630B7A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3147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EBB49B-D1C5-48F9-B7D1-D1FE527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909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F41E06-45F1-4486-BEA9-8A2C5865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3147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1F2379-946E-4B27-9B14-5DE27806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3909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15416E-A315-401D-9CE5-A51EE7B3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1C18D-9489-40F4-8700-F1B7C9B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Claude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1690E-7625-4A05-AE65-6B1C835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8290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BB859E-9582-4E7A-BB90-5366940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052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3F5E83-92E7-41C0-96D9-49DECB81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8290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CB0C10-1AAD-4CEA-BFFC-82676A04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052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09E0E2-B1FD-452A-A474-8EEE144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8290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8DA0E1-043C-4CA3-82A3-35152148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052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45E87B-102E-47F4-A8E9-EB9A481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8290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0F347D-2BEA-46CD-A748-6403DE0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9052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E4444-5BC4-44BB-AD85-F71EBD9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299A82-827F-41EC-8EEE-65D25CF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Jasper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54A146-E225-48C2-8841-7BDFB6C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3434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27F657-D90D-4171-B7BE-988B4DFD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196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F6F48B-55E6-4E3B-A3D4-ADCF486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43434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DFF195-4012-4884-8AB5-3FB475C6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4196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A302DA-A1D5-4025-893B-97055C6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3434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C2884D-57D4-4D21-AE40-2B0F15D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196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626AB7-539A-4115-8302-0BE576C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3434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79F2C0-1834-4615-AD98-D68CD8F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4196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B23284-06D3-49AC-BB0B-518672B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59DA62-D0D6-46AD-AFEB-C4DC200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Grammarly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209A26-4C75-4C3D-95A3-3923984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8577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569BEC-84DC-461D-A5CF-0173767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9339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FA2371-0BC6-49E0-8E4F-B591F81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48577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CC9BC9-6D39-42B3-B950-860DBAB3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9339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7DA896-2B09-4EC9-9127-7761F0E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8577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571FDD-D895-40BD-B0AD-E07FC61D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339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168C57-D581-4593-96EF-CBF07DB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85775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B56350-F4D9-41D0-9AA8-E8B0923C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93395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8F7079-5204-4706-9A96-67A2B6B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B7CF7F-7A3A-414B-9503-63A11B0A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Fireflies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BB4A3A-D199-4F7C-845A-B1B90020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53721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997B518-4D0D-4EC8-A3CB-13F9A22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4483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5BB945-48B5-4D44-A8D9-4397425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53721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99B02C-42C1-4C80-811F-86ADBC3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4483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22CFE6-6CDE-465A-A42E-E00A7CC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53721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58CBB2-3887-485C-BDC9-8BBCA20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483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7A3208-1EAC-4564-AC12-078105CA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372100"/>
            <a:ext cx="219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F2541B-F2EE-4848-9108-843ECF82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448300"/>
            <a:ext cx="2042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08C705-065A-4427-AA51-C7749CF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Scores are directional and designed to support pattern recognition, not pretend precision.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FE0292-F145-49C9-A50A-ACCF44B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6410F9-3B33-4B0C-B03F-F85A86C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4ECC9D-6949-4555-A4F2-FF9945E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564938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0CE48-4942-4788-AA78-D626D92E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9067B-2C85-4AAF-9176-CE5A170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64BDD-4960-4BC0-8030-62223F31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90958-CF79-40C4-B39F-9403AC0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AA8F1-2CA0-43D2-85BD-BE42079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White space appears where depth and trust are both under-served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1701-2592-4924-8BE3-C1A3B96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most credible openings sit away from the crowded center of general-purpose productivity.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77013-F6E2-4711-AABB-923C7F2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514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5568"/>
                </a:solidFill>
              </a:defRPr>
            </a:pPr>
            <a:r>
              <a:rPr sz="900" b="1">
                <a:solidFill>
                  <a:srgbClr val="4A5568"/>
                </a:solidFill>
              </a:rPr>
              <a:t>Compliance</a:t>
            </a:r>
          </a:p>
          <a:p xmlns:a="http://schemas.openxmlformats.org/drawingml/2006/main">
            <a:pPr algn="ctr">
              <a:defRPr sz="900" b="1">
                <a:solidFill>
                  <a:srgbClr val="4A5568"/>
                </a:solidFill>
              </a:defRPr>
            </a:pPr>
            <a:r>
              <a:rPr sz="900" b="1">
                <a:solidFill>
                  <a:srgbClr val="4A5568"/>
                </a:solidFill>
              </a:rPr>
              <a:t>and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AF129-569C-459A-92C2-BA72A054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102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5568"/>
                </a:solidFill>
              </a:defRPr>
            </a:pPr>
            <a:r>
              <a:rPr sz="900" b="1">
                <a:solidFill>
                  <a:srgbClr val="4A5568"/>
                </a:solidFill>
              </a:rPr>
              <a:t>Workflow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C012C-C6EF-4E08-8186-546860A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C7D04-5D1E-46E9-826C-CB81CA5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E59D5-EF86-4ADB-BABC-6E4E3CB1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D67D4-0961-4F2B-AB47-A55B4D7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67EBB-1495-47DE-90A7-44CF3A2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57450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9F248-26B0-457D-A93D-F912293F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251E-1F82-4282-B2DE-CC9090F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Compliance-first 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26153-2A0A-4334-B387-8546C66F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Regulated operators need reviewability and control that broad tools add slowly.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2A26F-E20F-4E98-9E11-C9FA314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96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9AC14-95AE-48A2-8FD0-E1680C1D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Premium solo operators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D4350-5A28-4399-A930-58AE1586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High-income solo users buy quality when it protects billable hours.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1B5CD-B1F4-4951-A5BE-88620F4F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4EDC4-8965-42D5-8B9D-E1A11FFE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Emerging-market pricing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F8990-547A-46A6-9E90-0166172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Local price discipline matters where bundle economics are weaker.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EF2A3-3D8F-4D3F-BB17-2972A7F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FEDE3-6197-4755-9F49-8C8D290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Generic bundle war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6100C-C9EB-4060-B108-B4FBDDDD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Most new entrants should avoid this corner.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56B2B-A9BF-42DC-BE55-56D0C671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35945-7527-4A2E-9D13-81B24F6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92855-D65B-43B5-8488-C57FD01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87057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16F7E-70E1-49FD-B137-CA3BA8F3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AD7F-C1E4-4BCD-88F5-D07142D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3864-172D-43B3-AC78-2AB69D4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EFBE-A149-4484-A5E6-73DF80C6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6C1B2-611A-4E73-943C-5ED0A38A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practical takeaways emerge from the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F6515-F01E-4E22-9F07-BE55D61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benchmark becomes useful when it changes product and pricing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4177D-1F36-4525-9F57-2A9459D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435F1-A491-4FBE-A85E-EE01B78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Compete on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577C5-968B-4C17-A0D5-A2E56427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Do not try to beat incumbents on breadth if the wedge is workflow-specific.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591E1-80D9-4627-9CF0-9FCF209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D4296-A087-4376-823B-4D9A5B7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Price with 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2E784-C643-4CFD-84CC-6D5B1A3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Packaging should reflect the target segment's value logic, not the competitor median.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5DBAC-87B9-4193-B110-99DEDB4D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5A8F9-D9E4-47D3-9AA2-A98653F1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Exclude aggressively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5CD1D-F5B9-41B8-8724-CCC0EC01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 clearer product boundary can be more valuable than a broader roadmap.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571D2-EC03-45BF-84F5-F287BFD0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F1C6E-060A-4F69-9D7A-54F329A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D2734-9A13-48BF-8A37-2B162DE1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0746951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1F5F6-96EC-44BE-8A75-2D19E68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1CAED-6569-465F-8B51-F9CCF08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DEC49-C638-427C-93E2-87B4AB8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COMPETITIVE INTELLIGENCE | BENCHMARKING | 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AFB76-5DE2-42DA-BE62-9E823E24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BAADF-515E-4836-965A-A3312E0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If launching into this category, the best plays are narrow and disciplined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428B4-2262-45DC-8B0F-77ADE79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benchmark suggests three entry patterns that are economically more credible than a broad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1FB28-B5C1-4D40-A1B4-CB4FC75E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53324-A563-4441-9781-AF7286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Vertical compliance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FFB9F-D17C-4538-9E8B-8AEB163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Serve regulated teams that need both AI assistance and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DD4E8-BC8B-42AD-9A46-967374B7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1FC01-ABAC-4B19-AEAF-08C1A190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Emerging-market workflow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55643-C30F-49D5-8D6E-A60447F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Localize price and integration logic for under-served regions.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631DE-F97A-44FF-AF94-5AEFF775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4C7DE-3992-4DF9-992E-288CB596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Premium solo toolkit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3947D-2A8A-444F-B1BF-398DF7F1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Optimize for consultants, operators, and creators who pay for quality.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1C8AF-EA59-4669-B800-BD4252A3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9E201-1D36-4D6C-A9F3-DC556CEB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Benchmarking Study | Self-initiated |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5F2A2-4DFA-4216-8B04-4433FC0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03127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05CC78-F471-47AB-A7D8-B1863C168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09FCA-8767-4531-A93E-9F907C1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86E3C-0BCE-4614-9D33-63D0A4F9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This asset shows structured comparison, not just research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F01F7-A440-4EA0-AC92-0253321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It positions Santiago as someone who can translate competitor noise into a usable decision framework.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087F-3C8C-450C-9C85-84D768FE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5C6C5-63DC-401D-A2B7-CF4C8DFD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FCE7D-0E3B-4857-933D-13DF2E2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Relevant for competitive intelligence, benchmarking, and offer-positioning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98146-8318-4515-A278-5212C443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78F2D-84B2-45C8-A52B-C4F62C35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EFA51-713E-43AB-8863-59F8D04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F7858-AC43-4E28-AE07-1DDA949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69A2-6C2A-4192-A7CF-BCFBDCCB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E8E44-9081-43D7-8DD6-6AAE741B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DE0CC-48BA-485B-9D15-6B5A0940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benchmarking study built from public pricing pages, product documentation, and review-platform signals. Simulated decision-grade sample.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B1AE1-1BBA-482C-B9A0-73DDE0FF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5B617-B868-40CC-BA57-C55BFBF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Benchmarking Study</a:t>
            </a:r>
          </a:p>
        </p:txBody>
      </p:sp>
    </p:spTree>
    <p:extLst>
      <p:ext uri="{BB962C8B-B14F-4D97-AF65-F5344CB8AC3E}">
        <p14:creationId xmlns:p14="http://schemas.microsoft.com/office/powerpoint/2010/main" val="1560008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2026-04-22T03:24:05.3090000Z</dcterms:created>
  <dcterms:modified xsi:type="dcterms:W3CDTF">2026-04-22T03:24:05.3090000Z</dcterms:modified>
</coreProperties>
</file>