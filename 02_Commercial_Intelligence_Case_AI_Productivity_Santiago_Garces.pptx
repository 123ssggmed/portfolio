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ee0e72e3494b1b" /><Relationship Type="http://schemas.openxmlformats.org/officeDocument/2006/relationships/extended-properties" Target="/docProps/app.xml" Id="R66e454cd4aab4f63" /><Relationship Type="http://schemas.openxmlformats.org/officeDocument/2006/relationships/officeDocument" Target="/ppt/presentation.xml" Id="R5439835be31349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61f39b100b4052"/>
  </p:sldMasterIdLst>
  <p:notesMasterIdLst>
    <p:notesMasterId xmlns:r="http://schemas.openxmlformats.org/officeDocument/2006/relationships" r:id="Redc0d23aefc14ceb"/>
  </p:notesMasterIdLst>
  <p:sldIdLst>
    <p:sldId xmlns:r="http://schemas.openxmlformats.org/officeDocument/2006/relationships" id="256" r:id="R0cd73abd0db54bb0"/>
    <p:sldId xmlns:r="http://schemas.openxmlformats.org/officeDocument/2006/relationships" id="257" r:id="Rac741e333d1841be"/>
    <p:sldId xmlns:r="http://schemas.openxmlformats.org/officeDocument/2006/relationships" id="258" r:id="Re6205fc910aa40f4"/>
    <p:sldId xmlns:r="http://schemas.openxmlformats.org/officeDocument/2006/relationships" id="259" r:id="Red064e6245884698"/>
    <p:sldId xmlns:r="http://schemas.openxmlformats.org/officeDocument/2006/relationships" id="260" r:id="R582ea82561a441c8"/>
    <p:sldId xmlns:r="http://schemas.openxmlformats.org/officeDocument/2006/relationships" id="261" r:id="R1283cbfa85a24de2"/>
    <p:sldId xmlns:r="http://schemas.openxmlformats.org/officeDocument/2006/relationships" id="262" r:id="R11b4ab42a3964a74"/>
    <p:sldId xmlns:r="http://schemas.openxmlformats.org/officeDocument/2006/relationships" id="263" r:id="R554a787ec09d489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61f39b100b4052" /><Relationship Type="http://schemas.openxmlformats.org/officeDocument/2006/relationships/theme" Target="/ppt/theme/theme1.xml" Id="R3278097ca0514350" /><Relationship Type="http://schemas.openxmlformats.org/officeDocument/2006/relationships/notesMaster" Target="/ppt/notesMasters/notesMaster1.xml" Id="Redc0d23aefc14ceb" /><Relationship Type="http://schemas.openxmlformats.org/officeDocument/2006/relationships/presProps" Target="/ppt/presProps.xml" Id="R3b56e51c19de4f6d" /><Relationship Type="http://schemas.openxmlformats.org/officeDocument/2006/relationships/viewProps" Target="/ppt/viewProps.xml" Id="R118cc0bdf70e44df" /><Relationship Type="http://schemas.openxmlformats.org/officeDocument/2006/relationships/tableStyles" Target="/ppt/tableStyles.xml" Id="R4c8e091a9a464864" /><Relationship Type="http://schemas.openxmlformats.org/officeDocument/2006/relationships/slide" Target="/ppt/slides/slide1.xml" Id="R0cd73abd0db54bb0" /><Relationship Type="http://schemas.openxmlformats.org/officeDocument/2006/relationships/slide" Target="/ppt/slides/slide2.xml" Id="Rac741e333d1841be" /><Relationship Type="http://schemas.openxmlformats.org/officeDocument/2006/relationships/slide" Target="/ppt/slides/slide3.xml" Id="Re6205fc910aa40f4" /><Relationship Type="http://schemas.openxmlformats.org/officeDocument/2006/relationships/slide" Target="/ppt/slides/slide4.xml" Id="Red064e6245884698" /><Relationship Type="http://schemas.openxmlformats.org/officeDocument/2006/relationships/slide" Target="/ppt/slides/slide5.xml" Id="R582ea82561a441c8" /><Relationship Type="http://schemas.openxmlformats.org/officeDocument/2006/relationships/slide" Target="/ppt/slides/slide6.xml" Id="R1283cbfa85a24de2" /><Relationship Type="http://schemas.openxmlformats.org/officeDocument/2006/relationships/slide" Target="/ppt/slides/slide7.xml" Id="R11b4ab42a3964a74" /><Relationship Type="http://schemas.openxmlformats.org/officeDocument/2006/relationships/slide" Target="/ppt/slides/slide8.xml" Id="R554a787ec09d48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8eb0149353745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361205e9cf4654" /><Relationship Type="http://schemas.openxmlformats.org/officeDocument/2006/relationships/notesMaster" Target="/ppt/notesMasters/notesMaster1.xml" Id="Ref6e45220bf14c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bdfbf7ae4d4c82" /><Relationship Type="http://schemas.openxmlformats.org/officeDocument/2006/relationships/notesMaster" Target="/ppt/notesMasters/notesMaster1.xml" Id="Re3c00a8020f64e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8ae2ef45ca423f" /><Relationship Type="http://schemas.openxmlformats.org/officeDocument/2006/relationships/notesMaster" Target="/ppt/notesMasters/notesMaster1.xml" Id="R54d23e99c61b45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dd99bf99544f02" /><Relationship Type="http://schemas.openxmlformats.org/officeDocument/2006/relationships/notesMaster" Target="/ppt/notesMasters/notesMaster1.xml" Id="R002a71c347a04b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97446298da460e" /><Relationship Type="http://schemas.openxmlformats.org/officeDocument/2006/relationships/notesMaster" Target="/ppt/notesMasters/notesMaster1.xml" Id="R8d24f714ffc74b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a6e08804c84f4c" /><Relationship Type="http://schemas.openxmlformats.org/officeDocument/2006/relationships/notesMaster" Target="/ppt/notesMasters/notesMaster1.xml" Id="Rc1cee7e5d38a4f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c666e217324e82" /><Relationship Type="http://schemas.openxmlformats.org/officeDocument/2006/relationships/notesMaster" Target="/ppt/notesMasters/notesMaster1.xml" Id="R6b42f5f5288040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61b41e71794228" /><Relationship Type="http://schemas.openxmlformats.org/officeDocument/2006/relationships/notesMaster" Target="/ppt/notesMasters/notesMaster1.xml" Id="Rfa42b76c88e647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a8d64b8ef54c4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74592644-09B3-4FAF-AF69-2714CDBEF16A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4B9811EF-6EDA-426A-BEC6-9F023AE355AE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2E0EB25-6F44-4710-8D46-16EB3598643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12E507-D1C0-4A5B-98BA-ABF99915AC0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F1DA3DD-73F1-44EB-AB6D-83403A1AEE2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bee19d6bf344e6e" /><Relationship Type="http://schemas.openxmlformats.org/officeDocument/2006/relationships/slideLayout" Target="/ppt/slideLayouts/slideLayout2.xml" Id="Rfc6bde195b454b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B4B1A4D-BB02-4E17-B5CA-2CD4044A806A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6bde195b454b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c87398c2234a0f" /><Relationship Type="http://schemas.openxmlformats.org/officeDocument/2006/relationships/notesSlide" Target="/ppt/notesSlides/notesSlide1.xml" Id="Rbe3faf0ab45844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01c87a75b24e4a" /><Relationship Type="http://schemas.openxmlformats.org/officeDocument/2006/relationships/notesSlide" Target="/ppt/notesSlides/notesSlide2.xml" Id="R1b4d939dd5c143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bf156f1a494b25" /><Relationship Type="http://schemas.openxmlformats.org/officeDocument/2006/relationships/notesSlide" Target="/ppt/notesSlides/notesSlide3.xml" Id="Rbabb667efdd846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c4f45eefa24b37" /><Relationship Type="http://schemas.openxmlformats.org/officeDocument/2006/relationships/notesSlide" Target="/ppt/notesSlides/notesSlide4.xml" Id="Re1bb4db2287c42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867082bb4e489c" /><Relationship Type="http://schemas.openxmlformats.org/officeDocument/2006/relationships/notesSlide" Target="/ppt/notesSlides/notesSlide5.xml" Id="R133622952e0d48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615a24067845da" /><Relationship Type="http://schemas.openxmlformats.org/officeDocument/2006/relationships/notesSlide" Target="/ppt/notesSlides/notesSlide6.xml" Id="R5b3d36713ec542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47ad492d00471e" /><Relationship Type="http://schemas.openxmlformats.org/officeDocument/2006/relationships/notesSlide" Target="/ppt/notesSlides/notesSlide7.xml" Id="R278c37e361924d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3b5d50bc4c4b9b" /><Relationship Type="http://schemas.openxmlformats.org/officeDocument/2006/relationships/notesSlide" Target="/ppt/notesSlides/notesSlide8.xml" Id="Ra9b1a77d0ac44be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F1DA3DD-73F1-44EB-AB6D-83403A1AEE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21A9B-692F-4A97-957D-902F97FC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07BFE-9BE4-4BBF-A990-9E0DC009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4D039-143C-4323-9C55-205E548A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62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207D3-8C9D-4136-B11C-B862C3C3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895350"/>
            <a:ext cx="3524250" cy="39814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E98A8-27EB-47B0-8338-30E66BEC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5282"/>
                </a:solidFill>
              </a:defRPr>
            </a:pPr>
            <a:r>
              <a:rPr sz="825" b="1">
                <a:solidFill>
                  <a:srgbClr val="2C5282"/>
                </a:solidFill>
              </a:rPr>
              <a:t>FLAGSHIP CASE 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E72F8-2C2D-449A-80FA-87A9BD8F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6667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2332"/>
                </a:solidFill>
              </a:defRPr>
            </a:pPr>
            <a:r>
              <a:rPr sz="2550" b="1">
                <a:solidFill>
                  <a:srgbClr val="1A2332"/>
                </a:solidFill>
              </a:rPr>
              <a:t>Broad Horizontal Entry Is Weak; the Strongest Wedge Is Compliance-First Workflow Software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21F3A-5E12-483E-8B76-D93B475C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6572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568"/>
                </a:solidFill>
              </a:defRPr>
            </a:pPr>
            <a:r>
              <a:rPr sz="1200" b="0">
                <a:solidFill>
                  <a:srgbClr val="4A5568"/>
                </a:solidFill>
              </a:rPr>
              <a:t>Commercial-intelligence case that merges market mapping, direct benchmark logic, and white-space screening for AI productivity tools.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B5CB4-A85B-40BC-870B-7605C517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132969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C5282"/>
                </a:solidFill>
              </a:defRPr>
            </a:pPr>
            <a:r>
              <a:rPr sz="750" b="1">
                <a:solidFill>
                  <a:srgbClr val="2C5282"/>
                </a:solidFill>
              </a:rPr>
              <a:t>12-player universe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8F2D2-5603-4573-A85E-9BF82E4E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140" y="3848100"/>
            <a:ext cx="132969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C5282"/>
                </a:solidFill>
              </a:defRPr>
            </a:pPr>
            <a:r>
              <a:rPr sz="750" b="1">
                <a:solidFill>
                  <a:srgbClr val="2C5282"/>
                </a:solidFill>
              </a:rPr>
              <a:t>6-player benchmark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E1FF4F-9D05-4BF5-AD76-4490477B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80" y="3848100"/>
            <a:ext cx="11239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C5282"/>
                </a:solidFill>
              </a:defRPr>
            </a:pPr>
            <a:r>
              <a:rPr sz="750" b="1">
                <a:solidFill>
                  <a:srgbClr val="2C5282"/>
                </a:solidFill>
              </a:rPr>
              <a:t>3 archetypes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52CE58-A5D9-4308-A5EA-E6FE4907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3848100"/>
            <a:ext cx="1270635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C5282"/>
                </a:solidFill>
              </a:defRPr>
            </a:pPr>
            <a:r>
              <a:rPr sz="750" b="1">
                <a:solidFill>
                  <a:srgbClr val="2C5282"/>
                </a:solidFill>
              </a:rPr>
              <a:t>3 wedges screened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D615E3-779A-471D-AD0D-61C1C886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001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Work 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3D19C4-869B-4130-8818-4BC942BF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466850"/>
            <a:ext cx="2743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95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2332"/>
                </a:solidFill>
              </a:defRPr>
            </a:pPr>
            <a:r>
              <a:rPr sz="1650" b="1">
                <a:solidFill>
                  <a:srgbClr val="1A2332"/>
                </a:solidFill>
              </a:rPr>
              <a:t>Self-initiated decision sample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400D2A-FE85-4C47-8B04-7BE7A37C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52650"/>
            <a:ext cx="2990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FF4D70-D1F1-44F8-B940-6E959CFF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05050"/>
            <a:ext cx="2647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2332"/>
                </a:solidFill>
              </a:defRPr>
            </a:pPr>
            <a:r>
              <a:rPr sz="1800" b="1">
                <a:solidFill>
                  <a:srgbClr val="1A2332"/>
                </a:solidFill>
              </a:rPr>
              <a:t>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0B4895-8F35-4359-A2B4-3A64ABB5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28900"/>
            <a:ext cx="2647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players in category universe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87E106-2E3B-4584-BC95-2BFC28EB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33700"/>
            <a:ext cx="2990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1084A0-1656-4FE2-BC7A-B83D40D8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86100"/>
            <a:ext cx="2647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2332"/>
                </a:solidFill>
              </a:defRPr>
            </a:pPr>
            <a:r>
              <a:rPr sz="1800" b="1">
                <a:solidFill>
                  <a:srgbClr val="1A2332"/>
                </a:solidFill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C782AF-DC3F-4582-9AC6-E5A73A01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09950"/>
            <a:ext cx="2647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players benchmarked directly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15ADD7-C2E1-463E-9AAC-4BCDAC00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14750"/>
            <a:ext cx="2990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CEB191-B2ED-46D0-B352-1C54A95E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67150"/>
            <a:ext cx="2647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2332"/>
                </a:solidFill>
              </a:defRPr>
            </a:pPr>
            <a:r>
              <a:rPr sz="1800" b="1">
                <a:solidFill>
                  <a:srgbClr val="1A2332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3E3732-1CDC-474D-965C-B06A6926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91000"/>
            <a:ext cx="2647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commercial archetypes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1D15B5-00A9-4305-A7D1-D891B26A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95800"/>
            <a:ext cx="2990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3B82A7-AB05-4384-8236-5E98CEC4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48200"/>
            <a:ext cx="2647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2332"/>
                </a:solidFill>
              </a:defRPr>
            </a:pPr>
            <a:r>
              <a:rPr sz="1800" b="1">
                <a:solidFill>
                  <a:srgbClr val="1A2332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7C2E81-A95F-4714-8095-3E94BF3D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72050"/>
            <a:ext cx="2647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candidate wedges screened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59D10A-666B-4077-9B0B-7DB782C9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C5282"/>
                </a:solidFill>
              </a:defRPr>
            </a:pPr>
            <a:r>
              <a:rPr sz="788" b="0">
                <a:solidFill>
                  <a:srgbClr val="2C5282"/>
                </a:solidFill>
              </a:rPr>
              <a:t>Market Research | Competitive Intelligence | AI Workflow Execution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D8AC84-6CC0-4C41-9466-70F95379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9800"/>
            <a:ext cx="704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096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A202C"/>
                </a:solidFill>
              </a:defRPr>
            </a:pPr>
            <a:r>
              <a:rPr sz="1013" b="0">
                <a:solidFill>
                  <a:srgbClr val="1A202C"/>
                </a:solidFill>
              </a:rPr>
              <a:t>Built from public pricing, product, review, and company signals. Designed as a decision-grade market and benchmark sample.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8E6CCC-CDE0-4C50-BF5F-9E683821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98170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A2332"/>
                </a:solidFill>
              </a:defRPr>
            </a:pPr>
            <a:r>
              <a:rPr sz="900" b="1">
                <a:solidFill>
                  <a:srgbClr val="1A2332"/>
                </a:solidFill>
              </a:rPr>
              <a:t>Santiago Garces Chavarria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19A52A-2CC9-44BE-94AA-21DB33B0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191250"/>
            <a:ext cx="445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205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A5568"/>
                </a:solidFill>
              </a:defRPr>
            </a:pPr>
            <a:r>
              <a:rPr sz="750" b="0">
                <a:solidFill>
                  <a:srgbClr val="4A5568"/>
                </a:solidFill>
              </a:rPr>
              <a:t>For recruiter review or project discussion, email santiago.garces.blevine@gmail.com. Include the role or problem, timeline, and expected deliverable format.</a:t>
            </a:r>
          </a:p>
        </p:txBody>
      </p:sp>
    </p:spTree>
    <p:extLst>
      <p:ext uri="{BB962C8B-B14F-4D97-AF65-F5344CB8AC3E}">
        <p14:creationId xmlns:p14="http://schemas.microsoft.com/office/powerpoint/2010/main" val="20790575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F1DA3DD-73F1-44EB-AB6D-83403A1AEE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8B642-AC3F-4565-BB8E-9948AE4D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DF093-AC44-44B1-BEBD-49932785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182E1-5B66-4F4C-BEEA-37063741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COMMERCIAL INTELLIGENCE | MARKET STRUCTURE | COMPETITIVE BENCHMARKING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13AC64-9B7B-459A-8B74-3938270D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24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02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4906B-0414-43FE-A5A7-4ED722CC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48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The category splits into three commercial archetypes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39AF2-C572-4FE4-A17E-8634A758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448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Different player types win through different economic mechanisms, so raw feature comparison is not enough.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ABC57-17E7-438E-BA68-A2575D5C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024B2-9D3F-4D1F-B026-D689B63C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Archetype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5ACB0A-1D81-4B5D-8410-37191947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665A01-EA8F-44C3-A4A1-81A8499E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Typical price band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F33AF1-7857-4ECF-B2BF-6868573C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B2DDA3-A2D3-4A79-85DB-8F319638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How value is captured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C367C3-4D59-463C-B607-C99844C7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CC4D64-88E2-49C5-BAD8-BE63004D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Primary weakness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96C4D7-A05C-4584-8BC1-258915D9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01E9A7-1291-4F6F-BFC2-EF6201B6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Platform incumbent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3547DA-90B1-4EAD-9301-988A0A0E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69C2E4-5F54-45A6-888E-34D56FD9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$10-30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E182B3-A442-4876-B916-5ABC02D1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8A5ABD-02D8-49FA-91FF-4391B346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Bundle AI into a broader suite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907AEB-D0A6-47B1-A65C-6D96E3C6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9F5E7C-8B7C-40C3-89BC-EAE0725E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Generic workflow fit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CB7613-BD93-4776-AE09-F7E9977B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3BAC0C-59E5-442F-9D54-D622BC99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Focused challenger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ECA051-8CE2-4E3E-89C7-1DCC0A81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A1AD7B-0929-4943-943F-BB1D00AD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$30-100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AA0E8D-E4C0-487A-883E-9ED9F783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481510-C3C6-4844-9C61-001866D5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Sell quality and AI-native workflow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C24D74-9BB8-4792-89CC-1466400E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EC3BB0-3632-49EB-B71D-EE1F607E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Budget-line friction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FBF9D2-22E9-44C4-9902-AA5F4DD1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17C4E2-46BA-43F8-8CC9-F093F0CF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Workflow specialist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75AFF3-2A9D-4DEF-BB82-6BF24A52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9CD254-BBDB-42A8-9AC6-5B9425B0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$8-40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7EA0F0-BE33-42AA-BFCE-4EA6B3C1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97A9C1-29B7-4DBC-B88C-899C5251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Win through narrow depth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BEE9E2-6352-4D5F-9809-7B4F83DF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ADEA46-7FC5-46C5-9CF2-C2662D8B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Expansion ceiling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69A717-D10D-4EBA-854B-7CBD43A6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914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A5568"/>
                </a:solidFill>
              </a:defRPr>
            </a:pPr>
            <a:r>
              <a:rPr sz="863" b="0">
                <a:solidFill>
                  <a:srgbClr val="4A5568"/>
                </a:solidFill>
              </a:rPr>
              <a:t>This is the category map that anchors both the benchmark and the pricing case.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0366B5-39B7-4021-8A21-BF61EE8A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5A2ADC-EAD4-4586-A0F9-E8E27C8B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Flagship Case 02 | Commercial Intelligence | Self-initiated decision sample | 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0E07D9-B56F-4266-AF7A-DBE53FB1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53200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2208588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F1DA3DD-73F1-44EB-AB6D-83403A1AEE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EF8BB-D618-462E-B9F3-8998C693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56192D-065B-43FC-BC05-0FBD03AC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2B5C4-7455-48C6-B0CD-8DDF7EFA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COMMERCIAL INTELLIGENCE | MARKET STRUCTURE | COMPETITIVE BENCHMARKING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06C63-A837-46AB-8618-47467474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24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03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7CDF8-5E98-405C-AF5E-51F77C7F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48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Each competitive cluster is over-built for one problem and under-built for another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9BFD3-B9A4-42D3-B999-1702BBC2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448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The point of the market map is to reveal where incumbents are strong, but also where their structure leaves room.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659BB-A11F-4D59-84F3-FDC302FB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5052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77497-1256-4DAD-81C4-2F1FB627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C5282"/>
                </a:solidFill>
              </a:defRPr>
            </a:pPr>
            <a:r>
              <a:rPr sz="900" b="1">
                <a:solidFill>
                  <a:srgbClr val="2C5282"/>
                </a:solidFill>
              </a:rPr>
              <a:t>Platform incumbents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2BF6D1-CB64-47D6-B646-1DA4740F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31623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Strongest on convenience and bundling, weakest on narrow workflow precision.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3B3A1-B4A8-4BEF-BE74-FD1F2142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52700"/>
            <a:ext cx="35052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7D5BF2-699F-4879-AB27-30C836DE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2415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C5282"/>
                </a:solidFill>
              </a:defRPr>
            </a:pPr>
            <a:r>
              <a:rPr sz="900" b="1">
                <a:solidFill>
                  <a:srgbClr val="2C5282"/>
                </a:solidFill>
              </a:rPr>
              <a:t>Focused challengers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BC9EF-450B-4B8F-B3B6-DD79DDBF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48000"/>
            <a:ext cx="31623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Strongest on output quality and AI-native experience, weaker on budget-line defensibility.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FEC49-5C5A-4308-A095-16963FA4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52700"/>
            <a:ext cx="35052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C4ADBB-22DA-408D-B389-CF2A1FA9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2415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C5282"/>
                </a:solidFill>
              </a:defRPr>
            </a:pPr>
            <a:r>
              <a:rPr sz="900" b="1">
                <a:solidFill>
                  <a:srgbClr val="2C5282"/>
                </a:solidFill>
              </a:rPr>
              <a:t>Workflow specialists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B879B7-CD2E-4F51-A60F-9ABD8EEF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31623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Strongest on narrow habit and use-case depth, weaker on broader expansion potential.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D9ECBE-B3D3-4CFF-BA9F-87D57489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B99390-5EEC-4741-B233-09DD6C29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Flagship Case 02 | Commercial Intelligence | Self-initiated decision sample | 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1C1A27-079F-477D-91BB-476FB878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53200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7440290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F1DA3DD-73F1-44EB-AB6D-83403A1AEE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DC155-A8E8-4D26-8A39-FA437BBF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05ABC-5357-428A-89AC-42030941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B5C42-CDD0-43E9-AB3D-D9130973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COMMERCIAL INTELLIGENCE | MARKET STRUCTURE | COMPETITIVE BENCHMARKING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025C3-FC92-4EB7-823D-15699E86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24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04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4D60E-7DE8-4272-9F0A-959A285B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48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Buyer logic changes willingness to pay more than feature count does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A9931-0ECB-48DC-A5F5-DC44BB42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448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The same product claim can monetize very differently depending on who is buying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21AA1-500D-4A7E-A14E-8E65A19C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6CE83-E953-482C-8A34-780D7163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Buyer 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F47CA-A405-4428-9435-5CDA2AAF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96B5DE-1DC3-4A5C-BAB1-056EA72C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What they pay for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0291E-DD71-4731-A0EA-048087B4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AF2B6-50BA-4604-8C4F-F01DDDD8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Price sensitivity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AFA0A8-5077-448F-917F-3049568F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85B5F7-A3A4-49C1-828E-2A1D2684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Implication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7BA068-A69E-4453-B4EF-9149773E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451172-57C4-4198-BA50-FAE4FF92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Solo operators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24EC2E-9646-4058-953B-8881AD79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E4E474-8BC8-47E1-BD18-2FCCC9AD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Quality that saves billable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7E3C0E-0321-418B-9766-9FCDEC4D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9D2BC1-EF97-4359-8EFE-851F5431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High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320069-FE99-475B-AC48-89225ED5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043B36-EB05-4D81-944A-50E249CF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Premium can work if value is explicit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319926-AE7F-469E-8B3F-A31B35BC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D50B50-F950-4A79-9B98-0C637FF5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SMB teams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202497-C0A3-4C44-AA09-CFB9270E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C23826-52AD-426A-824E-28ADFFAC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Integration and collaboration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8766D4-1A11-4ED9-895C-E21FBE45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2F6FF1-8881-4A76-8D24-BD0E8BEE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Moderate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3359CA-9BB9-4F5A-B344-E7B63AAF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6F316F-1436-4C81-B83E-09BF3386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Workflow fit matters most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4B865A-F540-4B58-8967-9B9DC707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87948D-5AEE-47CC-BBC8-C432E075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Enterprise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4516E2-C661-40E8-9DCE-81900713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52F575-BE17-464A-A93D-74FCA256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Governance and admin control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BA57B5-4CB3-43CF-926C-F11FBCC4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A958F5-F560-44DE-B3E2-C4869B99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Low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454E40-424F-4B83-86EC-4AEA9BD6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2B2DA8-38B9-47A2-827D-E348C6DE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Compliance is a pricing lever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821F57-86FC-40CE-B372-0BA49A53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914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A5568"/>
                </a:solidFill>
              </a:defRPr>
            </a:pPr>
            <a:r>
              <a:rPr sz="863" b="0">
                <a:solidFill>
                  <a:srgbClr val="4A5568"/>
                </a:solidFill>
              </a:rPr>
              <a:t>The benchmark matters because it reveals where each player is over- or under-built for its buyer.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A9799F-9ABB-46FC-AE93-FC0714FF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13BC37-1D79-4065-8F5D-809E2121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Flagship Case 02 | Commercial Intelligence | Self-initiated decision sample | 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A45F19-1809-413F-A86A-9F30DD88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53200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3045608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F1DA3DD-73F1-44EB-AB6D-83403A1AEE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FB4B0-620E-4568-92B7-6E17E971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2D5C3-3A72-4029-846B-676D9621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9FE07-E722-4585-A8BB-0A5FFC7D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COMMERCIAL INTELLIGENCE | MARKET STRUCTURE | COMPETITIVE BENCHMARKING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DD823-396E-4803-A239-A07EE666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24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05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0B965-F63D-4653-A5BF-9E129433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48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The direct benchmark shows clear trade-offs instead of a single winner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F95B5-B6C4-453F-8DC6-9B83324D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448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No player dominates every dimension. The question is where the clusters leave room.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603C6-FDED-42E2-976B-74DCA41A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19456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988AA-0030-4F5E-B862-C1D9C743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20421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Player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00E5DB-B484-4495-9A79-9A0F4284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2457450"/>
            <a:ext cx="219456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5EE69-2E5A-43B1-94B8-4DD215C0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543175"/>
            <a:ext cx="20421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DC69D-5784-4958-AD0E-DBFF46BC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720" y="2457450"/>
            <a:ext cx="219456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73045-B7B4-4BC9-874D-CF65AEFD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543175"/>
            <a:ext cx="20421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Workflow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04B4C-CA2A-46BE-AF4D-99FD1699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2457450"/>
            <a:ext cx="219456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F02443-6A54-40B6-976C-80A94C70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543175"/>
            <a:ext cx="20421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Collab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8E9872-2615-44F4-856E-9A4AF15D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2457450"/>
            <a:ext cx="219456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EDD90E-0A94-4D39-8BA9-597F83C3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543175"/>
            <a:ext cx="20421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01D649-1B99-4859-90C4-6CFEE9C6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19456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8F8B3C-9CE4-4E50-86ED-B5FEAFD9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0421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Notion 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0916E6-6890-4894-AEB0-A6934552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2781300"/>
            <a:ext cx="219456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D168EB-FF68-4CAB-9774-264DED85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857500"/>
            <a:ext cx="20421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D2FA9E-0ECB-4CBF-A7EA-36C13F0E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720" y="2781300"/>
            <a:ext cx="219456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BA9E4A-36AC-424A-9B0E-C04288ED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857500"/>
            <a:ext cx="20421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0367CE-4F56-4FCC-AF23-F43E9403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2781300"/>
            <a:ext cx="219456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0DBAB7-4227-4518-B48E-DB6441BF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857500"/>
            <a:ext cx="20421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CA6274-86F2-4667-8A82-C88881C2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2781300"/>
            <a:ext cx="219456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50871F-134B-4DB3-90EB-A3D26EE9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857500"/>
            <a:ext cx="20421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6CC41B-8E45-4468-8794-AE9123D4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219456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DDFA92-8933-4549-BC09-97F723F3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20421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Copilot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8BE2EF-6856-4734-931D-AEFC68BC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3248025"/>
            <a:ext cx="219456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654319-0753-4BD8-A16E-4604E67A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324225"/>
            <a:ext cx="20421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F43A03-E854-4217-BC28-BCC888DC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720" y="3248025"/>
            <a:ext cx="219456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ABED58-3A32-40EC-9EA2-BE40F5A5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324225"/>
            <a:ext cx="20421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CCFDB8-719F-4104-A1F3-78EE897C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3248025"/>
            <a:ext cx="219456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4BAE32-45AB-441A-9EA7-2654A0DA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324225"/>
            <a:ext cx="20421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BE3BB5-A492-48B5-8E78-ABBD5582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3248025"/>
            <a:ext cx="219456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1379CE-55F1-41A0-B97C-E844D420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3324225"/>
            <a:ext cx="20421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DCCE19-A871-4236-8E2D-FA60EBA9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19456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93BF61-5527-4DE3-B0B4-E31B07EE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0421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Claude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6FEA30-7503-47D9-BD95-0348C9A2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3714750"/>
            <a:ext cx="219456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13D958-281A-4096-AB7F-DDA9D024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790950"/>
            <a:ext cx="20421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147268-8F66-48CE-98EA-CB3AF5C4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720" y="3714750"/>
            <a:ext cx="219456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B1DB90-8CC8-459B-A225-5BF6327B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790950"/>
            <a:ext cx="20421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DF5BA8-84F2-4EC7-B2FE-D660716A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3714750"/>
            <a:ext cx="219456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082880-E743-49C0-A08C-46616AC1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790950"/>
            <a:ext cx="20421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4C0F2A-F38D-4EA4-AFAC-11B7771D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3714750"/>
            <a:ext cx="219456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B419D67-80FB-4E28-AC29-D583EFA7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3790950"/>
            <a:ext cx="20421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12A64F-0592-4F75-B57E-162BCE73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219456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DC3B8A0-DA39-4D1C-A590-1D7AA6B3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20421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Jasper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B228A8-5CC1-44AF-A948-7D888FC4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4181475"/>
            <a:ext cx="219456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AF87FCD-6E9A-432E-9E70-E0901374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257675"/>
            <a:ext cx="20421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F46D4B8-60C0-45EE-BDCC-7263161E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720" y="4181475"/>
            <a:ext cx="219456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9B50AC-D7D6-4502-96C1-BC313A5C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4257675"/>
            <a:ext cx="20421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6C3C8F9-001D-4488-ABD8-882E900E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4181475"/>
            <a:ext cx="219456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506E436-76A6-49F4-8C92-2C789E80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257675"/>
            <a:ext cx="20421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4F40948-C522-4B82-ADB5-CAE2EA84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4181475"/>
            <a:ext cx="219456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EA3BDED-4380-4835-8CFA-C1B158C6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4257675"/>
            <a:ext cx="20421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34327F3-39D9-404B-A412-89EDFFC2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219456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33D61B0-0506-4A14-B64B-44522C26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20421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Grammarly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25C1EAE-CCE2-48E8-950C-77CA758B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4648200"/>
            <a:ext cx="219456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B3A03B4-AE9A-4B1F-8BF9-28036285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724400"/>
            <a:ext cx="20421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647FDFE-BDF0-46AF-BC3E-BF599CA1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720" y="4648200"/>
            <a:ext cx="219456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B96A656-EC6A-4A94-8E9E-4E50519B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4724400"/>
            <a:ext cx="20421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808F60B-DB8A-470B-A2F6-9ECBCF6E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4648200"/>
            <a:ext cx="219456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A550995-31A7-42D6-9739-527C2378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724400"/>
            <a:ext cx="20421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5559AA3-5DA7-476B-A675-502C01E0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4648200"/>
            <a:ext cx="219456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4EA4516-A900-4673-9B02-CAC656D8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4724400"/>
            <a:ext cx="20421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F4469F8-7788-462E-81D8-70C35EE9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219456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DDC532D-D8E9-489E-955E-B8CC1439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20421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Fireflies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B107C92-56BE-4F51-9729-DD6DB822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5114925"/>
            <a:ext cx="219456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2D1FD4B-7973-44C9-8BBB-6FD0BAB0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5191125"/>
            <a:ext cx="20421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3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47C6138-6850-42DE-B053-2B8D2EBA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720" y="5114925"/>
            <a:ext cx="219456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8AAF839-2197-47E1-8BC3-78424E1A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5191125"/>
            <a:ext cx="20421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4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2CA38A3-62B0-42BD-B0FA-92247F32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5114925"/>
            <a:ext cx="219456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3A171A8-1663-4F87-B039-3521F73E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191125"/>
            <a:ext cx="20421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3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F5002AE-9F2B-4F98-BB67-FD5C6441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5114925"/>
            <a:ext cx="219456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B84774C-89F9-42B5-9370-54FCF42D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191125"/>
            <a:ext cx="204216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BDA5C6D-B9B5-48E6-90E5-4A11739F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914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A5568"/>
                </a:solidFill>
              </a:defRPr>
            </a:pPr>
            <a:r>
              <a:rPr sz="863" b="0">
                <a:solidFill>
                  <a:srgbClr val="4A5568"/>
                </a:solidFill>
              </a:rPr>
              <a:t>Scores are directional and used for pattern recognition, not false precision.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05AAC60-09D4-42BC-8B97-54F85313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E3D370E-8640-42D8-AF74-32D74FEE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Flagship Case 02 | Commercial Intelligence | Self-initiated decision sample | 02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06D9E98-77D7-43F4-9157-29091116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53200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77122638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F1DA3DD-73F1-44EB-AB6D-83403A1AEE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ED775-0356-4BA1-A533-DD422867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6C63D-EFA5-4FED-B088-334DE0AD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146C6-783C-4A23-9211-9C6C447E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COMMERCIAL INTELLIGENCE | MARKET STRUCTURE | COMPETITIVE BENCHMARKING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771C2-7CA6-4229-8F86-C5CD676F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24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06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741A3-D32F-45BA-A3A4-E2A3CA7E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48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The most attractive wedge is where workflow depth and governance both matter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C6710-4D3B-4945-A956-42816E47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448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That combination is under-served because broad incumbents optimize for breadth and specialists optimize for narrow habit.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E66B6-1524-49D7-A06F-CCC28E99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238500"/>
            <a:ext cx="781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5568"/>
                </a:solidFill>
              </a:defRPr>
            </a:pPr>
            <a:r>
              <a:rPr sz="900" b="1">
                <a:solidFill>
                  <a:srgbClr val="4A5568"/>
                </a:solidFill>
              </a:rPr>
              <a:t>Governance</a:t>
            </a:r>
          </a:p>
          <a:p xmlns:a="http://schemas.openxmlformats.org/drawingml/2006/main">
            <a:pPr algn="ctr">
              <a:defRPr sz="900" b="1">
                <a:solidFill>
                  <a:srgbClr val="4A5568"/>
                </a:solidFill>
              </a:defRPr>
            </a:pPr>
            <a:r>
              <a:rPr sz="900" b="1">
                <a:solidFill>
                  <a:srgbClr val="4A5568"/>
                </a:solidFill>
              </a:rPr>
              <a:t>and trust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C426F-2CED-4E73-839D-A1F82CBD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810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A5568"/>
                </a:solidFill>
              </a:defRPr>
            </a:pPr>
            <a:r>
              <a:rPr sz="825" b="1">
                <a:solidFill>
                  <a:srgbClr val="4A5568"/>
                </a:solidFill>
              </a:rPr>
              <a:t>Workflow depth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E3F94-F9AB-4497-861A-00BA8ED4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9144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32337-046D-4CF5-8249-C9D8A18F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48150"/>
            <a:ext cx="9144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9A373C-2149-48CC-B09A-E727C024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14288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65B6B-669E-483C-84A0-FB61A9A0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57450"/>
            <a:ext cx="14288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983530-AF98-47E0-A874-381A8D2E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57450"/>
            <a:ext cx="14288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C7E961-CD06-4445-8D91-7124A7F1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9850"/>
            <a:ext cx="32956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15B5FB-BDD7-4B6F-97FB-79FB7CB9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813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C5282"/>
                </a:solidFill>
              </a:defRPr>
            </a:pPr>
            <a:r>
              <a:rPr sz="900" b="1">
                <a:solidFill>
                  <a:srgbClr val="2C5282"/>
                </a:solidFill>
              </a:rPr>
              <a:t>Compliance-first workflows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367FCE-D873-4EC6-8707-6DB43A63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0515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Strongest wedge for differentiation and pricing resilience.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87007D-8092-4F02-8B3E-CB84C6E8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43400"/>
            <a:ext cx="32956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583D80-1CE8-423C-916C-7D5F080A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148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C5282"/>
                </a:solidFill>
              </a:defRPr>
            </a:pPr>
            <a:r>
              <a:rPr sz="900" b="1">
                <a:solidFill>
                  <a:srgbClr val="2C5282"/>
                </a:solidFill>
              </a:rPr>
              <a:t>Premium solo operators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2EBB12-7EF5-46EF-99A2-4716549C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3870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Viable if output quality saves visible billable time.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673B73-0D96-4CB2-BBB5-EEBFBF5F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09850"/>
            <a:ext cx="32956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629A8A-0B26-4DEE-B6B7-74325717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C5282"/>
                </a:solidFill>
              </a:defRPr>
            </a:pPr>
            <a:r>
              <a:rPr sz="900" b="1">
                <a:solidFill>
                  <a:srgbClr val="2C5282"/>
                </a:solidFill>
              </a:rPr>
              <a:t>Emerging-market pricing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B2F956-2B30-4B49-815D-8270BEA8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0515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Good economic angle, but less defensible on its own.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6E4C15-A43A-490D-AF22-849B30AA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43400"/>
            <a:ext cx="32956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38DE70-F283-42C1-AEF2-465A10FB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148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C5282"/>
                </a:solidFill>
              </a:defRPr>
            </a:pPr>
            <a:r>
              <a:rPr sz="900" b="1">
                <a:solidFill>
                  <a:srgbClr val="2C5282"/>
                </a:solidFill>
              </a:rPr>
              <a:t>Horizontal bundle war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BEE1BC-F4CF-4B5B-A374-D54A3D9D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3870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Avoid broad entry where incumbents already own convenience.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4626AE-49B2-4471-A8E8-72DB9F24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967EE3-15B6-4717-89C6-B2BE3549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Flagship Case 02 | Commercial Intelligence | Self-initiated decision sample | 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06F894-636E-4F13-A594-3508A5F2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53200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4004528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F1DA3DD-73F1-44EB-AB6D-83403A1AEE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AD86B-63E9-4CE2-A07C-C3F569A1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C939D-610F-4A60-8517-B96D172F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65D7F-9134-4E44-A9BA-5E520D20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COMMERCIAL INTELLIGENCE | MARKET STRUCTURE | COMPETITIVE BENCHMARKING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78DB17-AF56-40AF-9E72-EA2B2AD7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24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07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E0656-432F-45CA-9CAE-FA871BB0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48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A credible entry thesis should sequence focus before breadth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CA125-C755-4407-A118-B4258CDB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448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The first move should prove willingness to pay in a narrow, defensible use case before expanding outward.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6C117B-2C7B-4BF4-887C-DBAAD126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F6013-1CDE-44FC-B312-4DB26419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Phase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3BD77-69C1-4173-AD7C-B5FF4F7B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1168A-D315-4F7F-A192-C71FA69F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Move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F25CE0-5B52-48F8-AA6B-C8358ABC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AC7EB8-B989-4E50-A5FE-79D1680F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Logic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735B6-279B-49D9-9C6E-4B648B57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8951FB-399E-4434-80AE-53430486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2C8EAB-8607-40E3-A1DF-DC555E64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3CF992-137B-4D08-90EA-3174DD72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57FB7A-33F7-4737-B859-5F042561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44E6B3-6396-4BB2-9D6B-D2EA851A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Win a control-sensitive workflow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554AB1-196F-4F55-A5CE-3151C3FF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F0FE35-36BD-4CA8-8DFE-3B5D08DF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Best intersection of pain and differentiation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B10B19-6676-4BEF-A98B-1E906D25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FD649B-F2AF-400C-9BC3-2875BBC1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Market can be smaller than expected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BA0243-F1DB-4C45-9CA0-132380A1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C570C1-A43C-4495-B187-2B86897C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550D39-1FD2-40B1-AC83-2C6A0E99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BE3CF7-CE38-4FF2-8999-177B3C8F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Expand to adjacent review-heavy workflows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28CF23-65CA-4631-8583-5AD0AC14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1AA297-7509-453E-92FF-D713265F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Reuse trust and governance capabilities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DF5031-CD48-4142-838F-9B5FC04E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528255-B6A3-45A0-8298-6E3CD210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Complexity expands too quickly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70CFD2-F2DA-47BF-91C1-592D4A25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FC17A2-3082-40F9-AE9E-D017E155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AB3595-B451-4A86-BEFB-A3853033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54AD90-8AEA-487D-AF29-E2B160A7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Localize pricing selectively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9E5876-61A4-4559-AFF9-D3159EFA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DBF6D4-6E84-424C-AA12-CF27BE91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Improves fit in under-served markets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E0B36B-7884-4EDC-8616-34FEB881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DBDA41-6410-4572-B415-AD83AE30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Becomes discounting instead of strategy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1B9BB1-518A-4233-97D6-D312AEF9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914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A5568"/>
                </a:solidFill>
              </a:defRPr>
            </a:pPr>
            <a:r>
              <a:rPr sz="863" b="0">
                <a:solidFill>
                  <a:srgbClr val="4A5568"/>
                </a:solidFill>
              </a:rPr>
              <a:t>This is the bridge from descriptive research to an actual go-to-market thesis.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C0D552-452A-4D70-9BE1-9CCEDCB0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DDDFBF-A638-4514-B4FD-F42C856F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Flagship Case 02 | Commercial Intelligence | Self-initiated decision sample | 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2AA6E18-4B71-4627-88CF-DFDA6126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53200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47745197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F1DA3DD-73F1-44EB-AB6D-83403A1AEE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FF13E-E8BF-4878-A4F4-A63932A8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74377-3774-4649-AF4E-488E7928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8E4EB-9EED-4FF1-A3AA-5EE99EC6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666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2332"/>
                </a:solidFill>
              </a:defRPr>
            </a:pPr>
            <a:r>
              <a:rPr sz="2250" b="1">
                <a:solidFill>
                  <a:srgbClr val="1A2332"/>
                </a:solidFill>
              </a:rPr>
              <a:t>This case is meant to feed a commercial decision, not just summarize a market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2B64A-A27C-4220-8342-0CB89DF1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666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568"/>
                </a:solidFill>
              </a:defRPr>
            </a:pPr>
            <a:r>
              <a:rPr sz="1275" b="0">
                <a:solidFill>
                  <a:srgbClr val="4A5568"/>
                </a:solidFill>
              </a:rPr>
              <a:t>It proves Santiago can move from category noise to a usable positioning call and create a bridge into pricing design.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7D409-2023-47F3-A48C-65736E7C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62674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8EDAE-0DE5-409C-A591-4069DD5D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909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Takeaways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CBF30-59CE-44A8-9C32-F3A449D1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282EB0-736A-40F2-8FFF-19CA6FE0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The same market logic feeds Flagship Case 03 on pricing and monetization.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8B07E-7049-46DD-B25E-C6AAA6D2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74DA3-5EF4-4C2B-B482-20F4A11B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4815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14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For recruiter review or project discussion, email santiago.garces.blevine@gmail.com. Include the role or problem, timeline, and expected deliverable format.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B294EB-070A-4375-9F40-296BEC87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143000"/>
            <a:ext cx="3238500" cy="41148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C4861F-B872-4388-B27D-4DD972A5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287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Contact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935143-871A-4B64-829D-B335121C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089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2332"/>
                </a:solidFill>
              </a:defRPr>
            </a:pPr>
            <a:r>
              <a:rPr sz="1500" b="1">
                <a:solidFill>
                  <a:srgbClr val="1A2332"/>
                </a:solidFill>
              </a:rPr>
              <a:t>Santiago Garces Chavarria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B469ED-0C45-4DEE-BE51-ECF4C9A9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2362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C5282"/>
                </a:solidFill>
              </a:defRPr>
            </a:pPr>
            <a:r>
              <a:rPr sz="825" b="0">
                <a:solidFill>
                  <a:srgbClr val="2C5282"/>
                </a:solidFill>
              </a:rPr>
              <a:t>Market Research | Competitive Intelligence | AI Workflow Execution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D7FA54-1984-4871-A922-3D8F72A3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28900"/>
            <a:ext cx="2362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202C"/>
                </a:solidFill>
              </a:defRPr>
            </a:pPr>
            <a:r>
              <a:rPr sz="1050" b="0">
                <a:solidFill>
                  <a:srgbClr val="1A202C"/>
                </a:solidFill>
              </a:rPr>
              <a:t>Built from public pricing, product, review, and company signals. Designed as a decision-grade market and benchmark sample.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DBA8C5-93C8-4209-9E54-3B0DECA0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14750"/>
            <a:ext cx="2362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A202C"/>
                </a:solidFill>
              </a:defRPr>
            </a:pPr>
            <a:r>
              <a:rPr sz="1013" b="0">
                <a:solidFill>
                  <a:srgbClr val="1A202C"/>
                </a:solidFill>
              </a:rPr>
              <a:t>santiago.garces.blevine@gmail.com</a:t>
            </a:r>
          </a:p>
          <a:p xmlns:a="http://schemas.openxmlformats.org/drawingml/2006/main">
            <a:pPr algn="l">
              <a:defRPr sz="1013" b="0">
                <a:solidFill>
                  <a:srgbClr val="1A202C"/>
                </a:solidFill>
              </a:defRPr>
            </a:pPr>
            <a:r>
              <a:rPr sz="1013" b="0">
                <a:solidFill>
                  <a:srgbClr val="1A202C"/>
                </a:solidFill>
              </a:rPr>
              <a:t>Medellin, Colombia</a:t>
            </a:r>
          </a:p>
          <a:p xmlns:a="http://schemas.openxmlformats.org/drawingml/2006/main">
            <a:pPr algn="l">
              <a:defRPr sz="1013" b="0">
                <a:solidFill>
                  <a:srgbClr val="1A202C"/>
                </a:solidFill>
              </a:defRPr>
            </a:pPr>
            <a:r>
              <a:rPr sz="1013" b="0">
                <a:solidFill>
                  <a:srgbClr val="1A202C"/>
                </a:solidFill>
              </a:rPr>
              <a:t>For recruiter review or project discussion, email santiago.garces.blevine@gmail.com. Include the role or problem, timeline, and expected deliverable format.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F7B4C9-AFE1-403F-BA09-94B29D93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53000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A5568"/>
                </a:solidFill>
              </a:defRPr>
            </a:pPr>
            <a:r>
              <a:rPr sz="750" b="0">
                <a:solidFill>
                  <a:srgbClr val="4A5568"/>
                </a:solidFill>
              </a:rPr>
              <a:t>Flagship Case 02 | Commercial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11226968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2026-04-23T00:03:53.9460000Z</dcterms:created>
  <dcterms:modified xsi:type="dcterms:W3CDTF">2026-04-23T00:03:53.9460000Z</dcterms:modified>
</coreProperties>
</file>