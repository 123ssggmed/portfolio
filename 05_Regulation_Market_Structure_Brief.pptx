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64b42577b4f20" /><Relationship Type="http://schemas.openxmlformats.org/officeDocument/2006/relationships/extended-properties" Target="/docProps/app.xml" Id="Rd560cdf26e4745e7" /><Relationship Type="http://schemas.openxmlformats.org/officeDocument/2006/relationships/officeDocument" Target="/ppt/presentation.xml" Id="Rae2d5639764a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7112ba1d5144d0"/>
  </p:sldMasterIdLst>
  <p:notesMasterIdLst>
    <p:notesMasterId xmlns:r="http://schemas.openxmlformats.org/officeDocument/2006/relationships" r:id="R882fe1baa6974769"/>
  </p:notesMasterIdLst>
  <p:sldIdLst>
    <p:sldId xmlns:r="http://schemas.openxmlformats.org/officeDocument/2006/relationships" id="256" r:id="Rf9ceb0175e354fd5"/>
    <p:sldId xmlns:r="http://schemas.openxmlformats.org/officeDocument/2006/relationships" id="257" r:id="Rafb4e9a212d04621"/>
    <p:sldId xmlns:r="http://schemas.openxmlformats.org/officeDocument/2006/relationships" id="258" r:id="R95c1292ea8324f12"/>
    <p:sldId xmlns:r="http://schemas.openxmlformats.org/officeDocument/2006/relationships" id="259" r:id="Rca667c75409c4eab"/>
    <p:sldId xmlns:r="http://schemas.openxmlformats.org/officeDocument/2006/relationships" id="260" r:id="Re3ed05ba58e8421c"/>
    <p:sldId xmlns:r="http://schemas.openxmlformats.org/officeDocument/2006/relationships" id="261" r:id="R4a0f4318a22d422b"/>
    <p:sldId xmlns:r="http://schemas.openxmlformats.org/officeDocument/2006/relationships" id="262" r:id="R734224f036e54dfd"/>
    <p:sldId xmlns:r="http://schemas.openxmlformats.org/officeDocument/2006/relationships" id="263" r:id="R4d082e2e95c04a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112ba1d5144d0" /><Relationship Type="http://schemas.openxmlformats.org/officeDocument/2006/relationships/theme" Target="/ppt/theme/theme1.xml" Id="Rea9a620da2654f24" /><Relationship Type="http://schemas.openxmlformats.org/officeDocument/2006/relationships/notesMaster" Target="/ppt/notesMasters/notesMaster1.xml" Id="R882fe1baa6974769" /><Relationship Type="http://schemas.openxmlformats.org/officeDocument/2006/relationships/presProps" Target="/ppt/presProps.xml" Id="Rb1a34cd1e4374851" /><Relationship Type="http://schemas.openxmlformats.org/officeDocument/2006/relationships/viewProps" Target="/ppt/viewProps.xml" Id="Rde256c42aea44806" /><Relationship Type="http://schemas.openxmlformats.org/officeDocument/2006/relationships/tableStyles" Target="/ppt/tableStyles.xml" Id="Rb69f2c04372244c2" /><Relationship Type="http://schemas.openxmlformats.org/officeDocument/2006/relationships/slide" Target="/ppt/slides/slide1.xml" Id="Rf9ceb0175e354fd5" /><Relationship Type="http://schemas.openxmlformats.org/officeDocument/2006/relationships/slide" Target="/ppt/slides/slide2.xml" Id="Rafb4e9a212d04621" /><Relationship Type="http://schemas.openxmlformats.org/officeDocument/2006/relationships/slide" Target="/ppt/slides/slide3.xml" Id="R95c1292ea8324f12" /><Relationship Type="http://schemas.openxmlformats.org/officeDocument/2006/relationships/slide" Target="/ppt/slides/slide4.xml" Id="Rca667c75409c4eab" /><Relationship Type="http://schemas.openxmlformats.org/officeDocument/2006/relationships/slide" Target="/ppt/slides/slide5.xml" Id="Re3ed05ba58e8421c" /><Relationship Type="http://schemas.openxmlformats.org/officeDocument/2006/relationships/slide" Target="/ppt/slides/slide6.xml" Id="R4a0f4318a22d422b" /><Relationship Type="http://schemas.openxmlformats.org/officeDocument/2006/relationships/slide" Target="/ppt/slides/slide7.xml" Id="R734224f036e54dfd" /><Relationship Type="http://schemas.openxmlformats.org/officeDocument/2006/relationships/slide" Target="/ppt/slides/slide8.xml" Id="R4d082e2e95c0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51e7905add84a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62ef668a35410f" /><Relationship Type="http://schemas.openxmlformats.org/officeDocument/2006/relationships/notesMaster" Target="/ppt/notesMasters/notesMaster1.xml" Id="Rb31256cd72ef4b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b046487cd24bd1" /><Relationship Type="http://schemas.openxmlformats.org/officeDocument/2006/relationships/notesMaster" Target="/ppt/notesMasters/notesMaster1.xml" Id="Rbd43fb8baa9e45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562c9b4f544441" /><Relationship Type="http://schemas.openxmlformats.org/officeDocument/2006/relationships/notesMaster" Target="/ppt/notesMasters/notesMaster1.xml" Id="R497f6a9c29ff4c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ea7f236d4d45bf" /><Relationship Type="http://schemas.openxmlformats.org/officeDocument/2006/relationships/notesMaster" Target="/ppt/notesMasters/notesMaster1.xml" Id="R14ee574d84c542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eac57ac38043d4" /><Relationship Type="http://schemas.openxmlformats.org/officeDocument/2006/relationships/notesMaster" Target="/ppt/notesMasters/notesMaster1.xml" Id="Rbe9ffd6251e44a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589c66e405426a" /><Relationship Type="http://schemas.openxmlformats.org/officeDocument/2006/relationships/notesMaster" Target="/ppt/notesMasters/notesMaster1.xml" Id="Rc4ef4cdeb2fe48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3b57103ccd4797" /><Relationship Type="http://schemas.openxmlformats.org/officeDocument/2006/relationships/notesMaster" Target="/ppt/notesMasters/notesMaster1.xml" Id="R94e04fa1409e4d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c8b222af949d6" /><Relationship Type="http://schemas.openxmlformats.org/officeDocument/2006/relationships/notesMaster" Target="/ppt/notesMasters/notesMaster1.xml" Id="R7c205621538b46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94f54be8647d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C5A34B4-6630-4EEA-96D2-46A2E629F5B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6A36105-13F6-429D-BA13-2D23456FB49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D3F5F0-C894-45B4-B3AC-163539016F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CAB17A-22BA-4B6F-98C3-D49223D38C6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d6376e6004a487e" /><Relationship Type="http://schemas.openxmlformats.org/officeDocument/2006/relationships/slideLayout" Target="/ppt/slideLayouts/slideLayout2.xml" Id="R14d74d5c01f24e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7CB19E-4DC1-4B6E-BB38-47EDBFAB7A5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d74d5c01f24e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6a45a9df2444f" /><Relationship Type="http://schemas.openxmlformats.org/officeDocument/2006/relationships/notesSlide" Target="/ppt/notesSlides/notesSlide1.xml" Id="R5ec51041a3304c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942ab323cc4250" /><Relationship Type="http://schemas.openxmlformats.org/officeDocument/2006/relationships/notesSlide" Target="/ppt/notesSlides/notesSlide2.xml" Id="R24d7e7838f8344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65dcb815424eee" /><Relationship Type="http://schemas.openxmlformats.org/officeDocument/2006/relationships/notesSlide" Target="/ppt/notesSlides/notesSlide3.xml" Id="Rd37ccee065034d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599dee29194124" /><Relationship Type="http://schemas.openxmlformats.org/officeDocument/2006/relationships/chart" Target="/ppt/slides/charts/chart1.xml" Id="R002e317e6fe74162" /><Relationship Type="http://schemas.openxmlformats.org/officeDocument/2006/relationships/notesSlide" Target="/ppt/notesSlides/notesSlide4.xml" Id="R70d3a8cf10f748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f5b09a3de34c8d" /><Relationship Type="http://schemas.openxmlformats.org/officeDocument/2006/relationships/notesSlide" Target="/ppt/notesSlides/notesSlide5.xml" Id="Re161c4bf98f84f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6d1c28567f41de" /><Relationship Type="http://schemas.openxmlformats.org/officeDocument/2006/relationships/notesSlide" Target="/ppt/notesSlides/notesSlide6.xml" Id="R91af0e149bd844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86f337990a4963" /><Relationship Type="http://schemas.openxmlformats.org/officeDocument/2006/relationships/notesSlide" Target="/ppt/notesSlides/notesSlide7.xml" Id="R1f84b152a13c45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bf42e9a0f4809" /><Relationship Type="http://schemas.openxmlformats.org/officeDocument/2006/relationships/notesSlide" Target="/ppt/notesSlides/notesSlide8.xml" Id="R1c9df1f4d7544dca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Top 3 bank share (%)</c:v>
          </c:tx>
          <c:cat>
            <c:strLit>
              <c:ptCount val="4"/>
              <c:pt idx="0">
                <c:v>Colombia</c:v>
              </c:pt>
              <c:pt idx="1">
                <c:v>Brazil</c:v>
              </c:pt>
              <c:pt idx="2">
                <c:v>Singapore</c:v>
              </c:pt>
              <c:pt idx="3">
                <c:v>UK</c:v>
              </c:pt>
            </c:strLit>
          </c:cat>
          <c:val>
            <c:numLit>
              <c:formatCode/>
              <c:ptCount val="4"/>
              <c:pt idx="0">
                <c:v>72</c:v>
              </c:pt>
              <c:pt idx="1">
                <c:v>54</c:v>
              </c:pt>
              <c:pt idx="2">
                <c:v>41</c:v>
              </c:pt>
              <c:pt idx="3">
                <c:v>48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E10F4-8A2C-4A05-85D0-2A14EFB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7BE4F-390C-490B-8EA3-2208FF5A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C4F69-6ECA-482D-A6BC-BBFEC57C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5FD1F-2E33-4C7F-983B-F445AE8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7F7"/>
                </a:solidFill>
              </a:defRPr>
            </a:pPr>
            <a:r>
              <a:rPr sz="825" b="1">
                <a:solidFill>
                  <a:srgbClr val="D7E7F7"/>
                </a:solidFill>
              </a:rPr>
              <a:t>REGULATORY INTELLIGENCE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E803E-FC83-4F5F-8239-187DC413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7524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How Financial Regulation Shapes Fintech Market Entry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A28E7-0FAD-41E3-8FA6-2EB7FCEA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76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7DF"/>
                </a:solidFill>
              </a:defRPr>
            </a:pPr>
            <a:r>
              <a:rPr sz="1275" b="0">
                <a:solidFill>
                  <a:srgbClr val="D0D7DF"/>
                </a:solidFill>
              </a:rPr>
              <a:t>A comparative view of how licensing design and market structure influence competition across four jurisdictions.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B0D20-943C-4543-887B-03601A16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0C9FD-2C44-435C-8FDB-88AC3CED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019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4 jurisdictions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4D8AE-D773-4F70-8D1B-27FC2D2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2EFFF-062C-4045-B04C-06EB2469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Thesis-adapted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F98B0-3B70-464E-815C-C812C0F4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338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C863D-F2E4-4B8F-BF68-EDFFADE3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00475"/>
            <a:ext cx="1019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72% top-3 share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10A25-DC57-49F5-86C8-7D238A8D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190119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2EED0-B842-414D-976B-C567ED82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00475"/>
            <a:ext cx="171069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120+ entrants in Singapore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14ED4-040C-423B-88F1-39272C6C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28AB9-EF34-4088-81D7-3857F62B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5D1"/>
                </a:solidFill>
              </a:defRPr>
            </a:pPr>
            <a:r>
              <a:rPr sz="750" b="1">
                <a:solidFill>
                  <a:srgbClr val="B8C5D1"/>
                </a:solidFill>
              </a:rPr>
              <a:t>Work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C718C-AB4C-43E4-9AEB-9151FCA4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Thesis-adapted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64418-23D7-4667-9B15-3E923B28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705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4  jurisdictions compared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72%  top-3 bank share in Colombia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120+  new entrants in Singapore over 5 years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6FD32-6138-4121-AB6E-9CA9CAA3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A5568"/>
                </a:solidFill>
              </a:defRPr>
            </a:pPr>
            <a:r>
              <a:rPr sz="825" b="0">
                <a:solidFill>
                  <a:srgbClr val="4A5568"/>
                </a:solidFill>
              </a:rPr>
              <a:t>Portfolio asset built for recruiter, operator, and client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36546-A7C9-4B3E-921A-EE70998F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Based on thesis research on financial regulation, market concentration, and fintech innovation. Adapted from academic work for a commercial audience.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9CC67-D423-4D6A-BDBF-AACC7C1D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29329-613E-42AD-B374-C7E17D67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96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Research | Strategy | AI Workflow Execution</a:t>
            </a:r>
          </a:p>
        </p:txBody>
      </p:sp>
    </p:spTree>
    <p:extLst>
      <p:ext uri="{BB962C8B-B14F-4D97-AF65-F5344CB8AC3E}">
        <p14:creationId xmlns:p14="http://schemas.microsoft.com/office/powerpoint/2010/main" val="1082075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613DE-209E-4573-B4D6-453D768B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A9DD4-8102-451C-9EFB-2E704959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11694-17F7-4210-8BC0-0C9FE611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FINANCIAL REGULATION | FINTECH | COMPARATIVE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3CEC5-D728-42B9-A8A9-514A78F0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03C9A-F211-46BC-A8CE-1832D04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Regulation is a market-structure variable, not just a compliance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7D58E-C990-40C1-B1F6-36327346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strongest insight is that entry outcomes depend on how the rules are designed and sequenced.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65079-F626-4D15-9CF7-BCBB1231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FF6CD-4AE7-4075-A216-8B09B3FA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7D40F-8E45-45C9-8FF5-30AE9729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0AC78-F200-4DCF-AC51-D51C7E0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Licensing design affects who can enter and how fast they can test a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10C61-E233-46DC-90D9-47BC890C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7A44F-E0FD-4E0B-9147-C1FF324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Open-banking timing affects whether new entrants can build on existing rails.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81786-0972-4C66-9D9F-ABCB716F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65B4C-571C-4C91-95C7-1BAC22CD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Structural concentration determines how hard it is to gain distribution even after licensing.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25311-41BA-4273-9EB0-C5DE892D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15EC9-73EC-48C5-9F24-B856BE4D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Commercial implication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75144-870A-46FF-87B1-145D1D1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Fintech strategy should start with regulatory path selection, not treat regulation as an afterthought.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17251-30E0-43A1-81F7-BDE7769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B8F7F-9766-4504-B0D2-83CCFFEC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Regulatory Intelligence Brief | Thesis-adapted |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5E433-A910-4F66-A473-56341941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739885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1FADB-1C9D-482C-B461-7A722705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62649-48DA-4DCD-87F4-6E9A49EE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10308-5AD3-4DCF-860A-66A6C776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FINANCIAL REGULATION | FINTECH | COMPARATIVE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97A50-9DEF-44EF-BA66-8E16DA27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4A4B4-CC0D-4EC1-AB45-D064B9B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four jurisdictions use meaningfully different entry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C5122-C6D4-4B45-8EC7-551A82E0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A comparative framework makes the strategic differences visible quickly.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919AD-4ADF-4AF2-85F4-0AD1E91B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4E8A4-08A6-4CC0-B9CD-6E3AD582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B258A-9EB8-4CD2-A2BB-AB194076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95F56-D842-480C-BCC7-42ED0021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Colombia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17F5D-3AD1-415D-B046-4731AC30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11358-A9EE-471F-9D41-7711067F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Brazil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C9CE3-1329-4D43-B362-9209D46E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7986C-92C4-413F-AD2E-5BC2800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Singapore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72BBC-7C23-446B-952F-E57619DD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CF6EC-7E62-4ED7-8687-B2662C4D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UK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30BE1-91CE-4E3C-8037-BDB0D370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26AD5-D326-4D73-B9D9-63314E27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Approach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2191E-4CE6-4AA4-9821-BFFCBFEE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E3C48-5255-4342-9A76-A3BE259C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Rules-based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004BD-25B8-44A8-AFCF-B71E72EC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7D942-5F56-49AC-ADDE-C26D3005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Hybrid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255B5-71E1-42B2-876D-76A51F24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16E50-D02C-4323-A275-39A7BF74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Principles-based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356B4-B305-45BA-BC09-8441F552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08F84-1020-4248-AA04-E1C9A36A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Principles-based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F09F6F-FBC4-4460-AEC4-396A5000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DE921-E423-40FA-BA33-EBC31C41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License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9488A-EF39-4423-BBB4-AAD721B0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7ECC8E-2764-42F0-8025-243BA519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SAS / Law 2021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368BD-B24A-4A97-ADBE-140CA1BC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84EB7E-8972-4D3C-9603-BADCFAD1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SOCNs, SCDs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D8ABD-64F0-4701-8087-1136DAFA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068A5B-8BE0-4F9C-8E02-33D105B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MAS Sandbox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E98639-4920-4FA7-BE63-ED93FBDB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E89146-FB51-4626-B76E-BF22CCF0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FCA Sandbox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A143C0-60A9-40A1-B698-7EF70EA3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1574C7-1F3B-4E2C-9636-53D275ED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Open banking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03DC48-812D-4138-B8DB-498BE181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F9D325-122F-4150-BE53-3A9B9BB0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Decree 2294/2023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34BE2C-BA6C-4925-B554-B777AFD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2D7F80-B60E-4ACF-A5D1-C94DFE1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BCB #473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6643DA-DDC2-4212-A5FD-0B0FD9DD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8BDE05-EAA9-4950-B3F0-6FC5536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MAS API Exchange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EA6BDA-403B-4F9F-A4BB-F2DC37C5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134EF5-6E0F-46C4-832D-030F64D8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CMA/OBIE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514E34-A0F6-4DAF-9C9F-17CAE380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FC4C4D-4187-4B53-BBBE-9CD64B68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Capital req.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E834C5-7180-410D-BB9C-C76AF39A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44005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485048-EA6F-4517-82E9-8F06B93D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767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High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6F14BF-8DE9-4245-A61A-C5041F26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44005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C65699-26C3-428A-A0E0-81B596C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4767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Moderate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9EAF7A-D79F-4815-B168-71153F3A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44005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0A1CE1-864A-46A7-8FA7-130DF491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767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Low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1F45EF-778E-43B7-B76E-2B6B30CE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4005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B89691-560F-4A78-96B4-7E1CBF0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4767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Moderate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42513C-6A0A-4C4C-86E8-976CCCE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The cleaner the entry pathway, the easier it is for new entrants to test without full-scale licensing from day one.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FFA2AA-68DB-4FF7-BEE8-71EDD615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65903C-28E6-4A9A-B423-1B6CA83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Regulatory Intelligence Brief | Thesis-adapted | 05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B431CE-4170-4422-9974-2F1400E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6349213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E653-E6F8-4B98-B720-CD8F3C25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27576-1188-40D9-A9F7-217C3C86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F34B2-0692-468C-81C7-AF922E29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FINANCIAL REGULATION | FINTECH | COMPARATIVE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F8756-2F52-4AF0-81BF-2118ECD5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DF7C5-DDF0-406B-935B-61FAAB06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Concentration and entry conditions vary sharply by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A32E4-D8AD-4EF1-8E45-0AFE32F4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comparative data shows why regulation and concentration must be read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1CF39-D868-4DD7-8B1B-975C39C5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8001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00100" y="2686050"/>
          <a:ext xmlns:a="http://schemas.openxmlformats.org/drawingml/2006/main" cx="7620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2e317e6fe7416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77024-F1D8-488C-86EF-1D448E66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667000" cy="3143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CDE7F-DB1F-4C5B-AD95-D3027EE1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7E6"/>
                </a:solidFill>
              </a:defRPr>
            </a:pPr>
            <a:r>
              <a:rPr sz="825" b="1">
                <a:solidFill>
                  <a:srgbClr val="C9D7E6"/>
                </a:solidFill>
              </a:rPr>
              <a:t>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B89B9-E7CB-4326-BFDD-3B2B0517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67050"/>
            <a:ext cx="2133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Higher concentration tends to coincide with stronger structural barriers and slower new-entry velocity.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FE1B8-3622-4B78-8CFB-8CC1517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23E2D-DA80-4D57-9346-9420E7D0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Regulatory Intelligence Brief | Thesis-adapted | 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CEC71-3765-4EE1-A9A3-B8CC4F3B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1763008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9DDD2-560B-43ED-A0D2-7D88CF3B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98D92-9E1B-4A95-AF3B-6C78C659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57305-7D93-43E3-A818-A8E37F8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FINANCIAL REGULATION | FINTECH | COMPARATIVE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4E7C6-76B6-46BB-934B-B1BB027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73A4C-FE73-499F-96E7-4774D12B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Entry barriers come from both rules and market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CE55F-E1BB-4A03-8BFD-A11BE81B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A licensing approval does not remove the distribution challenge.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ED8D8-CAC5-44B7-A66A-559455BB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A16CF-2356-4FB5-9205-FF0D89B5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Regulatory barriers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0D68C-2B8F-4D44-8007-58765E62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Capital requirements, licensing timelines, and compliance costs shape who can enter.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9AE63-3E60-4022-AB25-2A5984A3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416F2-DE53-48C0-92D8-B88A5912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Structural barriers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4F855-52DB-4634-A3CE-9DE87A9B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Incumbent distribution networks and customer trust create durable moats.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98938-0AF7-4A28-AE44-BC75331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D63D4-10A3-458E-B5E8-E896C50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Timing advantage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B4734-02DB-4925-809A-C70A1D4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Sandbox or restricted-license routes improve learning speed and lower upfront commitment.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B4DE6-0250-4E12-B519-10D5BD5B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2CEAA-0DD8-4D18-81B7-02F7963A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Regulatory Intelligence Brief | Thesis-adapted | 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50202-B456-405C-80A8-057B80F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8122783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086DE-5232-4A9F-8F1E-D1A7BF7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E0CAA-16A4-432D-A275-48876FE8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764A0-0B61-4B06-9B6A-9115F515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FINANCIAL REGULATION | FINTECH | COMPARATIVE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FB57C-EAC9-435C-9B10-E0D6F735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95310-1CF7-456A-9081-3E41742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Three strategic implications follow from the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47B4E-0184-44D7-B9AD-74EFFE6F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comparative analysis becomes useful only when it changes the go-to-market 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B65F6-0432-4696-B03B-61031753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20F54-6301-4D14-94C5-67177E9F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Choose the regulatory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72C08-F856-484B-93B0-9AB25108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Use the lightest credible path that allows live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8EFA9-63F6-4A6A-898C-DE09FAE7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7C52A-15E0-47B3-9E3C-A18D360B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Partner when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CD39D-8D86-4F52-99EF-A56BB5B9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Distribution partnerships can be rational when incumbent moats are structural.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AB2A8-3673-4BDB-9427-DD6BB15B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93C9F-E0D9-4930-B8EA-7612CCBA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Build compliance early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7495E-11B6-4C85-B737-AB4073EC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Compliance capability can become a competitive asset, not merely overhead.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38AD6-10A0-47E5-B1C8-9794C5AF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36629-0788-406B-9975-3A13C0E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Regulatory Intelligence Brief | Thesis-adapted | 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BB666-CABE-4391-B9DF-9740E679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8801683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8C20E-D568-4A93-B637-752C6694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42323-377B-44C0-BCA8-28D5A713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0DCC9-615D-4441-8651-C7BD4BE2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FINANCIAL REGULATION | FINTECH | COMPARATIVE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B5343-BA13-42F1-9A8E-10BEBAA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CF871-86ED-4EC2-BD70-C5A40E76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A practical market-entry playbook starts with the operating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959F9-0035-4C0E-84CF-829E6757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same product can perform very differently depending on how it enters the regulatory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43395-0401-48A5-9D03-E1620A44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3E64C-B638-4370-8B81-2743877F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4777C-5B07-4BC4-865A-586E95C6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561FD-4E4A-4D17-8AE7-C2D99807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Map the license path before finalizing the go-to-market plan.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1A191-F468-4447-9239-C648C4C4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9D338-864D-4604-9433-6C65D1A2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Sequence validation, partnerships, and compliance investment by market.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9A22C-6244-4F3C-84C7-69453BF4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8D919-C09C-4555-B11C-B0B6A8D9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Treat concentration data as a forecast of distribution friction, not as descriptive context only.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3FB1F-4839-4099-86F2-8BC67DFA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10EE2-9289-444A-8EC2-0BCFC50A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Why this asset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2F385-64F5-4D67-B8EC-7B0F6101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It demonstrates regulated-market analysis translated into business implications rather than academic abstraction.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42275-AD08-4CB1-90C8-CB5F5B3C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DA326-BA80-412E-B982-530065E5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Regulatory Intelligence Brief | Thesis-adapted |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5242B-0033-4D1C-8133-6F1827EE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7684236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30EA-EBB8-4C5B-A356-1D4CC6E6D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9EACF-5097-47F3-BEDE-9E2731C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45BAE-41E0-47B6-A079-80396255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This asset differentiates Santiago from generic market researchers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7ACAD-0CA4-4548-9172-51A3C994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1EB"/>
                </a:solidFill>
              </a:defRPr>
            </a:pPr>
            <a:r>
              <a:rPr sz="1275" b="0">
                <a:solidFill>
                  <a:srgbClr val="D7E1EB"/>
                </a:solidFill>
              </a:rPr>
              <a:t>It shows regulated-market depth, comparative framing, and the ability to convert structural complexity into strategic guidance.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E5CE7-F1F1-4268-9E82-05D80F7A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2293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03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3C624-0088-4F54-BE31-22FF71AD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F365C-A682-4F59-BB9A-EBFDCCD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Relevant for fintech strategy, regulatory intelligence, and market-entry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66980-DC5E-413C-B196-623B77B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D4CCE-ACA7-40BB-B904-420E6D75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For portfolio reviews or project discussions, email santiago.garces.blevine@gmail.com. Include the role or project type, timeline, and expected deliverable format.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5DF30-BA83-46D7-9788-408ABF95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04900"/>
            <a:ext cx="3333750" cy="4286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071E0-1A30-4A94-B351-6B796FC5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09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8ECE9-2C36-472F-B51A-0FEBDAB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CAB24-89A2-433C-AB4B-F980FBC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568"/>
                </a:solidFill>
              </a:defRPr>
            </a:pPr>
            <a:r>
              <a:rPr sz="900" b="0">
                <a:solidFill>
                  <a:srgbClr val="4A5568"/>
                </a:solidFill>
              </a:rPr>
              <a:t>Market Research | Competitive Intelligence | AI Workflow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396A7-C2EB-4C82-9C5B-55E8AFC4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Based on thesis research on financial regulation, market concentration, and fintech innovation. Adapted from academic work for a commercial audience.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329E2-0CDC-44DB-B77A-66CF7E53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Available for portfolio review and project discussions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09535-A81E-440E-B31B-36E6E36C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Regulatory Intelligence Brief</a:t>
            </a:r>
          </a:p>
        </p:txBody>
      </p:sp>
    </p:spTree>
    <p:extLst>
      <p:ext uri="{BB962C8B-B14F-4D97-AF65-F5344CB8AC3E}">
        <p14:creationId xmlns:p14="http://schemas.microsoft.com/office/powerpoint/2010/main" val="958293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2026-04-22T03:24:05.9670000Z</dcterms:created>
  <dcterms:modified xsi:type="dcterms:W3CDTF">2026-04-22T03:24:05.9670000Z</dcterms:modified>
</coreProperties>
</file>