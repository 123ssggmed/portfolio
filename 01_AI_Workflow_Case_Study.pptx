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8a39b3687a4c45" /><Relationship Type="http://schemas.openxmlformats.org/officeDocument/2006/relationships/extended-properties" Target="/docProps/app.xml" Id="R01330df0f3f246ff" /><Relationship Type="http://schemas.openxmlformats.org/officeDocument/2006/relationships/officeDocument" Target="/ppt/presentation.xml" Id="R9db19867ddf749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325375ecdf4c3c"/>
  </p:sldMasterIdLst>
  <p:notesMasterIdLst>
    <p:notesMasterId xmlns:r="http://schemas.openxmlformats.org/officeDocument/2006/relationships" r:id="Re3c8221ad493483d"/>
  </p:notesMasterIdLst>
  <p:sldIdLst>
    <p:sldId xmlns:r="http://schemas.openxmlformats.org/officeDocument/2006/relationships" id="256" r:id="R596d94bfb4194459"/>
    <p:sldId xmlns:r="http://schemas.openxmlformats.org/officeDocument/2006/relationships" id="257" r:id="R0d86372bde4f47b7"/>
    <p:sldId xmlns:r="http://schemas.openxmlformats.org/officeDocument/2006/relationships" id="258" r:id="R299eb965db8e4190"/>
    <p:sldId xmlns:r="http://schemas.openxmlformats.org/officeDocument/2006/relationships" id="259" r:id="Rca4c9f2597d2497d"/>
    <p:sldId xmlns:r="http://schemas.openxmlformats.org/officeDocument/2006/relationships" id="260" r:id="R051f458cef9f498b"/>
    <p:sldId xmlns:r="http://schemas.openxmlformats.org/officeDocument/2006/relationships" id="261" r:id="R32e05804908f4d46"/>
    <p:sldId xmlns:r="http://schemas.openxmlformats.org/officeDocument/2006/relationships" id="262" r:id="R9900142a1f0944ba"/>
    <p:sldId xmlns:r="http://schemas.openxmlformats.org/officeDocument/2006/relationships" id="263" r:id="R316fa1e7e51247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25375ecdf4c3c" /><Relationship Type="http://schemas.openxmlformats.org/officeDocument/2006/relationships/theme" Target="/ppt/theme/theme1.xml" Id="R0745c48fe58d4113" /><Relationship Type="http://schemas.openxmlformats.org/officeDocument/2006/relationships/notesMaster" Target="/ppt/notesMasters/notesMaster1.xml" Id="Re3c8221ad493483d" /><Relationship Type="http://schemas.openxmlformats.org/officeDocument/2006/relationships/presProps" Target="/ppt/presProps.xml" Id="R978f5b6b8ac54c25" /><Relationship Type="http://schemas.openxmlformats.org/officeDocument/2006/relationships/viewProps" Target="/ppt/viewProps.xml" Id="R4b4b489cdaf6442a" /><Relationship Type="http://schemas.openxmlformats.org/officeDocument/2006/relationships/tableStyles" Target="/ppt/tableStyles.xml" Id="Rcba13097f91a4322" /><Relationship Type="http://schemas.openxmlformats.org/officeDocument/2006/relationships/slide" Target="/ppt/slides/slide1.xml" Id="R596d94bfb4194459" /><Relationship Type="http://schemas.openxmlformats.org/officeDocument/2006/relationships/slide" Target="/ppt/slides/slide2.xml" Id="R0d86372bde4f47b7" /><Relationship Type="http://schemas.openxmlformats.org/officeDocument/2006/relationships/slide" Target="/ppt/slides/slide3.xml" Id="R299eb965db8e4190" /><Relationship Type="http://schemas.openxmlformats.org/officeDocument/2006/relationships/slide" Target="/ppt/slides/slide4.xml" Id="Rca4c9f2597d2497d" /><Relationship Type="http://schemas.openxmlformats.org/officeDocument/2006/relationships/slide" Target="/ppt/slides/slide5.xml" Id="R051f458cef9f498b" /><Relationship Type="http://schemas.openxmlformats.org/officeDocument/2006/relationships/slide" Target="/ppt/slides/slide6.xml" Id="R32e05804908f4d46" /><Relationship Type="http://schemas.openxmlformats.org/officeDocument/2006/relationships/slide" Target="/ppt/slides/slide7.xml" Id="R9900142a1f0944ba" /><Relationship Type="http://schemas.openxmlformats.org/officeDocument/2006/relationships/slide" Target="/ppt/slides/slide8.xml" Id="R316fa1e7e51247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3b97d13c75a4d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19fedb95e14e99" /><Relationship Type="http://schemas.openxmlformats.org/officeDocument/2006/relationships/notesMaster" Target="/ppt/notesMasters/notesMaster1.xml" Id="R8d130549347140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720848c8f94315" /><Relationship Type="http://schemas.openxmlformats.org/officeDocument/2006/relationships/notesMaster" Target="/ppt/notesMasters/notesMaster1.xml" Id="R9bdf1a3d345b4d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180e24dd544f7a" /><Relationship Type="http://schemas.openxmlformats.org/officeDocument/2006/relationships/notesMaster" Target="/ppt/notesMasters/notesMaster1.xml" Id="Re8588f30cbb741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f54ebee4ad45dc" /><Relationship Type="http://schemas.openxmlformats.org/officeDocument/2006/relationships/notesMaster" Target="/ppt/notesMasters/notesMaster1.xml" Id="R460d7eed4c634f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c80669c49a4b7a" /><Relationship Type="http://schemas.openxmlformats.org/officeDocument/2006/relationships/notesMaster" Target="/ppt/notesMasters/notesMaster1.xml" Id="R6ff00181aac249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0f65704c5b4550" /><Relationship Type="http://schemas.openxmlformats.org/officeDocument/2006/relationships/notesMaster" Target="/ppt/notesMasters/notesMaster1.xml" Id="R2088299b0c4349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4c7708a2cc46dd" /><Relationship Type="http://schemas.openxmlformats.org/officeDocument/2006/relationships/notesMaster" Target="/ppt/notesMasters/notesMaster1.xml" Id="Rdaebdae8b4c849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3c4a0e58054c9c" /><Relationship Type="http://schemas.openxmlformats.org/officeDocument/2006/relationships/notesMaster" Target="/ppt/notesMasters/notesMaster1.xml" Id="Rb1ecb598f42a4d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87e9916e540c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0B8902E-4EB1-44B1-95B4-C778E6CF863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7F1D018F-C2AB-4B94-B98C-0632D3CC6CE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841ECE-6337-4732-ABB2-72BEA3B8B71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B7AA05-3573-4099-BC96-6F894DF902B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C40333-EFF6-4A04-8FB6-8F4DE537B33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9a156d128e54176" /><Relationship Type="http://schemas.openxmlformats.org/officeDocument/2006/relationships/slideLayout" Target="/ppt/slideLayouts/slideLayout2.xml" Id="Rf4e72c9fed1c40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27A260-5E3D-43B6-9BB2-62B77D5A720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e72c9fed1c40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7fd353414846e9" /><Relationship Type="http://schemas.openxmlformats.org/officeDocument/2006/relationships/notesSlide" Target="/ppt/notesSlides/notesSlide1.xml" Id="R1a274815c46e48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949b099eb04e98" /><Relationship Type="http://schemas.openxmlformats.org/officeDocument/2006/relationships/notesSlide" Target="/ppt/notesSlides/notesSlide2.xml" Id="Redb0b048074d48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4feecd06734f61" /><Relationship Type="http://schemas.openxmlformats.org/officeDocument/2006/relationships/notesSlide" Target="/ppt/notesSlides/notesSlide3.xml" Id="R45c28c43e86340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3789005cc0412b" /><Relationship Type="http://schemas.openxmlformats.org/officeDocument/2006/relationships/notesSlide" Target="/ppt/notesSlides/notesSlide4.xml" Id="Rd851d15139ee41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b547332dad4832" /><Relationship Type="http://schemas.openxmlformats.org/officeDocument/2006/relationships/notesSlide" Target="/ppt/notesSlides/notesSlide5.xml" Id="Rd7962c2113c744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c5915f11164723" /><Relationship Type="http://schemas.openxmlformats.org/officeDocument/2006/relationships/chart" Target="/ppt/slides/charts/chart1.xml" Id="Rdfc4bff7a07f4b5a" /><Relationship Type="http://schemas.openxmlformats.org/officeDocument/2006/relationships/notesSlide" Target="/ppt/notesSlides/notesSlide6.xml" Id="R881c2f7c2ad34d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3ea4b0de4246fe" /><Relationship Type="http://schemas.openxmlformats.org/officeDocument/2006/relationships/notesSlide" Target="/ppt/notesSlides/notesSlide7.xml" Id="R5a6ba8ddca584e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c0bdc850a349c5" /><Relationship Type="http://schemas.openxmlformats.org/officeDocument/2006/relationships/notesSlide" Target="/ppt/notesSlides/notesSlide8.xml" Id="R9e69d939432c4110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Improvement (%)</c:v>
          </c:tx>
          <c:cat>
            <c:strLit>
              <c:ptCount val="3"/>
              <c:pt idx="0">
                <c:v>Processing time</c:v>
              </c:pt>
              <c:pt idx="1">
                <c:v>Weekly manual hours</c:v>
              </c:pt>
              <c:pt idx="2">
                <c:v>Escalation rate</c:v>
              </c:pt>
            </c:strLit>
          </c:cat>
          <c:val>
            <c:numLit>
              <c:formatCode/>
              <c:ptCount val="3"/>
              <c:pt idx="0">
                <c:v>95</c:v>
              </c:pt>
              <c:pt idx="1">
                <c:v>92</c:v>
              </c:pt>
              <c:pt idx="2">
                <c:v>75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C40333-EFF6-4A04-8FB6-8F4DE537B3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D4C2A-5B8C-4A96-AE12-574A02D0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B0A8F-42DA-4F13-BD3E-4D341623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19700"/>
            <a:ext cx="12192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E7E8F-FF7D-46FA-9774-01C327E3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2B883-C57D-4462-A694-A6076A53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E7F7"/>
                </a:solidFill>
              </a:defRPr>
            </a:pPr>
            <a:r>
              <a:rPr sz="825" b="1">
                <a:solidFill>
                  <a:srgbClr val="D7E7F7"/>
                </a:solidFill>
              </a:rPr>
              <a:t>AI WORKFLOW CASE 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ACA7F-B5E8-4B51-9FC0-2186D7AB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7524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AI-Powered Document Routing for a Regulated Audit Environment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BB4A2-6257-4CAF-B1F6-C5BFA3BD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676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7DF"/>
                </a:solidFill>
              </a:defRPr>
            </a:pPr>
            <a:r>
              <a:rPr sz="1275" b="0">
                <a:solidFill>
                  <a:srgbClr val="D0D7DF"/>
                </a:solidFill>
              </a:rPr>
              <a:t>A real operational workflow that reduced manual effort, improved classification quality, and accelerated response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87F77-ECAD-4AA2-9201-6336C292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AED39-6DC0-4876-B2B9-E130D95A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650+ items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D4A94-2F86-413A-B912-D125B10B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8A926-6AEF-4800-B4B8-EA190E3E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00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97%+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F02BB-AD78-4A6D-8791-F5388925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338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C2148-C42C-4D7B-A158-16BF214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00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24+ hrs saved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0FA1B-A581-48A1-A096-9D449883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33800"/>
            <a:ext cx="1524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45312-3755-44F8-8765-E70210CB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004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Anonymized real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C5436-0077-463E-93E2-2E487420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390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7F987-299E-47C5-8DEC-030C3245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90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C5D1"/>
                </a:solidFill>
              </a:defRPr>
            </a:pPr>
            <a:r>
              <a:rPr sz="750" b="1">
                <a:solidFill>
                  <a:srgbClr val="B8C5D1"/>
                </a:solidFill>
              </a:rPr>
              <a:t>Work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58704-FAA7-4CBB-9382-9325C38E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Anonymized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C4B69-10C7-474A-8EC4-CAD42DC0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2705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650+  audit requirements routed annually</a:t>
            </a:r>
          </a:p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97%+  assignment accuracy</a:t>
            </a:r>
          </a:p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24+ hrs  manual work removed weekly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8F09E-3E1F-4A33-85A9-BBBABB05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A5568"/>
                </a:solidFill>
              </a:defRPr>
            </a:pPr>
            <a:r>
              <a:rPr sz="825" b="0">
                <a:solidFill>
                  <a:srgbClr val="4A5568"/>
                </a:solidFill>
              </a:rPr>
              <a:t>Portfolio asset built for recruiter, operator, and client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BF461-72ED-45FA-B9E7-D48123AC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Anonymized from real experience at a regulated financial institution. All metrics are authentic.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1B797-6992-4E88-BB8C-C562AC3C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864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A2332"/>
                </a:solidFill>
              </a:defRPr>
            </a:pPr>
            <a:r>
              <a:rPr sz="9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908F6-2730-4100-B3E6-1F337D9B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96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Research | Strategy | AI Workflow Execution</a:t>
            </a:r>
          </a:p>
        </p:txBody>
      </p:sp>
    </p:spTree>
    <p:extLst>
      <p:ext uri="{BB962C8B-B14F-4D97-AF65-F5344CB8AC3E}">
        <p14:creationId xmlns:p14="http://schemas.microsoft.com/office/powerpoint/2010/main" val="287516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C40333-EFF6-4A04-8FB6-8F4DE537B3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32022-8A45-44AE-83D7-614C9E8A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54259-9046-4008-BC11-B6A3F2D5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F089B-9799-4F1C-8728-BE0DF7DD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PROCESS AUTOMATION | AI SYSTEMS | REGULATED FINANCIAL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21CBA-935F-413E-BB1C-A4DE4CE9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9D92D-E6F5-4CEA-9446-C8D6BA87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business problem was operational, not experimental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2EBD9-B323-489A-AA71-69187391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workflow sat inside a recurring audit process where speed and control both mattered.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9B25D-A9DA-4F65-B84E-816CC7EC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858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E1DE8-2E1A-413A-953D-F2408131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B7CEE-C71E-4EAC-8D46-6BB4486C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79A8A-E6B8-4D8C-8E80-78FDDAE9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Manual review, categorization, and routing consumed senior staff capacity every week.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D0FFE-9724-4140-B86D-A900AA1E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046A2-2533-42A5-B404-DAB5E752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Misroutes created friction with external auditors and delayed response ownership.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C2BAD-7197-4E4C-8600-05D24E51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C2D78-681E-4771-AA42-E65B5A1F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The workflow could not scale without adding headcount to a mechanical task.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A23DC-8738-42A1-BFEB-426E4084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3733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E17FF-0F98-4677-A04F-A16B5CDB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7E6"/>
                </a:solidFill>
              </a:defRPr>
            </a:pPr>
            <a:r>
              <a:rPr sz="900" b="1">
                <a:solidFill>
                  <a:srgbClr val="C9D7E6"/>
                </a:solidFill>
              </a:rPr>
              <a:t>Core 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C7841-A308-41FB-BB94-4F9496BD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How do you accelerate routing in a regulated environment without losing traceability or control?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E1A61-12BA-4CE1-980F-758A2A3E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7DC04-122A-42AC-AEF0-73BB8371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Operational Intelligence Case Study | Anonymized | 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1F2B1-24FC-4C5C-8A71-98556C8E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8314610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C40333-EFF6-4A04-8FB6-8F4DE537B3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89A24-5069-4516-953B-D3FEC90D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BBCB4-DD8C-4626-A93C-F15806AA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28D74-D9E6-422B-ABA8-DC5C2388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PROCESS AUTOMATION | AI SYSTEMS | REGULATED FINANCIAL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93187-816C-4544-BB22-08DD04BE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03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9DADF-3B2F-4AC9-A88A-120AB3C3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Three bottlenecks defined the before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E8A11-D8FC-4C23-BE3E-7DE1FA40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manual process was expensive because judgment and mechanics were bundled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870D8-A23C-420C-941F-11D498AF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7AC64-1A13-4242-8C22-103EF710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78F6B-7EFF-4F55-848A-9C221792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Every item required 15-20 minutes of reading, categorization, and forwarding.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4394F-BAEB-4EAA-A1E3-D9025EC8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3AEC1-601C-4BF0-94FC-60442C7A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Error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02EAC-0375-45D2-AB8A-B57C5D7F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Inconsistent classification created escalation loops and delayed response ownership.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CA0B1-A55A-4DD0-9C25-46407DE5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CC125-8397-4CC2-BB41-413F80B0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Scalability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61D69-6E85-4FF5-8A55-7D1A4D6B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Volume growth implied more headcount unless routing logic became systematic.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B76A2-A65C-4CBA-80C5-54F33B07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3EB70-E079-45F2-AED1-73A9E28F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Operational Intelligence Case Study | Anonymized | 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E70FE-CE7C-4F3E-8FEC-592E4972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7697048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C40333-EFF6-4A04-8FB6-8F4DE537B3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15A5C-1F2B-439C-93B7-FC825436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48B90-D191-46FC-B115-7AB14664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E893E-F5F9-42F5-B1C0-140F7BB4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PROCESS AUTOMATION | AI SYSTEMS | REGULATED FINANCIAL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A5E27-978B-4300-B502-FC477D18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04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8AB4D-E340-4420-AE7D-B950338F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workflow was redesigned as a three-layer control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E7BE6-9345-45A3-950D-3E794882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Each layer had a distinct role so automation could move fast without becoming opaque.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83479-711D-41C1-AF22-795580C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5780C-58C2-4B95-9767-D3454D95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Classification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98E9B-890E-43A7-8FBC-2673E955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Extracts entities, assigns category, and frames the routing decision.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E1F9B-D6AF-4287-A0D6-1BC8252C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3B32A-47F8-4944-B93E-36C9B9B1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Routing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6431E-07E5-4A25-A4C0-38D4DEB7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Maps the classified requirement to the correct owner through an editable matrix.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098B2-1AE8-4F23-B860-3883D893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5A1D2-72E9-47E3-A54F-8B30DEFD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Validation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142A6-B428-49E3-B066-D3BB9F6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Routes low-confidence cases to human review and preserves an audit trail.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C28B5-6893-4E4F-94D1-9DDF5DC3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B4AFC-9AD7-4AC0-8208-35989DE0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Operational Intelligence Case Study | Anonymized | 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EBAE3-D5FF-410F-91C8-4C2AD995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5842700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C40333-EFF6-4A04-8FB6-8F4DE537B3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996D5-755D-46AE-8145-71D7366A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7D371-2A35-4FDA-8E18-2F16CC74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2AC3E-9889-4213-9ECA-57499312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PROCESS AUTOMATION | AI SYSTEMS | REGULATED FINANCIAL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C3CA8-FBA3-4F05-AA8C-791059C0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05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14CF8-BF76-4055-A864-C5775C42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technical stack stayed intentionally lightweight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B11E6-238B-4E0F-9156-7F1AA28B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design emphasized reliability, reviewability, and maintainable logic rather than engineering excess.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35396-79DE-4266-9DA1-75449203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65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58B71-9027-45C1-967C-62AEE341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505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DCCBA-E518-4E35-B0B0-76C6FBBA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365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7B559-753B-45CC-A603-099892DC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505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445DE-FC40-4000-BDBB-1100B21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365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02B91-EE11-43F1-9012-E5FCE36C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52700"/>
            <a:ext cx="3505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1B55F-4336-4E64-892C-C98438C1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9201B-D238-47CD-B6BB-4EAB0894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Primary 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30BBD-5CBA-478C-8DD9-570B84B0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003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7358C-B8CD-43EB-9482-52425BD8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Claude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0ABC7-0A96-442B-B6DC-9A5DA604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03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A1C51-0C7C-443A-9635-66F71238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Complex requirement classification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D2C4D-7240-48B5-B616-C5A7A90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7B9D0-2AED-44EC-9F29-44E75E60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Secondary LLM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D8B91-AC29-4A2B-A977-60969277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2EFE27-2B00-45BF-8F1E-607D0553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099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OpenAI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2B61C2-8DEF-471C-B049-6822713A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18B6EF-F9BB-4843-8DD5-F31B8E70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Validation and entity extraction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C35CD-F682-4A92-B4F6-FDDF509C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F8250-155C-459E-8AB8-D3001D2B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Orchestration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83FE9-434C-4B54-B2F8-76E50CDF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415655-C873-48A5-9CAA-E65A9286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433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Python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A409F4-06C5-4BA8-A632-2021F045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CD8028-8EB4-446A-8869-FC2B83F6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Workflow logic and API integration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73A0E1-5202-4BFC-B777-C077F2F7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74A6CE-C49C-4DF6-8ACF-2A360FB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Routing matrix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D1231C-ADB1-460C-8255-F7122016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7E7EFE-444E-46A3-929E-95B372C7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767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Google Sheets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402DD-67E4-4986-9DCD-C0A814CC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17BF98-392A-40EA-B3F6-996701CB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Editable control layer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7CC389-D4A1-4B89-B5E7-DA75DDE7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053AC0-C21F-4AB2-9900-1C0ACCC5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Distribution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FAA47A-8FBF-4219-815D-F6538E8A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339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84BFCB-E539-42E0-B694-9DC4A3F0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101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Email API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60BF39-62C5-4D19-8A4A-2353CD22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339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F6DAA3-EA9D-4B89-912C-8E043F2B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101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Automated routing and notification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B6629F-BF99-4574-A198-94EC9199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The stack balanced speed of deployment with transparent control points.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2D3EFA-7A4A-4E24-A42E-C9F0E41F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63FDEF-2C39-47BD-A92F-AB9A34A5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Operational Intelligence Case Study | Anonymized | 01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F245F9-2ED0-4E25-A97B-3175C10C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1063522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C40333-EFF6-4A04-8FB6-8F4DE537B3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DC262-CA6B-430C-B217-DBA28CBE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F2247-5554-4624-96A4-58DC10DD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C6BB3-A341-4BAC-83A3-0D79A6E8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PROCESS AUTOMATION | AI SYSTEMS | REGULATED FINANCIAL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162F6-6B99-4C61-89CA-03E6397D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06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71A92-CB9C-4868-A483-0BAEB692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Performance improved on the metrics that mattered most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44DA7-8E35-491B-A008-2A2F0BDD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biggest gains came from collapsing process friction, not just reducing manual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EF588-57D1-4D93-BD7F-2D9B9C96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8001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00100" y="2686050"/>
          <a:ext xmlns:a="http://schemas.openxmlformats.org/drawingml/2006/main" cx="76200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c4bff7a07f4b5a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099E1-C190-4B6C-B312-1BD3F7B7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667000" cy="3143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CFABD-E7C3-4AC5-B093-D68C6EA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860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D7E6"/>
                </a:solidFill>
              </a:defRPr>
            </a:pPr>
            <a:r>
              <a:rPr sz="825" b="1">
                <a:solidFill>
                  <a:srgbClr val="C9D7E6"/>
                </a:solidFill>
              </a:rPr>
              <a:t>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79502-FDC0-45B8-A546-CCAC8279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67050"/>
            <a:ext cx="2133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Accuracy also increased from an estimated 88% to 97%+, which means the faster workflow was also more reliable.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4C94C-1794-4997-881F-7A2194DC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595BB-F76E-40D5-A0B3-202A1A18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Operational Intelligence Case Study | Anonymized | 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E1FA1-91F3-409A-B50C-9BC49CF4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1061379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C40333-EFF6-4A04-8FB6-8F4DE537B3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373EB-0354-452A-909E-302D400C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9A4A7-3772-4A50-AB8A-0D4F1F39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1A78D-B42A-4D62-8337-CE488AA9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PROCESS AUTOMATION | AI SYSTEMS | REGULATED FINANCIAL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EC8FC-FD5C-49AE-AA84-F278AB76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07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49C35-7ECF-4C83-88A6-B0ECA1AD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Why the case matters beyond the audit use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DAF40-6CB2-4987-BD95-5D0B521E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This is a template for operational intelligence work in any high-volume triage environment.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DD865-E1A8-436E-853F-00E33F73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9D694-9D2E-4AEF-BDA8-A418941F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Business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B79BD-00E6-4CD5-A783-5238FD09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Senior staff capacity moved from sorting work to analytical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E9222-2AC8-4FA1-96ED-698497CB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7AFFB-001E-4DD9-AF0C-150DED79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Control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096D3-0AF3-4425-9634-F3E48EC0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Faster routing came with more consistent classification and clearer ownership.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DABE8-7F8B-418A-84F0-042C243C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C6722-CB74-4712-8950-C210BDA4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Transferability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360C3-C04B-4969-AD16-BBA32E2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The same pattern applies to document triage, support routing, compliance intake, and legal workflows.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E8486-CBEC-4EA9-82C3-A371C1B8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8E629-7A90-49FB-83D7-577B768C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Operational Intelligence Case Study | Anonymized | 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A34BE-95FD-430A-B11E-4D19AD8E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2821848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C40333-EFF6-4A04-8FB6-8F4DE537B3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32452-4E6A-4159-B7B2-1C6AB79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1E22C-6AC4-4377-AE83-04079C16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Relevant for teams that need proof of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CF309-9CE6-4586-9DC9-0BD83B47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685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1EB"/>
                </a:solidFill>
              </a:defRPr>
            </a:pPr>
            <a:r>
              <a:rPr sz="1275" b="0">
                <a:solidFill>
                  <a:srgbClr val="D7E1EB"/>
                </a:solidFill>
              </a:rPr>
              <a:t>This case demonstrates that Santiago can connect AI tooling, decision logic, and business outcomes in environments where process quality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1F09E-8685-408F-A245-E031633D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62293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03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A561D-11F3-47AE-AD04-500D4436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D6289-9C87-4D76-99A6-21CD1A15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Suitable for workflow automation, operational intelligence, and compliance-triage discussions.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55F10-0EDE-46D8-8481-2A745B1C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7E75B-51E1-4156-8E3C-19EC5722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For portfolio reviews or project discussions, email santiago.garces.blevine@gmail.com. Include the role or project type, timeline, and expected deliverable format.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474E1-DC00-4366-93E1-9A5B90E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104900"/>
            <a:ext cx="3333750" cy="4286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E0445-44DC-4304-A563-C7D2050C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097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Contact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46944-5998-4344-A818-5F5E5109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332"/>
                </a:solidFill>
              </a:defRPr>
            </a:pPr>
            <a:r>
              <a:rPr sz="15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95DA1-0C45-4246-ABBE-74DA15A8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568"/>
                </a:solidFill>
              </a:defRPr>
            </a:pPr>
            <a:r>
              <a:rPr sz="900" b="0">
                <a:solidFill>
                  <a:srgbClr val="4A5568"/>
                </a:solidFill>
              </a:rPr>
              <a:t>Market Research | Competitive Intelligence | AI Workflow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B6B94-CD67-46A2-ABD7-D7F1B1F4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Anonymized from real experience at a regulated financial institution. All metrics are authentic.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87F61-13E8-4C9E-A945-5DA4AD37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57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santiago.garces.blevine@gmail.com</a:t>
            </a:r>
          </a:p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Medellin, Colombia</a:t>
            </a:r>
          </a:p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Available for portfolio review and project discussions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48FEC-64B4-4A5B-A46A-87F971C7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Operational Intelligence Case Study</a:t>
            </a:r>
          </a:p>
        </p:txBody>
      </p:sp>
    </p:spTree>
    <p:extLst>
      <p:ext uri="{BB962C8B-B14F-4D97-AF65-F5344CB8AC3E}">
        <p14:creationId xmlns:p14="http://schemas.microsoft.com/office/powerpoint/2010/main" val="1644287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2026-04-22T03:24:04.1840000Z</dcterms:created>
  <dcterms:modified xsi:type="dcterms:W3CDTF">2026-04-22T03:24:04.1840000Z</dcterms:modified>
</coreProperties>
</file>