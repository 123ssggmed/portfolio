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621"/>
    <p:restoredTop sz="94694"/>
  </p:normalViewPr>
  <p:slideViewPr>
    <p:cSldViewPr snapToGrid="0">
      <p:cViewPr varScale="1">
        <p:scale>
          <a:sx n="99" d="100"/>
          <a:sy n="99" d="100"/>
        </p:scale>
        <p:origin x="192" y="6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0BD49C-9EBF-B30C-97BE-F5B43A1D011D}"/>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E46F2FDE-E6B2-50C8-98B3-99771E8A5C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a:extLst>
              <a:ext uri="{FF2B5EF4-FFF2-40B4-BE49-F238E27FC236}">
                <a16:creationId xmlns:a16="http://schemas.microsoft.com/office/drawing/2014/main" id="{0908A65F-3B28-E648-A483-ACA481861B05}"/>
              </a:ext>
            </a:extLst>
          </p:cNvPr>
          <p:cNvSpPr>
            <a:spLocks noGrp="1"/>
          </p:cNvSpPr>
          <p:nvPr>
            <p:ph type="dt" sz="half" idx="10"/>
          </p:nvPr>
        </p:nvSpPr>
        <p:spPr/>
        <p:txBody>
          <a:bodyPr/>
          <a:lstStyle/>
          <a:p>
            <a:fld id="{0E239CE7-9C28-EE4D-8EA5-DD0475D764CE}" type="datetimeFigureOut">
              <a:rPr lang="es-CO" smtClean="0"/>
              <a:t>10/03/26</a:t>
            </a:fld>
            <a:endParaRPr lang="es-CO"/>
          </a:p>
        </p:txBody>
      </p:sp>
      <p:sp>
        <p:nvSpPr>
          <p:cNvPr id="5" name="Marcador de pie de página 4">
            <a:extLst>
              <a:ext uri="{FF2B5EF4-FFF2-40B4-BE49-F238E27FC236}">
                <a16:creationId xmlns:a16="http://schemas.microsoft.com/office/drawing/2014/main" id="{26DEEC4B-F90E-5676-890A-4BA3F2A18D8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52D9B6E-CEFE-1ECF-22A0-A170AFA31114}"/>
              </a:ext>
            </a:extLst>
          </p:cNvPr>
          <p:cNvSpPr>
            <a:spLocks noGrp="1"/>
          </p:cNvSpPr>
          <p:nvPr>
            <p:ph type="sldNum" sz="quarter" idx="12"/>
          </p:nvPr>
        </p:nvSpPr>
        <p:spPr/>
        <p:txBody>
          <a:bodyPr/>
          <a:lstStyle/>
          <a:p>
            <a:fld id="{B8D9ADEE-0279-6143-ABB1-F459CC819413}" type="slidenum">
              <a:rPr lang="es-CO" smtClean="0"/>
              <a:t>‹Nº›</a:t>
            </a:fld>
            <a:endParaRPr lang="es-CO"/>
          </a:p>
        </p:txBody>
      </p:sp>
    </p:spTree>
    <p:extLst>
      <p:ext uri="{BB962C8B-B14F-4D97-AF65-F5344CB8AC3E}">
        <p14:creationId xmlns:p14="http://schemas.microsoft.com/office/powerpoint/2010/main" val="3114602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E377D2-F57E-B21F-4E47-734E890E15B5}"/>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29F24F7C-6563-7F99-73E2-030C0C761108}"/>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0BB8EC00-9888-3739-C8E5-1F661F8153A8}"/>
              </a:ext>
            </a:extLst>
          </p:cNvPr>
          <p:cNvSpPr>
            <a:spLocks noGrp="1"/>
          </p:cNvSpPr>
          <p:nvPr>
            <p:ph type="dt" sz="half" idx="10"/>
          </p:nvPr>
        </p:nvSpPr>
        <p:spPr/>
        <p:txBody>
          <a:bodyPr/>
          <a:lstStyle/>
          <a:p>
            <a:fld id="{0E239CE7-9C28-EE4D-8EA5-DD0475D764CE}" type="datetimeFigureOut">
              <a:rPr lang="es-CO" smtClean="0"/>
              <a:t>10/03/26</a:t>
            </a:fld>
            <a:endParaRPr lang="es-CO"/>
          </a:p>
        </p:txBody>
      </p:sp>
      <p:sp>
        <p:nvSpPr>
          <p:cNvPr id="5" name="Marcador de pie de página 4">
            <a:extLst>
              <a:ext uri="{FF2B5EF4-FFF2-40B4-BE49-F238E27FC236}">
                <a16:creationId xmlns:a16="http://schemas.microsoft.com/office/drawing/2014/main" id="{240A1BA8-2676-E7E6-DDB7-7569719E300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7784B47-2AE1-45BA-F07A-9704170D4C8C}"/>
              </a:ext>
            </a:extLst>
          </p:cNvPr>
          <p:cNvSpPr>
            <a:spLocks noGrp="1"/>
          </p:cNvSpPr>
          <p:nvPr>
            <p:ph type="sldNum" sz="quarter" idx="12"/>
          </p:nvPr>
        </p:nvSpPr>
        <p:spPr/>
        <p:txBody>
          <a:bodyPr/>
          <a:lstStyle/>
          <a:p>
            <a:fld id="{B8D9ADEE-0279-6143-ABB1-F459CC819413}" type="slidenum">
              <a:rPr lang="es-CO" smtClean="0"/>
              <a:t>‹Nº›</a:t>
            </a:fld>
            <a:endParaRPr lang="es-CO"/>
          </a:p>
        </p:txBody>
      </p:sp>
    </p:spTree>
    <p:extLst>
      <p:ext uri="{BB962C8B-B14F-4D97-AF65-F5344CB8AC3E}">
        <p14:creationId xmlns:p14="http://schemas.microsoft.com/office/powerpoint/2010/main" val="2862532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3F7599-098B-63FE-7C1B-EC04559389B5}"/>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5C2EE029-2B43-F778-710B-691CA3228B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165F934C-3735-EC27-8A25-7096B51A9D38}"/>
              </a:ext>
            </a:extLst>
          </p:cNvPr>
          <p:cNvSpPr>
            <a:spLocks noGrp="1"/>
          </p:cNvSpPr>
          <p:nvPr>
            <p:ph type="dt" sz="half" idx="10"/>
          </p:nvPr>
        </p:nvSpPr>
        <p:spPr/>
        <p:txBody>
          <a:bodyPr/>
          <a:lstStyle/>
          <a:p>
            <a:fld id="{0E239CE7-9C28-EE4D-8EA5-DD0475D764CE}" type="datetimeFigureOut">
              <a:rPr lang="es-CO" smtClean="0"/>
              <a:t>10/03/26</a:t>
            </a:fld>
            <a:endParaRPr lang="es-CO"/>
          </a:p>
        </p:txBody>
      </p:sp>
      <p:sp>
        <p:nvSpPr>
          <p:cNvPr id="5" name="Marcador de pie de página 4">
            <a:extLst>
              <a:ext uri="{FF2B5EF4-FFF2-40B4-BE49-F238E27FC236}">
                <a16:creationId xmlns:a16="http://schemas.microsoft.com/office/drawing/2014/main" id="{F65188B0-20A1-8EFD-7DFD-D11C581526A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377E7D7-7BCE-9870-B306-25376BCD3DFD}"/>
              </a:ext>
            </a:extLst>
          </p:cNvPr>
          <p:cNvSpPr>
            <a:spLocks noGrp="1"/>
          </p:cNvSpPr>
          <p:nvPr>
            <p:ph type="sldNum" sz="quarter" idx="12"/>
          </p:nvPr>
        </p:nvSpPr>
        <p:spPr/>
        <p:txBody>
          <a:bodyPr/>
          <a:lstStyle/>
          <a:p>
            <a:fld id="{B8D9ADEE-0279-6143-ABB1-F459CC819413}" type="slidenum">
              <a:rPr lang="es-CO" smtClean="0"/>
              <a:t>‹Nº›</a:t>
            </a:fld>
            <a:endParaRPr lang="es-CO"/>
          </a:p>
        </p:txBody>
      </p:sp>
    </p:spTree>
    <p:extLst>
      <p:ext uri="{BB962C8B-B14F-4D97-AF65-F5344CB8AC3E}">
        <p14:creationId xmlns:p14="http://schemas.microsoft.com/office/powerpoint/2010/main" val="1075212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DBD975-7A67-6052-2953-74703DD828DE}"/>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F36F248F-C04F-A9E9-23F7-DCB892A8DC0C}"/>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F997A988-878B-DB58-CF37-36E1B3AA7757}"/>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0A96A80D-EA88-88CB-5D7E-6856B87E7EB1}"/>
              </a:ext>
            </a:extLst>
          </p:cNvPr>
          <p:cNvSpPr>
            <a:spLocks noGrp="1"/>
          </p:cNvSpPr>
          <p:nvPr>
            <p:ph type="dt" sz="half" idx="10"/>
          </p:nvPr>
        </p:nvSpPr>
        <p:spPr/>
        <p:txBody>
          <a:bodyPr/>
          <a:lstStyle/>
          <a:p>
            <a:fld id="{0E239CE7-9C28-EE4D-8EA5-DD0475D764CE}" type="datetimeFigureOut">
              <a:rPr lang="es-CO" smtClean="0"/>
              <a:t>10/03/26</a:t>
            </a:fld>
            <a:endParaRPr lang="es-CO"/>
          </a:p>
        </p:txBody>
      </p:sp>
      <p:sp>
        <p:nvSpPr>
          <p:cNvPr id="6" name="Marcador de pie de página 5">
            <a:extLst>
              <a:ext uri="{FF2B5EF4-FFF2-40B4-BE49-F238E27FC236}">
                <a16:creationId xmlns:a16="http://schemas.microsoft.com/office/drawing/2014/main" id="{3F19E7D0-9FA1-ABE4-69B2-F12A5A1EEDE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81C08F9F-4FE8-5A79-7BA8-1DC394C059A0}"/>
              </a:ext>
            </a:extLst>
          </p:cNvPr>
          <p:cNvSpPr>
            <a:spLocks noGrp="1"/>
          </p:cNvSpPr>
          <p:nvPr>
            <p:ph type="sldNum" sz="quarter" idx="12"/>
          </p:nvPr>
        </p:nvSpPr>
        <p:spPr/>
        <p:txBody>
          <a:bodyPr/>
          <a:lstStyle/>
          <a:p>
            <a:fld id="{B8D9ADEE-0279-6143-ABB1-F459CC819413}" type="slidenum">
              <a:rPr lang="es-CO" smtClean="0"/>
              <a:t>‹Nº›</a:t>
            </a:fld>
            <a:endParaRPr lang="es-CO"/>
          </a:p>
        </p:txBody>
      </p:sp>
    </p:spTree>
    <p:extLst>
      <p:ext uri="{BB962C8B-B14F-4D97-AF65-F5344CB8AC3E}">
        <p14:creationId xmlns:p14="http://schemas.microsoft.com/office/powerpoint/2010/main" val="304343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FFED03-3716-7C32-7BD7-B2AC144A0D8D}"/>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E93A8254-50EB-A3FB-6288-FFBEE07C07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4959E321-0815-2AA5-96FC-6A6FCEF69F42}"/>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D526AF3A-75A1-4303-7EDD-B4DAADEA10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BD87C314-36CF-7002-5290-E098DD2CDC2F}"/>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3F42D916-0D1B-65E2-6489-B93526CA5A80}"/>
              </a:ext>
            </a:extLst>
          </p:cNvPr>
          <p:cNvSpPr>
            <a:spLocks noGrp="1"/>
          </p:cNvSpPr>
          <p:nvPr>
            <p:ph type="dt" sz="half" idx="10"/>
          </p:nvPr>
        </p:nvSpPr>
        <p:spPr/>
        <p:txBody>
          <a:bodyPr/>
          <a:lstStyle/>
          <a:p>
            <a:fld id="{0E239CE7-9C28-EE4D-8EA5-DD0475D764CE}" type="datetimeFigureOut">
              <a:rPr lang="es-CO" smtClean="0"/>
              <a:t>10/03/26</a:t>
            </a:fld>
            <a:endParaRPr lang="es-CO"/>
          </a:p>
        </p:txBody>
      </p:sp>
      <p:sp>
        <p:nvSpPr>
          <p:cNvPr id="8" name="Marcador de pie de página 7">
            <a:extLst>
              <a:ext uri="{FF2B5EF4-FFF2-40B4-BE49-F238E27FC236}">
                <a16:creationId xmlns:a16="http://schemas.microsoft.com/office/drawing/2014/main" id="{A24991D4-3346-D07D-C07F-71B103F6C55F}"/>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024A434C-8B5F-E149-5F3A-99FF04D8CA60}"/>
              </a:ext>
            </a:extLst>
          </p:cNvPr>
          <p:cNvSpPr>
            <a:spLocks noGrp="1"/>
          </p:cNvSpPr>
          <p:nvPr>
            <p:ph type="sldNum" sz="quarter" idx="12"/>
          </p:nvPr>
        </p:nvSpPr>
        <p:spPr/>
        <p:txBody>
          <a:bodyPr/>
          <a:lstStyle/>
          <a:p>
            <a:fld id="{B8D9ADEE-0279-6143-ABB1-F459CC819413}" type="slidenum">
              <a:rPr lang="es-CO" smtClean="0"/>
              <a:t>‹Nº›</a:t>
            </a:fld>
            <a:endParaRPr lang="es-CO"/>
          </a:p>
        </p:txBody>
      </p:sp>
    </p:spTree>
    <p:extLst>
      <p:ext uri="{BB962C8B-B14F-4D97-AF65-F5344CB8AC3E}">
        <p14:creationId xmlns:p14="http://schemas.microsoft.com/office/powerpoint/2010/main" val="3583578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48E1E1-7E29-07D5-57E5-9FC325A766F2}"/>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fecha 2">
            <a:extLst>
              <a:ext uri="{FF2B5EF4-FFF2-40B4-BE49-F238E27FC236}">
                <a16:creationId xmlns:a16="http://schemas.microsoft.com/office/drawing/2014/main" id="{3BB14BF5-A0D0-6559-3E61-8D855AC7FA4C}"/>
              </a:ext>
            </a:extLst>
          </p:cNvPr>
          <p:cNvSpPr>
            <a:spLocks noGrp="1"/>
          </p:cNvSpPr>
          <p:nvPr>
            <p:ph type="dt" sz="half" idx="10"/>
          </p:nvPr>
        </p:nvSpPr>
        <p:spPr/>
        <p:txBody>
          <a:bodyPr/>
          <a:lstStyle/>
          <a:p>
            <a:fld id="{0E239CE7-9C28-EE4D-8EA5-DD0475D764CE}" type="datetimeFigureOut">
              <a:rPr lang="es-CO" smtClean="0"/>
              <a:t>10/03/26</a:t>
            </a:fld>
            <a:endParaRPr lang="es-CO"/>
          </a:p>
        </p:txBody>
      </p:sp>
      <p:sp>
        <p:nvSpPr>
          <p:cNvPr id="4" name="Marcador de pie de página 3">
            <a:extLst>
              <a:ext uri="{FF2B5EF4-FFF2-40B4-BE49-F238E27FC236}">
                <a16:creationId xmlns:a16="http://schemas.microsoft.com/office/drawing/2014/main" id="{9E6B4F68-9527-F493-E7BA-1A6CFEBD3DAE}"/>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21DD6A6F-F809-7270-F325-E916C09C2B1D}"/>
              </a:ext>
            </a:extLst>
          </p:cNvPr>
          <p:cNvSpPr>
            <a:spLocks noGrp="1"/>
          </p:cNvSpPr>
          <p:nvPr>
            <p:ph type="sldNum" sz="quarter" idx="12"/>
          </p:nvPr>
        </p:nvSpPr>
        <p:spPr/>
        <p:txBody>
          <a:bodyPr/>
          <a:lstStyle/>
          <a:p>
            <a:fld id="{B8D9ADEE-0279-6143-ABB1-F459CC819413}" type="slidenum">
              <a:rPr lang="es-CO" smtClean="0"/>
              <a:t>‹Nº›</a:t>
            </a:fld>
            <a:endParaRPr lang="es-CO"/>
          </a:p>
        </p:txBody>
      </p:sp>
    </p:spTree>
    <p:extLst>
      <p:ext uri="{BB962C8B-B14F-4D97-AF65-F5344CB8AC3E}">
        <p14:creationId xmlns:p14="http://schemas.microsoft.com/office/powerpoint/2010/main" val="3274490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DEE288B-9F02-B7D6-8463-570858BEE022}"/>
              </a:ext>
            </a:extLst>
          </p:cNvPr>
          <p:cNvSpPr>
            <a:spLocks noGrp="1"/>
          </p:cNvSpPr>
          <p:nvPr>
            <p:ph type="dt" sz="half" idx="10"/>
          </p:nvPr>
        </p:nvSpPr>
        <p:spPr/>
        <p:txBody>
          <a:bodyPr/>
          <a:lstStyle/>
          <a:p>
            <a:fld id="{0E239CE7-9C28-EE4D-8EA5-DD0475D764CE}" type="datetimeFigureOut">
              <a:rPr lang="es-CO" smtClean="0"/>
              <a:t>10/03/26</a:t>
            </a:fld>
            <a:endParaRPr lang="es-CO"/>
          </a:p>
        </p:txBody>
      </p:sp>
      <p:sp>
        <p:nvSpPr>
          <p:cNvPr id="3" name="Marcador de pie de página 2">
            <a:extLst>
              <a:ext uri="{FF2B5EF4-FFF2-40B4-BE49-F238E27FC236}">
                <a16:creationId xmlns:a16="http://schemas.microsoft.com/office/drawing/2014/main" id="{15BD1E9E-542C-85EF-2F96-85F44135B80B}"/>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E2B6BC4C-EBBD-28C8-618C-A481D4D43094}"/>
              </a:ext>
            </a:extLst>
          </p:cNvPr>
          <p:cNvSpPr>
            <a:spLocks noGrp="1"/>
          </p:cNvSpPr>
          <p:nvPr>
            <p:ph type="sldNum" sz="quarter" idx="12"/>
          </p:nvPr>
        </p:nvSpPr>
        <p:spPr/>
        <p:txBody>
          <a:bodyPr/>
          <a:lstStyle/>
          <a:p>
            <a:fld id="{B8D9ADEE-0279-6143-ABB1-F459CC819413}" type="slidenum">
              <a:rPr lang="es-CO" smtClean="0"/>
              <a:t>‹Nº›</a:t>
            </a:fld>
            <a:endParaRPr lang="es-CO"/>
          </a:p>
        </p:txBody>
      </p:sp>
    </p:spTree>
    <p:extLst>
      <p:ext uri="{BB962C8B-B14F-4D97-AF65-F5344CB8AC3E}">
        <p14:creationId xmlns:p14="http://schemas.microsoft.com/office/powerpoint/2010/main" val="1474009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29D2CE-D412-577F-7CED-B8D40A911E30}"/>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2905F16D-B497-7704-2DE9-A51694033B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7F36A862-5EEF-7DCF-D8DD-09888435CF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A187D6FB-894C-55CD-10B8-47CB6C468D7B}"/>
              </a:ext>
            </a:extLst>
          </p:cNvPr>
          <p:cNvSpPr>
            <a:spLocks noGrp="1"/>
          </p:cNvSpPr>
          <p:nvPr>
            <p:ph type="dt" sz="half" idx="10"/>
          </p:nvPr>
        </p:nvSpPr>
        <p:spPr/>
        <p:txBody>
          <a:bodyPr/>
          <a:lstStyle/>
          <a:p>
            <a:fld id="{0E239CE7-9C28-EE4D-8EA5-DD0475D764CE}" type="datetimeFigureOut">
              <a:rPr lang="es-CO" smtClean="0"/>
              <a:t>10/03/26</a:t>
            </a:fld>
            <a:endParaRPr lang="es-CO"/>
          </a:p>
        </p:txBody>
      </p:sp>
      <p:sp>
        <p:nvSpPr>
          <p:cNvPr id="6" name="Marcador de pie de página 5">
            <a:extLst>
              <a:ext uri="{FF2B5EF4-FFF2-40B4-BE49-F238E27FC236}">
                <a16:creationId xmlns:a16="http://schemas.microsoft.com/office/drawing/2014/main" id="{5010E63B-9C87-BF93-8951-E4795F67239F}"/>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57B48AB-79AA-626C-06A8-760870B94BE6}"/>
              </a:ext>
            </a:extLst>
          </p:cNvPr>
          <p:cNvSpPr>
            <a:spLocks noGrp="1"/>
          </p:cNvSpPr>
          <p:nvPr>
            <p:ph type="sldNum" sz="quarter" idx="12"/>
          </p:nvPr>
        </p:nvSpPr>
        <p:spPr/>
        <p:txBody>
          <a:bodyPr/>
          <a:lstStyle/>
          <a:p>
            <a:fld id="{B8D9ADEE-0279-6143-ABB1-F459CC819413}" type="slidenum">
              <a:rPr lang="es-CO" smtClean="0"/>
              <a:t>‹Nº›</a:t>
            </a:fld>
            <a:endParaRPr lang="es-CO"/>
          </a:p>
        </p:txBody>
      </p:sp>
    </p:spTree>
    <p:extLst>
      <p:ext uri="{BB962C8B-B14F-4D97-AF65-F5344CB8AC3E}">
        <p14:creationId xmlns:p14="http://schemas.microsoft.com/office/powerpoint/2010/main" val="396709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D4319C-E4F6-3FD8-8230-53DE59A28179}"/>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6DB8B48E-43CE-4C4D-43DF-00429498F3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7C4AA2B4-F183-C9AE-E640-A893DFA763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4C0B2F07-C022-CDC5-0808-C1CB6CE97E44}"/>
              </a:ext>
            </a:extLst>
          </p:cNvPr>
          <p:cNvSpPr>
            <a:spLocks noGrp="1"/>
          </p:cNvSpPr>
          <p:nvPr>
            <p:ph type="dt" sz="half" idx="10"/>
          </p:nvPr>
        </p:nvSpPr>
        <p:spPr/>
        <p:txBody>
          <a:bodyPr/>
          <a:lstStyle/>
          <a:p>
            <a:fld id="{0E239CE7-9C28-EE4D-8EA5-DD0475D764CE}" type="datetimeFigureOut">
              <a:rPr lang="es-CO" smtClean="0"/>
              <a:t>10/03/26</a:t>
            </a:fld>
            <a:endParaRPr lang="es-CO"/>
          </a:p>
        </p:txBody>
      </p:sp>
      <p:sp>
        <p:nvSpPr>
          <p:cNvPr id="6" name="Marcador de pie de página 5">
            <a:extLst>
              <a:ext uri="{FF2B5EF4-FFF2-40B4-BE49-F238E27FC236}">
                <a16:creationId xmlns:a16="http://schemas.microsoft.com/office/drawing/2014/main" id="{36AA7328-EA17-4799-416A-060AFA75A86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E91E7B0-BBEA-D50E-63A8-974BD7A7A123}"/>
              </a:ext>
            </a:extLst>
          </p:cNvPr>
          <p:cNvSpPr>
            <a:spLocks noGrp="1"/>
          </p:cNvSpPr>
          <p:nvPr>
            <p:ph type="sldNum" sz="quarter" idx="12"/>
          </p:nvPr>
        </p:nvSpPr>
        <p:spPr/>
        <p:txBody>
          <a:bodyPr/>
          <a:lstStyle/>
          <a:p>
            <a:fld id="{B8D9ADEE-0279-6143-ABB1-F459CC819413}" type="slidenum">
              <a:rPr lang="es-CO" smtClean="0"/>
              <a:t>‹Nº›</a:t>
            </a:fld>
            <a:endParaRPr lang="es-CO"/>
          </a:p>
        </p:txBody>
      </p:sp>
    </p:spTree>
    <p:extLst>
      <p:ext uri="{BB962C8B-B14F-4D97-AF65-F5344CB8AC3E}">
        <p14:creationId xmlns:p14="http://schemas.microsoft.com/office/powerpoint/2010/main" val="1203842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A23180-494E-FC7C-0CFE-3606488C1A5B}"/>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60DB8D3C-CBD0-2E22-5487-0BACDAA3FEE0}"/>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4706274F-ED02-D76C-EA87-C1D099CB371E}"/>
              </a:ext>
            </a:extLst>
          </p:cNvPr>
          <p:cNvSpPr>
            <a:spLocks noGrp="1"/>
          </p:cNvSpPr>
          <p:nvPr>
            <p:ph type="dt" sz="half" idx="10"/>
          </p:nvPr>
        </p:nvSpPr>
        <p:spPr/>
        <p:txBody>
          <a:bodyPr/>
          <a:lstStyle/>
          <a:p>
            <a:fld id="{0E239CE7-9C28-EE4D-8EA5-DD0475D764CE}" type="datetimeFigureOut">
              <a:rPr lang="es-CO" smtClean="0"/>
              <a:t>10/03/26</a:t>
            </a:fld>
            <a:endParaRPr lang="es-CO"/>
          </a:p>
        </p:txBody>
      </p:sp>
      <p:sp>
        <p:nvSpPr>
          <p:cNvPr id="5" name="Marcador de pie de página 4">
            <a:extLst>
              <a:ext uri="{FF2B5EF4-FFF2-40B4-BE49-F238E27FC236}">
                <a16:creationId xmlns:a16="http://schemas.microsoft.com/office/drawing/2014/main" id="{D077C920-5EE2-97C1-CD1A-A74DED3F536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F61F1C2-6E69-C3B5-7AC8-F84D4801633B}"/>
              </a:ext>
            </a:extLst>
          </p:cNvPr>
          <p:cNvSpPr>
            <a:spLocks noGrp="1"/>
          </p:cNvSpPr>
          <p:nvPr>
            <p:ph type="sldNum" sz="quarter" idx="12"/>
          </p:nvPr>
        </p:nvSpPr>
        <p:spPr/>
        <p:txBody>
          <a:bodyPr/>
          <a:lstStyle/>
          <a:p>
            <a:fld id="{B8D9ADEE-0279-6143-ABB1-F459CC819413}" type="slidenum">
              <a:rPr lang="es-CO" smtClean="0"/>
              <a:t>‹Nº›</a:t>
            </a:fld>
            <a:endParaRPr lang="es-CO"/>
          </a:p>
        </p:txBody>
      </p:sp>
    </p:spTree>
    <p:extLst>
      <p:ext uri="{BB962C8B-B14F-4D97-AF65-F5344CB8AC3E}">
        <p14:creationId xmlns:p14="http://schemas.microsoft.com/office/powerpoint/2010/main" val="1180497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5F993B7-0133-0A11-1CEF-9D43B7C7E471}"/>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B0ED8477-23D5-EA4D-9731-FA9D12606A22}"/>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BB331C3A-5C70-6A89-9915-DFE1A006188F}"/>
              </a:ext>
            </a:extLst>
          </p:cNvPr>
          <p:cNvSpPr>
            <a:spLocks noGrp="1"/>
          </p:cNvSpPr>
          <p:nvPr>
            <p:ph type="dt" sz="half" idx="10"/>
          </p:nvPr>
        </p:nvSpPr>
        <p:spPr/>
        <p:txBody>
          <a:bodyPr/>
          <a:lstStyle/>
          <a:p>
            <a:fld id="{0E239CE7-9C28-EE4D-8EA5-DD0475D764CE}" type="datetimeFigureOut">
              <a:rPr lang="es-CO" smtClean="0"/>
              <a:t>10/03/26</a:t>
            </a:fld>
            <a:endParaRPr lang="es-CO"/>
          </a:p>
        </p:txBody>
      </p:sp>
      <p:sp>
        <p:nvSpPr>
          <p:cNvPr id="5" name="Marcador de pie de página 4">
            <a:extLst>
              <a:ext uri="{FF2B5EF4-FFF2-40B4-BE49-F238E27FC236}">
                <a16:creationId xmlns:a16="http://schemas.microsoft.com/office/drawing/2014/main" id="{792CCCBE-22D3-A29D-7CE0-574D0CA3184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391950B-E5C6-0321-33A0-661EF0B017C1}"/>
              </a:ext>
            </a:extLst>
          </p:cNvPr>
          <p:cNvSpPr>
            <a:spLocks noGrp="1"/>
          </p:cNvSpPr>
          <p:nvPr>
            <p:ph type="sldNum" sz="quarter" idx="12"/>
          </p:nvPr>
        </p:nvSpPr>
        <p:spPr/>
        <p:txBody>
          <a:bodyPr/>
          <a:lstStyle/>
          <a:p>
            <a:fld id="{B8D9ADEE-0279-6143-ABB1-F459CC819413}" type="slidenum">
              <a:rPr lang="es-CO" smtClean="0"/>
              <a:t>‹Nº›</a:t>
            </a:fld>
            <a:endParaRPr lang="es-CO"/>
          </a:p>
        </p:txBody>
      </p:sp>
    </p:spTree>
    <p:extLst>
      <p:ext uri="{BB962C8B-B14F-4D97-AF65-F5344CB8AC3E}">
        <p14:creationId xmlns:p14="http://schemas.microsoft.com/office/powerpoint/2010/main" val="12678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11F35"/>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62D7410-642F-D0A0-6D9C-1F96CBCA02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EED58F81-DE5D-0362-3137-8D366CD650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DCAAEA59-30BC-A0EE-FF67-D5D77DFA0C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239CE7-9C28-EE4D-8EA5-DD0475D764CE}" type="datetimeFigureOut">
              <a:rPr lang="es-CO" smtClean="0"/>
              <a:t>10/03/26</a:t>
            </a:fld>
            <a:endParaRPr lang="es-CO"/>
          </a:p>
        </p:txBody>
      </p:sp>
      <p:sp>
        <p:nvSpPr>
          <p:cNvPr id="5" name="Marcador de pie de página 4">
            <a:extLst>
              <a:ext uri="{FF2B5EF4-FFF2-40B4-BE49-F238E27FC236}">
                <a16:creationId xmlns:a16="http://schemas.microsoft.com/office/drawing/2014/main" id="{F6B74592-E2B6-1BB3-BAEE-839DDAEB36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13579140-BCF6-31C0-D0AB-1B09B2CD18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D9ADEE-0279-6143-ABB1-F459CC819413}" type="slidenum">
              <a:rPr lang="es-CO" smtClean="0"/>
              <a:t>‹Nº›</a:t>
            </a:fld>
            <a:endParaRPr lang="es-CO"/>
          </a:p>
        </p:txBody>
      </p:sp>
      <p:sp>
        <p:nvSpPr>
          <p:cNvPr id="1001" name="AccentBar"/>
          <p:cNvSpPr/>
          <p:nvPr/>
        </p:nvSpPr>
        <p:spPr>
          <a:xfrm>
            <a:off x="0" y="6705600"/>
            <a:ext cx="12192000" cy="152400"/>
          </a:xfrm>
          <a:prstGeom prst="rect">
            <a:avLst/>
          </a:prstGeom>
          <a:gradFill>
            <a:gsLst>
              <a:gs pos="0">
                <a:srgbClr val="C98B2B">
                  <a:alpha val="60000"/>
                </a:srgbClr>
              </a:gs>
              <a:gs pos="50000">
                <a:srgbClr val="C4513E">
                  <a:alpha val="40000"/>
                </a:srgbClr>
              </a:gs>
              <a:gs pos="100000">
                <a:srgbClr val="2F5DA8">
                  <a:alpha val="60000"/>
                </a:srgbClr>
              </a:gs>
            </a:gsLst>
            <a:lin ang="0" scaled="1"/>
          </a:gradFill>
          <a:ln>
            <a:noFill/>
          </a:ln>
        </p:spPr>
        <p:txBody>
          <a:bodyPr/>
          <a:lstStyle/>
          <a:p>
            <a:endParaRPr/>
          </a:p>
        </p:txBody>
      </p:sp>
    </p:spTree>
    <p:extLst>
      <p:ext uri="{BB962C8B-B14F-4D97-AF65-F5344CB8AC3E}">
        <p14:creationId xmlns:p14="http://schemas.microsoft.com/office/powerpoint/2010/main" val="13560958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F3F6F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C8CED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rgbClr val="C8CED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F35">
            <a:alpha val="100000"/>
          </a:srgb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D58225-CDFF-0928-E4EB-CC2D201C46FB}"/>
              </a:ext>
            </a:extLst>
          </p:cNvPr>
          <p:cNvSpPr>
            <a:spLocks noGrp="1"/>
          </p:cNvSpPr>
          <p:nvPr>
            <p:ph type="ctrTitle"/>
          </p:nvPr>
        </p:nvSpPr>
        <p:spPr/>
        <p:txBody>
          <a:bodyPr/>
          <a:lstStyle/>
          <a:p>
            <a:endParaRPr lang="es-CO"/>
          </a:p>
        </p:txBody>
      </p:sp>
      <p:sp>
        <p:nvSpPr>
          <p:cNvPr id="3" name="Subtítulo 2">
            <a:extLst>
              <a:ext uri="{FF2B5EF4-FFF2-40B4-BE49-F238E27FC236}">
                <a16:creationId xmlns:a16="http://schemas.microsoft.com/office/drawing/2014/main" id="{5F434FA7-BF08-2E82-582B-97AB12575F12}"/>
              </a:ext>
            </a:extLst>
          </p:cNvPr>
          <p:cNvSpPr>
            <a:spLocks noGrp="1"/>
          </p:cNvSpPr>
          <p:nvPr>
            <p:ph type="subTitle" idx="1"/>
          </p:nvPr>
        </p:nvSpPr>
        <p:spPr/>
        <p:txBody>
          <a:bodyPr/>
          <a:lstStyle/>
          <a:p>
            <a:endParaRPr lang="es-CO"/>
          </a:p>
        </p:txBody>
      </p:sp>
      <p:sp>
        <p:nvSpPr>
          <p:cNvPr id="4" name="CuadroTexto 3">
            <a:extLst>
              <a:ext uri="{FF2B5EF4-FFF2-40B4-BE49-F238E27FC236}">
                <a16:creationId xmlns:a16="http://schemas.microsoft.com/office/drawing/2014/main" id="{B0D70895-F827-0C44-8122-E0EEF7376554}"/>
              </a:ext>
            </a:extLst>
          </p:cNvPr>
          <p:cNvSpPr txBox="1"/>
          <p:nvPr/>
        </p:nvSpPr>
        <p:spPr>
          <a:xfrm>
            <a:off x="1016000" y="1524000"/>
            <a:ext cx="6350000" cy="2286000"/>
          </a:xfrm>
          <a:prstGeom prst="rect">
            <a:avLst/>
          </a:prstGeom>
          <a:noFill/>
        </p:spPr>
        <p:txBody>
          <a:bodyPr vertOverflow="overflow" vert="horz" wrap="square" rtlCol="0" anchor="t">
            <a:spAutoFit/>
          </a:bodyPr>
          <a:lstStyle/>
          <a:p>
            <a:pPr algn="l"/>
            <a:r>
              <a:rPr lang="es-CO" sz="3600" b="1">
                <a:solidFill>
                  <a:srgbClr val="F3F6FA"/>
                </a:solidFill>
                <a:latin typeface="Inter"/>
              </a:rPr>
              <a:t>LINKEDIN CAROUSEL
BLUEPRINT SERIES</a:t>
            </a:r>
          </a:p>
        </p:txBody>
      </p:sp>
      <p:sp>
        <p:nvSpPr>
          <p:cNvPr id="5" name="CuadroTexto 4">
            <a:extLst>
              <a:ext uri="{FF2B5EF4-FFF2-40B4-BE49-F238E27FC236}">
                <a16:creationId xmlns:a16="http://schemas.microsoft.com/office/drawing/2014/main" id="{61694AD7-267A-194F-B575-B11F388A2EEB}"/>
              </a:ext>
            </a:extLst>
          </p:cNvPr>
          <p:cNvSpPr txBox="1"/>
          <p:nvPr/>
        </p:nvSpPr>
        <p:spPr>
          <a:xfrm>
            <a:off x="1016000" y="3937000"/>
            <a:ext cx="6096000" cy="635000"/>
          </a:xfrm>
          <a:prstGeom prst="rect">
            <a:avLst/>
          </a:prstGeom>
          <a:noFill/>
        </p:spPr>
        <p:txBody>
          <a:bodyPr vertOverflow="overflow" vert="horz" wrap="square" rtlCol="0" anchor="t">
            <a:spAutoFit/>
          </a:bodyPr>
          <a:lstStyle/>
          <a:p>
            <a:pPr algn="l"/>
            <a:r>
              <a:rPr lang="es-CO" sz="1600">
                <a:solidFill>
                  <a:srgbClr val="C8CED8"/>
                </a:solidFill>
                <a:latin typeface="DM Sans"/>
              </a:rPr>
              <a:t>10 premium editorial carousels for AI Governance positioning</a:t>
            </a:r>
          </a:p>
        </p:txBody>
      </p:sp>
      <p:sp>
        <p:nvSpPr>
          <p:cNvPr id="6" name="Rectángulo 5">
            <a:extLst>
              <a:ext uri="{FF2B5EF4-FFF2-40B4-BE49-F238E27FC236}">
                <a16:creationId xmlns:a16="http://schemas.microsoft.com/office/drawing/2014/main" id="{D4999DC3-AAAD-4A4A-BD5C-820E3D9823A1}"/>
              </a:ext>
            </a:extLst>
          </p:cNvPr>
          <p:cNvSpPr/>
          <p:nvPr/>
        </p:nvSpPr>
        <p:spPr>
          <a:xfrm>
            <a:off x="1016000" y="3759200"/>
            <a:ext cx="1524000" cy="50800"/>
          </a:xfrm>
          <a:prstGeom prst="rect">
            <a:avLst/>
          </a:prstGeom>
          <a:solidFill>
            <a:srgbClr val="C98B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Elipse 6">
            <a:extLst>
              <a:ext uri="{FF2B5EF4-FFF2-40B4-BE49-F238E27FC236}">
                <a16:creationId xmlns:a16="http://schemas.microsoft.com/office/drawing/2014/main" id="{2EBB1212-2B9E-8246-9AEC-0824D3A8D72E}"/>
              </a:ext>
            </a:extLst>
          </p:cNvPr>
          <p:cNvSpPr/>
          <p:nvPr/>
        </p:nvSpPr>
        <p:spPr>
          <a:xfrm>
            <a:off x="7112000" y="2032000"/>
            <a:ext cx="762000" cy="762000"/>
          </a:xfrm>
          <a:prstGeom prst="ellipse">
            <a:avLst/>
          </a:prstGeom>
          <a:solidFill>
            <a:srgbClr val="C98B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s-CO" b="1">
                <a:solidFill>
                  <a:srgbClr val="FFFFFF"/>
                </a:solidFill>
                <a:latin typeface="Inter"/>
              </a:rPr>
              <a:t>01</a:t>
            </a:r>
          </a:p>
        </p:txBody>
      </p:sp>
      <p:sp>
        <p:nvSpPr>
          <p:cNvPr id="8" name="Elipse 7">
            <a:extLst>
              <a:ext uri="{FF2B5EF4-FFF2-40B4-BE49-F238E27FC236}">
                <a16:creationId xmlns:a16="http://schemas.microsoft.com/office/drawing/2014/main" id="{19FDCBF3-7DCB-B947-A477-FF9ADC008BB1}"/>
              </a:ext>
            </a:extLst>
          </p:cNvPr>
          <p:cNvSpPr/>
          <p:nvPr/>
        </p:nvSpPr>
        <p:spPr>
          <a:xfrm>
            <a:off x="8077200" y="2032000"/>
            <a:ext cx="762000" cy="762000"/>
          </a:xfrm>
          <a:prstGeom prst="ellipse">
            <a:avLst/>
          </a:prstGeom>
          <a:solidFill>
            <a:srgbClr val="C4513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s-CO" b="1">
                <a:solidFill>
                  <a:srgbClr val="FFFFFF"/>
                </a:solidFill>
                <a:latin typeface="Inter"/>
              </a:rPr>
              <a:t>02</a:t>
            </a:r>
          </a:p>
        </p:txBody>
      </p:sp>
      <p:sp>
        <p:nvSpPr>
          <p:cNvPr id="9" name="Elipse 8">
            <a:extLst>
              <a:ext uri="{FF2B5EF4-FFF2-40B4-BE49-F238E27FC236}">
                <a16:creationId xmlns:a16="http://schemas.microsoft.com/office/drawing/2014/main" id="{413EAEC9-A9EB-9D4E-BD25-054F3971D838}"/>
              </a:ext>
            </a:extLst>
          </p:cNvPr>
          <p:cNvSpPr/>
          <p:nvPr/>
        </p:nvSpPr>
        <p:spPr>
          <a:xfrm>
            <a:off x="9042400" y="2032000"/>
            <a:ext cx="762000" cy="762000"/>
          </a:xfrm>
          <a:prstGeom prst="ellipse">
            <a:avLst/>
          </a:prstGeom>
          <a:solidFill>
            <a:srgbClr val="2F5D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s-CO" b="1">
                <a:solidFill>
                  <a:srgbClr val="FFFFFF"/>
                </a:solidFill>
                <a:latin typeface="Inter"/>
              </a:rPr>
              <a:t>03</a:t>
            </a:r>
          </a:p>
        </p:txBody>
      </p:sp>
      <p:sp>
        <p:nvSpPr>
          <p:cNvPr id="10" name="Elipse 9">
            <a:extLst>
              <a:ext uri="{FF2B5EF4-FFF2-40B4-BE49-F238E27FC236}">
                <a16:creationId xmlns:a16="http://schemas.microsoft.com/office/drawing/2014/main" id="{EE8B2100-14AB-3B46-8AC5-5BE3FD9D8B7E}"/>
              </a:ext>
            </a:extLst>
          </p:cNvPr>
          <p:cNvSpPr/>
          <p:nvPr/>
        </p:nvSpPr>
        <p:spPr>
          <a:xfrm>
            <a:off x="10007600" y="2032000"/>
            <a:ext cx="762000" cy="762000"/>
          </a:xfrm>
          <a:prstGeom prst="ellipse">
            <a:avLst/>
          </a:prstGeom>
          <a:solidFill>
            <a:srgbClr val="2C8A8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s-CO" b="1">
                <a:solidFill>
                  <a:srgbClr val="FFFFFF"/>
                </a:solidFill>
                <a:latin typeface="Inter"/>
              </a:rPr>
              <a:t>04</a:t>
            </a:r>
          </a:p>
        </p:txBody>
      </p:sp>
      <p:sp>
        <p:nvSpPr>
          <p:cNvPr id="11" name="Elipse 10">
            <a:extLst>
              <a:ext uri="{FF2B5EF4-FFF2-40B4-BE49-F238E27FC236}">
                <a16:creationId xmlns:a16="http://schemas.microsoft.com/office/drawing/2014/main" id="{D97B5F2C-F004-6840-BBAE-4D8F049E54C0}"/>
              </a:ext>
            </a:extLst>
          </p:cNvPr>
          <p:cNvSpPr/>
          <p:nvPr/>
        </p:nvSpPr>
        <p:spPr>
          <a:xfrm>
            <a:off x="10972800" y="2032000"/>
            <a:ext cx="762000" cy="762000"/>
          </a:xfrm>
          <a:prstGeom prst="ellipse">
            <a:avLst/>
          </a:prstGeom>
          <a:solidFill>
            <a:srgbClr val="7A4F7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s-CO" b="1">
                <a:solidFill>
                  <a:srgbClr val="FFFFFF"/>
                </a:solidFill>
                <a:latin typeface="Inter"/>
              </a:rPr>
              <a:t>05</a:t>
            </a:r>
          </a:p>
        </p:txBody>
      </p:sp>
      <p:sp>
        <p:nvSpPr>
          <p:cNvPr id="12" name="Elipse 11">
            <a:extLst>
              <a:ext uri="{FF2B5EF4-FFF2-40B4-BE49-F238E27FC236}">
                <a16:creationId xmlns:a16="http://schemas.microsoft.com/office/drawing/2014/main" id="{9C315BB6-F1A0-2D47-B290-9BDB73EF24C6}"/>
              </a:ext>
            </a:extLst>
          </p:cNvPr>
          <p:cNvSpPr/>
          <p:nvPr/>
        </p:nvSpPr>
        <p:spPr>
          <a:xfrm>
            <a:off x="7112000" y="3175000"/>
            <a:ext cx="762000" cy="762000"/>
          </a:xfrm>
          <a:prstGeom prst="ellipse">
            <a:avLst/>
          </a:prstGeom>
          <a:solidFill>
            <a:srgbClr val="2D8C6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s-CO" b="1">
                <a:solidFill>
                  <a:srgbClr val="FFFFFF"/>
                </a:solidFill>
                <a:latin typeface="Inter"/>
              </a:rPr>
              <a:t>06</a:t>
            </a:r>
          </a:p>
        </p:txBody>
      </p:sp>
      <p:sp>
        <p:nvSpPr>
          <p:cNvPr id="13" name="Elipse 12">
            <a:extLst>
              <a:ext uri="{FF2B5EF4-FFF2-40B4-BE49-F238E27FC236}">
                <a16:creationId xmlns:a16="http://schemas.microsoft.com/office/drawing/2014/main" id="{43375936-C143-7740-925C-E4E6C0B2E3EE}"/>
              </a:ext>
            </a:extLst>
          </p:cNvPr>
          <p:cNvSpPr/>
          <p:nvPr/>
        </p:nvSpPr>
        <p:spPr>
          <a:xfrm>
            <a:off x="8077200" y="3175000"/>
            <a:ext cx="762000" cy="762000"/>
          </a:xfrm>
          <a:prstGeom prst="ellipse">
            <a:avLst/>
          </a:prstGeom>
          <a:solidFill>
            <a:srgbClr val="4B58A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s-CO" b="1">
                <a:solidFill>
                  <a:srgbClr val="FFFFFF"/>
                </a:solidFill>
                <a:latin typeface="Inter"/>
              </a:rPr>
              <a:t>07</a:t>
            </a:r>
          </a:p>
        </p:txBody>
      </p:sp>
      <p:sp>
        <p:nvSpPr>
          <p:cNvPr id="14" name="Elipse 13">
            <a:extLst>
              <a:ext uri="{FF2B5EF4-FFF2-40B4-BE49-F238E27FC236}">
                <a16:creationId xmlns:a16="http://schemas.microsoft.com/office/drawing/2014/main" id="{F4B6840A-A7CA-454B-94F6-D5AE11FE60A4}"/>
              </a:ext>
            </a:extLst>
          </p:cNvPr>
          <p:cNvSpPr/>
          <p:nvPr/>
        </p:nvSpPr>
        <p:spPr>
          <a:xfrm>
            <a:off x="9042400" y="3175000"/>
            <a:ext cx="762000" cy="762000"/>
          </a:xfrm>
          <a:prstGeom prst="ellipse">
            <a:avLst/>
          </a:prstGeom>
          <a:solidFill>
            <a:srgbClr val="B56A3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s-CO" b="1">
                <a:solidFill>
                  <a:srgbClr val="FFFFFF"/>
                </a:solidFill>
                <a:latin typeface="Inter"/>
              </a:rPr>
              <a:t>08</a:t>
            </a:r>
          </a:p>
        </p:txBody>
      </p:sp>
      <p:sp>
        <p:nvSpPr>
          <p:cNvPr id="15" name="Elipse 14">
            <a:extLst>
              <a:ext uri="{FF2B5EF4-FFF2-40B4-BE49-F238E27FC236}">
                <a16:creationId xmlns:a16="http://schemas.microsoft.com/office/drawing/2014/main" id="{3CB21526-12EF-4A4A-B12A-E03E49B0FE01}"/>
              </a:ext>
            </a:extLst>
          </p:cNvPr>
          <p:cNvSpPr/>
          <p:nvPr/>
        </p:nvSpPr>
        <p:spPr>
          <a:xfrm>
            <a:off x="10007600" y="3175000"/>
            <a:ext cx="762000" cy="762000"/>
          </a:xfrm>
          <a:prstGeom prst="ellipse">
            <a:avLst/>
          </a:prstGeom>
          <a:solidFill>
            <a:srgbClr val="A67B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s-CO" b="1">
                <a:solidFill>
                  <a:srgbClr val="FFFFFF"/>
                </a:solidFill>
                <a:latin typeface="Inter"/>
              </a:rPr>
              <a:t>09</a:t>
            </a:r>
          </a:p>
        </p:txBody>
      </p:sp>
      <p:sp>
        <p:nvSpPr>
          <p:cNvPr id="16" name="Elipse 15">
            <a:extLst>
              <a:ext uri="{FF2B5EF4-FFF2-40B4-BE49-F238E27FC236}">
                <a16:creationId xmlns:a16="http://schemas.microsoft.com/office/drawing/2014/main" id="{C8F83391-DE7F-E145-B4DC-00D245049042}"/>
              </a:ext>
            </a:extLst>
          </p:cNvPr>
          <p:cNvSpPr/>
          <p:nvPr/>
        </p:nvSpPr>
        <p:spPr>
          <a:xfrm>
            <a:off x="10972800" y="3175000"/>
            <a:ext cx="762000" cy="762000"/>
          </a:xfrm>
          <a:prstGeom prst="ellipse">
            <a:avLst/>
          </a:prstGeom>
          <a:solidFill>
            <a:srgbClr val="A83A4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s-CO" b="1">
                <a:solidFill>
                  <a:srgbClr val="FFFFFF"/>
                </a:solidFill>
                <a:latin typeface="Inter"/>
              </a:rPr>
              <a:t>10</a:t>
            </a:r>
          </a:p>
        </p:txBody>
      </p:sp>
      <p:sp>
        <p:nvSpPr>
          <p:cNvPr id="17" name="CuadroTexto 16">
            <a:extLst>
              <a:ext uri="{FF2B5EF4-FFF2-40B4-BE49-F238E27FC236}">
                <a16:creationId xmlns:a16="http://schemas.microsoft.com/office/drawing/2014/main" id="{4D1B063E-6A68-BB4A-B5B0-3641A64B8EE2}"/>
              </a:ext>
            </a:extLst>
          </p:cNvPr>
          <p:cNvSpPr txBox="1"/>
          <p:nvPr/>
        </p:nvSpPr>
        <p:spPr>
          <a:xfrm>
            <a:off x="1016000" y="5969000"/>
            <a:ext cx="10160000" cy="381000"/>
          </a:xfrm>
          <a:prstGeom prst="rect">
            <a:avLst/>
          </a:prstGeom>
          <a:noFill/>
        </p:spPr>
        <p:txBody>
          <a:bodyPr vertOverflow="overflow" vert="horz" wrap="square" rtlCol="0" anchor="t">
            <a:spAutoFit/>
          </a:bodyPr>
          <a:lstStyle/>
          <a:p>
            <a:pPr algn="l"/>
            <a:r>
              <a:rPr lang="es-CO" sz="1400">
                <a:solidFill>
                  <a:srgbClr val="6B7584"/>
                </a:solidFill>
                <a:latin typeface="DM Sans"/>
              </a:rPr>
              <a:t>Design tone: premium editorial  •  Advisory-grade  •  Minimal  •  Mobile-first</a:t>
            </a:r>
          </a:p>
        </p:txBody>
      </p:sp>
    </p:spTree>
    <p:extLst>
      <p:ext uri="{BB962C8B-B14F-4D97-AF65-F5344CB8AC3E}">
        <p14:creationId xmlns:p14="http://schemas.microsoft.com/office/powerpoint/2010/main" val="3612173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094584B-34B7-9644-A0EA-84526C96E978}"/>
              </a:ext>
            </a:extLst>
          </p:cNvPr>
          <p:cNvSpPr txBox="1"/>
          <p:nvPr/>
        </p:nvSpPr>
        <p:spPr>
          <a:xfrm>
            <a:off x="1016000" y="1270000"/>
            <a:ext cx="3810000" cy="508000"/>
          </a:xfrm>
          <a:prstGeom prst="rect">
            <a:avLst/>
          </a:prstGeom>
          <a:noFill/>
        </p:spPr>
        <p:txBody>
          <a:bodyPr vertOverflow="overflow" vert="horz" wrap="square" rtlCol="0" anchor="t">
            <a:spAutoFit/>
          </a:bodyPr>
          <a:lstStyle/>
          <a:p>
            <a:pPr algn="l"/>
            <a:r>
              <a:rPr lang="es-CO" sz="1400" b="1">
                <a:solidFill>
                  <a:srgbClr val="C98B2B"/>
                </a:solidFill>
                <a:latin typeface="Inter"/>
              </a:rPr>
              <a:t>CAROUSEL 01</a:t>
            </a:r>
          </a:p>
        </p:txBody>
      </p:sp>
      <p:sp>
        <p:nvSpPr>
          <p:cNvPr id="3" name="Rectángulo 2">
            <a:extLst>
              <a:ext uri="{FF2B5EF4-FFF2-40B4-BE49-F238E27FC236}">
                <a16:creationId xmlns:a16="http://schemas.microsoft.com/office/drawing/2014/main" id="{CDB0588E-1924-514D-9061-8795A3F6DFD1}"/>
              </a:ext>
            </a:extLst>
          </p:cNvPr>
          <p:cNvSpPr/>
          <p:nvPr/>
        </p:nvSpPr>
        <p:spPr>
          <a:xfrm>
            <a:off x="1016000" y="1905000"/>
            <a:ext cx="1016000" cy="63500"/>
          </a:xfrm>
          <a:prstGeom prst="rect">
            <a:avLst/>
          </a:prstGeom>
          <a:solidFill>
            <a:srgbClr val="C98B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4" name="CuadroTexto 3">
            <a:extLst>
              <a:ext uri="{FF2B5EF4-FFF2-40B4-BE49-F238E27FC236}">
                <a16:creationId xmlns:a16="http://schemas.microsoft.com/office/drawing/2014/main" id="{16459984-1CCF-C945-B177-FB36C2F5B86F}"/>
              </a:ext>
            </a:extLst>
          </p:cNvPr>
          <p:cNvSpPr txBox="1"/>
          <p:nvPr/>
        </p:nvSpPr>
        <p:spPr>
          <a:xfrm>
            <a:off x="1016000" y="2159000"/>
            <a:ext cx="7620000" cy="1524000"/>
          </a:xfrm>
          <a:prstGeom prst="rect">
            <a:avLst/>
          </a:prstGeom>
          <a:noFill/>
        </p:spPr>
        <p:txBody>
          <a:bodyPr vertOverflow="overflow" vert="horz" wrap="square" rtlCol="0" anchor="t">
            <a:spAutoFit/>
          </a:bodyPr>
          <a:lstStyle/>
          <a:p>
            <a:pPr algn="l"/>
            <a:r>
              <a:rPr lang="es-CO" sz="3600" b="1">
                <a:solidFill>
                  <a:srgbClr val="F3F6FA"/>
                </a:solidFill>
                <a:latin typeface="Inter"/>
              </a:rPr>
              <a:t>The Silent Risk
Nobody Talks About</a:t>
            </a:r>
          </a:p>
        </p:txBody>
      </p:sp>
      <p:sp>
        <p:nvSpPr>
          <p:cNvPr id="5" name="CuadroTexto 4">
            <a:extLst>
              <a:ext uri="{FF2B5EF4-FFF2-40B4-BE49-F238E27FC236}">
                <a16:creationId xmlns:a16="http://schemas.microsoft.com/office/drawing/2014/main" id="{53B1C444-057E-0B40-8F89-8D7EFBABC374}"/>
              </a:ext>
            </a:extLst>
          </p:cNvPr>
          <p:cNvSpPr txBox="1"/>
          <p:nvPr/>
        </p:nvSpPr>
        <p:spPr>
          <a:xfrm>
            <a:off x="1016000" y="3937000"/>
            <a:ext cx="6350000" cy="381000"/>
          </a:xfrm>
          <a:prstGeom prst="rect">
            <a:avLst/>
          </a:prstGeom>
          <a:noFill/>
        </p:spPr>
        <p:txBody>
          <a:bodyPr vertOverflow="overflow" vert="horz" wrap="square" rtlCol="0" anchor="t">
            <a:spAutoFit/>
          </a:bodyPr>
          <a:lstStyle/>
          <a:p>
            <a:pPr algn="l"/>
            <a:r>
              <a:rPr lang="es-CO" sz="1400">
                <a:solidFill>
                  <a:srgbClr val="6B7584"/>
                </a:solidFill>
                <a:latin typeface="DM Sans"/>
              </a:rPr>
              <a:t>Day 1  •  8:00 AM EST  •  Awareness + Hook  •  8 Slides</a:t>
            </a:r>
          </a:p>
        </p:txBody>
      </p:sp>
      <p:sp>
        <p:nvSpPr>
          <p:cNvPr id="6" name="Rectángulo redondeado 5">
            <a:extLst>
              <a:ext uri="{FF2B5EF4-FFF2-40B4-BE49-F238E27FC236}">
                <a16:creationId xmlns:a16="http://schemas.microsoft.com/office/drawing/2014/main" id="{9F7D8303-2B58-2145-95CF-8B5939A15984}"/>
              </a:ext>
            </a:extLst>
          </p:cNvPr>
          <p:cNvSpPr/>
          <p:nvPr/>
        </p:nvSpPr>
        <p:spPr>
          <a:xfrm>
            <a:off x="1016000" y="4699000"/>
            <a:ext cx="2286000" cy="508000"/>
          </a:xfrm>
          <a:prstGeom prst="roundRect">
            <a:avLst/>
          </a:prstGeom>
          <a:solidFill>
            <a:srgbClr val="C98B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400" b="1">
                <a:solidFill>
                  <a:srgbClr val="FFFFFF"/>
                </a:solidFill>
              </a:rPr>
              <a:t>Amber #C98B2B</a:t>
            </a:r>
          </a:p>
        </p:txBody>
      </p:sp>
      <p:sp>
        <p:nvSpPr>
          <p:cNvPr id="7" name="CuadroTexto 6">
            <a:extLst>
              <a:ext uri="{FF2B5EF4-FFF2-40B4-BE49-F238E27FC236}">
                <a16:creationId xmlns:a16="http://schemas.microsoft.com/office/drawing/2014/main" id="{D0244791-0BDA-2D42-8E79-1977C5645686}"/>
              </a:ext>
            </a:extLst>
          </p:cNvPr>
          <p:cNvSpPr txBox="1"/>
          <p:nvPr/>
        </p:nvSpPr>
        <p:spPr>
          <a:xfrm>
            <a:off x="1016000" y="5461000"/>
            <a:ext cx="7620000" cy="381000"/>
          </a:xfrm>
          <a:prstGeom prst="rect">
            <a:avLst/>
          </a:prstGeom>
          <a:noFill/>
        </p:spPr>
        <p:txBody>
          <a:bodyPr vertOverflow="overflow" vert="horz" wrap="square" rtlCol="0" anchor="t">
            <a:spAutoFit/>
          </a:bodyPr>
          <a:lstStyle/>
          <a:p>
            <a:pPr algn="l"/>
            <a:r>
              <a:rPr lang="es-CO" sz="1400">
                <a:solidFill>
                  <a:srgbClr val="8A95A3"/>
                </a:solidFill>
                <a:latin typeface="DM Sans"/>
              </a:rPr>
              <a:t>Funnel: Top of funnel  •  Create awareness and attract first followers</a:t>
            </a:r>
          </a:p>
        </p:txBody>
      </p:sp>
      <p:sp>
        <p:nvSpPr>
          <p:cNvPr id="8" name="CuadroTexto 7">
            <a:extLst>
              <a:ext uri="{FF2B5EF4-FFF2-40B4-BE49-F238E27FC236}">
                <a16:creationId xmlns:a16="http://schemas.microsoft.com/office/drawing/2014/main" id="{E91BF677-6B8F-3C41-AAE6-A70648C22A96}"/>
              </a:ext>
            </a:extLst>
          </p:cNvPr>
          <p:cNvSpPr txBox="1"/>
          <p:nvPr/>
        </p:nvSpPr>
        <p:spPr>
          <a:xfrm>
            <a:off x="9144000" y="1524000"/>
            <a:ext cx="2540000" cy="3810000"/>
          </a:xfrm>
          <a:prstGeom prst="rect">
            <a:avLst/>
          </a:prstGeom>
          <a:noFill/>
        </p:spPr>
        <p:txBody>
          <a:bodyPr vertOverflow="overflow" vert="horz" wrap="square" rtlCol="0" anchor="t">
            <a:spAutoFit/>
          </a:bodyPr>
          <a:lstStyle/>
          <a:p>
            <a:pPr algn="l"/>
            <a:r>
              <a:rPr lang="es-CO" sz="12000" b="1">
                <a:solidFill>
                  <a:srgbClr val="C98B2B"/>
                </a:solidFill>
                <a:latin typeface="Inter"/>
              </a:rPr>
              <a:t>01</a:t>
            </a:r>
          </a:p>
        </p:txBody>
      </p:sp>
    </p:spTree>
    <p:extLst>
      <p:ext uri="{BB962C8B-B14F-4D97-AF65-F5344CB8AC3E}">
        <p14:creationId xmlns:p14="http://schemas.microsoft.com/office/powerpoint/2010/main" val="2513977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6AE3D111-0B5D-0545-93A5-11EC500AFA1F}"/>
              </a:ext>
            </a:extLst>
          </p:cNvPr>
          <p:cNvSpPr/>
          <p:nvPr/>
        </p:nvSpPr>
        <p:spPr>
          <a:xfrm>
            <a:off x="762000" y="1270000"/>
            <a:ext cx="63500" cy="3810000"/>
          </a:xfrm>
          <a:prstGeom prst="rect">
            <a:avLst/>
          </a:prstGeom>
          <a:solidFill>
            <a:srgbClr val="C98B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D547AEC3-E04A-F647-9A78-37329D2F0B53}"/>
              </a:ext>
            </a:extLst>
          </p:cNvPr>
          <p:cNvSpPr txBox="1"/>
          <p:nvPr/>
        </p:nvSpPr>
        <p:spPr>
          <a:xfrm>
            <a:off x="1079500" y="1270000"/>
            <a:ext cx="6985000" cy="1397000"/>
          </a:xfrm>
          <a:prstGeom prst="rect">
            <a:avLst/>
          </a:prstGeom>
          <a:noFill/>
        </p:spPr>
        <p:txBody>
          <a:bodyPr vertOverflow="overflow" vert="horz" wrap="square" rtlCol="0" anchor="t">
            <a:spAutoFit/>
          </a:bodyPr>
          <a:lstStyle/>
          <a:p>
            <a:pPr algn="l"/>
            <a:r>
              <a:rPr lang="es-CO" sz="3200" b="1">
                <a:solidFill>
                  <a:srgbClr val="F3F6FA"/>
                </a:solidFill>
                <a:latin typeface="Inter"/>
              </a:rPr>
              <a:t>Your team is using AI.
Nobody set the rules.</a:t>
            </a:r>
          </a:p>
        </p:txBody>
      </p:sp>
      <p:sp>
        <p:nvSpPr>
          <p:cNvPr id="4" name="CuadroTexto 3">
            <a:extLst>
              <a:ext uri="{FF2B5EF4-FFF2-40B4-BE49-F238E27FC236}">
                <a16:creationId xmlns:a16="http://schemas.microsoft.com/office/drawing/2014/main" id="{6449F0ED-7491-1641-B602-1C612B73B8D1}"/>
              </a:ext>
            </a:extLst>
          </p:cNvPr>
          <p:cNvSpPr txBox="1"/>
          <p:nvPr/>
        </p:nvSpPr>
        <p:spPr>
          <a:xfrm>
            <a:off x="1079500" y="2921000"/>
            <a:ext cx="6985000" cy="1016000"/>
          </a:xfrm>
          <a:prstGeom prst="rect">
            <a:avLst/>
          </a:prstGeom>
          <a:noFill/>
        </p:spPr>
        <p:txBody>
          <a:bodyPr vertOverflow="overflow" vert="horz" wrap="square" rtlCol="0" anchor="t">
            <a:spAutoFit/>
          </a:bodyPr>
          <a:lstStyle/>
          <a:p>
            <a:pPr algn="l"/>
            <a:r>
              <a:rPr lang="es-CO" sz="2200" b="1">
                <a:solidFill>
                  <a:srgbClr val="C98B2B"/>
                </a:solidFill>
                <a:latin typeface="Inter"/>
              </a:rPr>
              <a:t>That's not a tech problem.
That's a business risk.</a:t>
            </a:r>
          </a:p>
        </p:txBody>
      </p:sp>
      <p:sp>
        <p:nvSpPr>
          <p:cNvPr id="5" name="CuadroTexto 4">
            <a:extLst>
              <a:ext uri="{FF2B5EF4-FFF2-40B4-BE49-F238E27FC236}">
                <a16:creationId xmlns:a16="http://schemas.microsoft.com/office/drawing/2014/main" id="{358C6681-D93E-C248-9D44-BC5370F3B155}"/>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01 / 08</a:t>
            </a:r>
          </a:p>
        </p:txBody>
      </p:sp>
    </p:spTree>
    <p:extLst>
      <p:ext uri="{BB962C8B-B14F-4D97-AF65-F5344CB8AC3E}">
        <p14:creationId xmlns:p14="http://schemas.microsoft.com/office/powerpoint/2010/main" val="2127740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9D484AD-B965-D143-A2AD-1681B193A086}"/>
              </a:ext>
            </a:extLst>
          </p:cNvPr>
          <p:cNvSpPr/>
          <p:nvPr/>
        </p:nvSpPr>
        <p:spPr>
          <a:xfrm>
            <a:off x="762000" y="762000"/>
            <a:ext cx="63500" cy="762000"/>
          </a:xfrm>
          <a:prstGeom prst="rect">
            <a:avLst/>
          </a:prstGeom>
          <a:solidFill>
            <a:srgbClr val="C98B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1B34C2B4-C689-AD45-8326-AC94FD46536C}"/>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The pattern I see across small firms:</a:t>
            </a:r>
          </a:p>
        </p:txBody>
      </p:sp>
      <p:sp>
        <p:nvSpPr>
          <p:cNvPr id="4" name="CuadroTexto 3">
            <a:extLst>
              <a:ext uri="{FF2B5EF4-FFF2-40B4-BE49-F238E27FC236}">
                <a16:creationId xmlns:a16="http://schemas.microsoft.com/office/drawing/2014/main" id="{B95CAA10-7195-874F-9B50-9096734F8A3C}"/>
              </a:ext>
            </a:extLst>
          </p:cNvPr>
          <p:cNvSpPr txBox="1"/>
          <p:nvPr/>
        </p:nvSpPr>
        <p:spPr>
          <a:xfrm>
            <a:off x="1079500" y="1651000"/>
            <a:ext cx="7620000" cy="3810000"/>
          </a:xfrm>
          <a:prstGeom prst="rect">
            <a:avLst/>
          </a:prstGeom>
          <a:noFill/>
        </p:spPr>
        <p:txBody>
          <a:bodyPr vertOverflow="overflow" vert="horz" wrap="square" rtlCol="0" anchor="t">
            <a:spAutoFit/>
          </a:bodyPr>
          <a:lstStyle/>
          <a:p>
            <a:pPr algn="l"/>
            <a:r>
              <a:rPr lang="es-CO">
                <a:solidFill>
                  <a:srgbClr val="1A2332"/>
                </a:solidFill>
                <a:latin typeface="DM Sans"/>
              </a:rPr>
              <a:t>→  Client data goes into ChatGPT prompts
→  Nobody defined what's allowed
→  Contracts predate AI tool usage
→  No rule on when humans must review
→  Every employee decides on their own</a:t>
            </a:r>
          </a:p>
        </p:txBody>
      </p:sp>
      <p:sp>
        <p:nvSpPr>
          <p:cNvPr id="5" name="CuadroTexto 4">
            <a:extLst>
              <a:ext uri="{FF2B5EF4-FFF2-40B4-BE49-F238E27FC236}">
                <a16:creationId xmlns:a16="http://schemas.microsoft.com/office/drawing/2014/main" id="{6B538A9B-3441-804C-9EAC-BE704C6D3DEF}"/>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02 / 08</a:t>
            </a:r>
          </a:p>
        </p:txBody>
      </p:sp>
    </p:spTree>
    <p:extLst>
      <p:ext uri="{BB962C8B-B14F-4D97-AF65-F5344CB8AC3E}">
        <p14:creationId xmlns:p14="http://schemas.microsoft.com/office/powerpoint/2010/main" val="3772015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19905827-22A5-9B4F-BC3B-ADEBDF9DA678}"/>
              </a:ext>
            </a:extLst>
          </p:cNvPr>
          <p:cNvSpPr/>
          <p:nvPr/>
        </p:nvSpPr>
        <p:spPr>
          <a:xfrm>
            <a:off x="762000" y="762000"/>
            <a:ext cx="63500" cy="762000"/>
          </a:xfrm>
          <a:prstGeom prst="rect">
            <a:avLst/>
          </a:prstGeom>
          <a:solidFill>
            <a:srgbClr val="C98B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E532F62D-5EBB-2D42-929E-080429538543}"/>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None of this is illegal by default.</a:t>
            </a:r>
          </a:p>
        </p:txBody>
      </p:sp>
      <p:sp>
        <p:nvSpPr>
          <p:cNvPr id="4" name="CuadroTexto 3">
            <a:extLst>
              <a:ext uri="{FF2B5EF4-FFF2-40B4-BE49-F238E27FC236}">
                <a16:creationId xmlns:a16="http://schemas.microsoft.com/office/drawing/2014/main" id="{187A0E76-548C-9049-9C17-786C42687300}"/>
              </a:ext>
            </a:extLst>
          </p:cNvPr>
          <p:cNvSpPr txBox="1"/>
          <p:nvPr/>
        </p:nvSpPr>
        <p:spPr>
          <a:xfrm>
            <a:off x="1079500" y="1778000"/>
            <a:ext cx="7620000" cy="3175000"/>
          </a:xfrm>
          <a:prstGeom prst="rect">
            <a:avLst/>
          </a:prstGeom>
          <a:noFill/>
        </p:spPr>
        <p:txBody>
          <a:bodyPr vertOverflow="overflow" vert="horz" wrap="square" rtlCol="0" anchor="t">
            <a:spAutoFit/>
          </a:bodyPr>
          <a:lstStyle/>
          <a:p>
            <a:pPr algn="l"/>
            <a:r>
              <a:rPr lang="es-CO" sz="2000">
                <a:solidFill>
                  <a:srgbClr val="1A2332"/>
                </a:solidFill>
                <a:latin typeface="DM Sans"/>
              </a:rPr>
              <a:t>But all of it creates avoidable
business risk.
The gap isn't intent.
The gap is the absence of a rule.</a:t>
            </a:r>
          </a:p>
        </p:txBody>
      </p:sp>
      <p:sp>
        <p:nvSpPr>
          <p:cNvPr id="5" name="CuadroTexto 4">
            <a:extLst>
              <a:ext uri="{FF2B5EF4-FFF2-40B4-BE49-F238E27FC236}">
                <a16:creationId xmlns:a16="http://schemas.microsoft.com/office/drawing/2014/main" id="{105B1A73-0AAE-6F4F-BD55-C3E5E0EEC3F8}"/>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03 / 08</a:t>
            </a:r>
          </a:p>
        </p:txBody>
      </p:sp>
    </p:spTree>
    <p:extLst>
      <p:ext uri="{BB962C8B-B14F-4D97-AF65-F5344CB8AC3E}">
        <p14:creationId xmlns:p14="http://schemas.microsoft.com/office/powerpoint/2010/main" val="222604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B0035862-F312-0241-82F1-6068D64122C9}"/>
              </a:ext>
            </a:extLst>
          </p:cNvPr>
          <p:cNvSpPr/>
          <p:nvPr/>
        </p:nvSpPr>
        <p:spPr>
          <a:xfrm>
            <a:off x="762000" y="762000"/>
            <a:ext cx="63500" cy="762000"/>
          </a:xfrm>
          <a:prstGeom prst="rect">
            <a:avLst/>
          </a:prstGeom>
          <a:solidFill>
            <a:srgbClr val="C98B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7DF193A4-84D7-7848-A24F-CB4E32606032}"/>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Risk lives in 4 places:</a:t>
            </a:r>
          </a:p>
        </p:txBody>
      </p:sp>
      <p:sp>
        <p:nvSpPr>
          <p:cNvPr id="4" name="CuadroTexto 3">
            <a:extLst>
              <a:ext uri="{FF2B5EF4-FFF2-40B4-BE49-F238E27FC236}">
                <a16:creationId xmlns:a16="http://schemas.microsoft.com/office/drawing/2014/main" id="{908D6980-4F51-5343-BD60-F8F23431BA75}"/>
              </a:ext>
            </a:extLst>
          </p:cNvPr>
          <p:cNvSpPr txBox="1"/>
          <p:nvPr/>
        </p:nvSpPr>
        <p:spPr>
          <a:xfrm>
            <a:off x="1079500" y="1651000"/>
            <a:ext cx="7620000" cy="2794000"/>
          </a:xfrm>
          <a:prstGeom prst="rect">
            <a:avLst/>
          </a:prstGeom>
          <a:noFill/>
        </p:spPr>
        <p:txBody>
          <a:bodyPr vertOverflow="overflow" vert="horz" wrap="square" rtlCol="0" anchor="t">
            <a:spAutoFit/>
          </a:bodyPr>
          <a:lstStyle/>
          <a:p>
            <a:pPr algn="l"/>
            <a:r>
              <a:rPr lang="es-CO">
                <a:solidFill>
                  <a:srgbClr val="1A2332"/>
                </a:solidFill>
                <a:latin typeface="DM Sans"/>
              </a:rPr>
              <a:t>→  Your client contracts
→  Your data handling habits
→  Your team's daily tool decisions
→  Your client disclosure (or lack of it)</a:t>
            </a:r>
          </a:p>
        </p:txBody>
      </p:sp>
      <p:sp>
        <p:nvSpPr>
          <p:cNvPr id="5" name="CuadroTexto 4">
            <a:extLst>
              <a:ext uri="{FF2B5EF4-FFF2-40B4-BE49-F238E27FC236}">
                <a16:creationId xmlns:a16="http://schemas.microsoft.com/office/drawing/2014/main" id="{B4065821-BEE0-0649-8FFB-09EBE840B206}"/>
              </a:ext>
            </a:extLst>
          </p:cNvPr>
          <p:cNvSpPr txBox="1"/>
          <p:nvPr/>
        </p:nvSpPr>
        <p:spPr>
          <a:xfrm>
            <a:off x="1079500" y="4826000"/>
            <a:ext cx="7620000" cy="762000"/>
          </a:xfrm>
          <a:prstGeom prst="rect">
            <a:avLst/>
          </a:prstGeom>
          <a:noFill/>
        </p:spPr>
        <p:txBody>
          <a:bodyPr vertOverflow="overflow" vert="horz" wrap="square" rtlCol="0" anchor="t">
            <a:spAutoFit/>
          </a:bodyPr>
          <a:lstStyle/>
          <a:p>
            <a:pPr algn="l"/>
            <a:r>
              <a:rPr lang="es-CO" b="1">
                <a:solidFill>
                  <a:srgbClr val="C98B2B"/>
                </a:solidFill>
                <a:latin typeface="DM Sans"/>
              </a:rPr>
              <a:t>None of these require a new regulation
to become a real problem.</a:t>
            </a:r>
          </a:p>
        </p:txBody>
      </p:sp>
      <p:sp>
        <p:nvSpPr>
          <p:cNvPr id="6" name="CuadroTexto 5">
            <a:extLst>
              <a:ext uri="{FF2B5EF4-FFF2-40B4-BE49-F238E27FC236}">
                <a16:creationId xmlns:a16="http://schemas.microsoft.com/office/drawing/2014/main" id="{8CB3B19C-E7B1-9E4D-92E1-EA71A22D6C20}"/>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04 / 08</a:t>
            </a:r>
          </a:p>
        </p:txBody>
      </p:sp>
    </p:spTree>
    <p:extLst>
      <p:ext uri="{BB962C8B-B14F-4D97-AF65-F5344CB8AC3E}">
        <p14:creationId xmlns:p14="http://schemas.microsoft.com/office/powerpoint/2010/main" val="3101315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565DF79-CA11-4B4D-9ECB-BFB5E4B5BDD4}"/>
              </a:ext>
            </a:extLst>
          </p:cNvPr>
          <p:cNvSpPr txBox="1"/>
          <p:nvPr/>
        </p:nvSpPr>
        <p:spPr>
          <a:xfrm>
            <a:off x="1079500" y="1016000"/>
            <a:ext cx="7620000" cy="508000"/>
          </a:xfrm>
          <a:prstGeom prst="rect">
            <a:avLst/>
          </a:prstGeom>
          <a:noFill/>
        </p:spPr>
        <p:txBody>
          <a:bodyPr vertOverflow="overflow" vert="horz" wrap="square" rtlCol="0" anchor="t">
            <a:spAutoFit/>
          </a:bodyPr>
          <a:lstStyle/>
          <a:p>
            <a:pPr algn="l"/>
            <a:r>
              <a:rPr lang="es-CO" sz="2000">
                <a:solidFill>
                  <a:srgbClr val="8A95A3"/>
                </a:solidFill>
                <a:latin typeface="Inter"/>
              </a:rPr>
              <a:t>Can you answer this:</a:t>
            </a:r>
          </a:p>
        </p:txBody>
      </p:sp>
      <p:sp>
        <p:nvSpPr>
          <p:cNvPr id="3" name="CuadroTexto 2">
            <a:extLst>
              <a:ext uri="{FF2B5EF4-FFF2-40B4-BE49-F238E27FC236}">
                <a16:creationId xmlns:a16="http://schemas.microsoft.com/office/drawing/2014/main" id="{67FA28AC-C39D-104B-B6A2-61B9AF4A4E2B}"/>
              </a:ext>
            </a:extLst>
          </p:cNvPr>
          <p:cNvSpPr txBox="1"/>
          <p:nvPr/>
        </p:nvSpPr>
        <p:spPr>
          <a:xfrm>
            <a:off x="1079500" y="1778000"/>
            <a:ext cx="8890000" cy="1397000"/>
          </a:xfrm>
          <a:prstGeom prst="rect">
            <a:avLst/>
          </a:prstGeom>
          <a:noFill/>
        </p:spPr>
        <p:txBody>
          <a:bodyPr vertOverflow="overflow" vert="horz" wrap="square" rtlCol="0" anchor="t">
            <a:spAutoFit/>
          </a:bodyPr>
          <a:lstStyle/>
          <a:p>
            <a:pPr algn="l"/>
            <a:r>
              <a:rPr lang="es-CO" sz="2600" b="1">
                <a:solidFill>
                  <a:srgbClr val="C98B2B"/>
                </a:solidFill>
                <a:latin typeface="Inter"/>
              </a:rPr>
              <a:t>"What is your firm's written rule
on what data can go into AI tools?"</a:t>
            </a:r>
          </a:p>
        </p:txBody>
      </p:sp>
      <p:sp>
        <p:nvSpPr>
          <p:cNvPr id="4" name="CuadroTexto 3">
            <a:extLst>
              <a:ext uri="{FF2B5EF4-FFF2-40B4-BE49-F238E27FC236}">
                <a16:creationId xmlns:a16="http://schemas.microsoft.com/office/drawing/2014/main" id="{B8DFB158-8F4D-8F4A-B6AC-FBDCDE718B2C}"/>
              </a:ext>
            </a:extLst>
          </p:cNvPr>
          <p:cNvSpPr txBox="1"/>
          <p:nvPr/>
        </p:nvSpPr>
        <p:spPr>
          <a:xfrm>
            <a:off x="1079500" y="3683000"/>
            <a:ext cx="7620000" cy="889000"/>
          </a:xfrm>
          <a:prstGeom prst="rect">
            <a:avLst/>
          </a:prstGeom>
          <a:noFill/>
        </p:spPr>
        <p:txBody>
          <a:bodyPr vertOverflow="overflow" vert="horz" wrap="square" rtlCol="0" anchor="t">
            <a:spAutoFit/>
          </a:bodyPr>
          <a:lstStyle/>
          <a:p>
            <a:pPr algn="l"/>
            <a:r>
              <a:rPr lang="es-CO" sz="2000">
                <a:solidFill>
                  <a:srgbClr val="F3F6FA"/>
                </a:solidFill>
                <a:latin typeface="DM Sans"/>
              </a:rPr>
              <a:t>If the answer is 'we don't have one' —
that's exactly the gap.</a:t>
            </a:r>
          </a:p>
        </p:txBody>
      </p:sp>
      <p:sp>
        <p:nvSpPr>
          <p:cNvPr id="5" name="CuadroTexto 4">
            <a:extLst>
              <a:ext uri="{FF2B5EF4-FFF2-40B4-BE49-F238E27FC236}">
                <a16:creationId xmlns:a16="http://schemas.microsoft.com/office/drawing/2014/main" id="{B4FC16BD-715C-F648-8E85-EA0A0491744C}"/>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05 / 08</a:t>
            </a:r>
          </a:p>
        </p:txBody>
      </p:sp>
    </p:spTree>
    <p:extLst>
      <p:ext uri="{BB962C8B-B14F-4D97-AF65-F5344CB8AC3E}">
        <p14:creationId xmlns:p14="http://schemas.microsoft.com/office/powerpoint/2010/main" val="544745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E2BAB0-9226-B54B-A748-C9B694388103}"/>
              </a:ext>
            </a:extLst>
          </p:cNvPr>
          <p:cNvSpPr/>
          <p:nvPr/>
        </p:nvSpPr>
        <p:spPr>
          <a:xfrm>
            <a:off x="762000" y="762000"/>
            <a:ext cx="63500" cy="762000"/>
          </a:xfrm>
          <a:prstGeom prst="rect">
            <a:avLst/>
          </a:prstGeom>
          <a:solidFill>
            <a:srgbClr val="C98B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5414D7F7-5B7A-AA41-9774-D427248729B0}"/>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The fix isn't complicated.</a:t>
            </a:r>
          </a:p>
        </p:txBody>
      </p:sp>
      <p:sp>
        <p:nvSpPr>
          <p:cNvPr id="4" name="CuadroTexto 3">
            <a:extLst>
              <a:ext uri="{FF2B5EF4-FFF2-40B4-BE49-F238E27FC236}">
                <a16:creationId xmlns:a16="http://schemas.microsoft.com/office/drawing/2014/main" id="{086D49C5-A6E9-494C-9DDC-A363C7D11C02}"/>
              </a:ext>
            </a:extLst>
          </p:cNvPr>
          <p:cNvSpPr txBox="1"/>
          <p:nvPr/>
        </p:nvSpPr>
        <p:spPr>
          <a:xfrm>
            <a:off x="1079500" y="1397000"/>
            <a:ext cx="5080000" cy="381000"/>
          </a:xfrm>
          <a:prstGeom prst="rect">
            <a:avLst/>
          </a:prstGeom>
          <a:noFill/>
        </p:spPr>
        <p:txBody>
          <a:bodyPr vertOverflow="overflow" vert="horz" wrap="square" rtlCol="0" anchor="t">
            <a:spAutoFit/>
          </a:bodyPr>
          <a:lstStyle/>
          <a:p>
            <a:pPr algn="l"/>
            <a:r>
              <a:rPr lang="es-CO" sz="1600">
                <a:solidFill>
                  <a:srgbClr val="5A6677"/>
                </a:solidFill>
                <a:latin typeface="DM Sans"/>
              </a:rPr>
              <a:t>It's a 1-page document that says:</a:t>
            </a:r>
          </a:p>
        </p:txBody>
      </p:sp>
      <p:sp>
        <p:nvSpPr>
          <p:cNvPr id="5" name="Rectángulo redondeado 4">
            <a:extLst>
              <a:ext uri="{FF2B5EF4-FFF2-40B4-BE49-F238E27FC236}">
                <a16:creationId xmlns:a16="http://schemas.microsoft.com/office/drawing/2014/main" id="{DEEDF15E-574B-9541-9F1D-D7297D5DA022}"/>
              </a:ext>
            </a:extLst>
          </p:cNvPr>
          <p:cNvSpPr/>
          <p:nvPr/>
        </p:nvSpPr>
        <p:spPr>
          <a:xfrm>
            <a:off x="1079500" y="1968500"/>
            <a:ext cx="6985000" cy="2286000"/>
          </a:xfrm>
          <a:prstGeom prst="roundRect">
            <a:avLst/>
          </a:prstGeom>
          <a:solidFill>
            <a:srgbClr val="E8E3D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6AD439C4-4574-A749-8EE5-6148415B2ABB}"/>
              </a:ext>
            </a:extLst>
          </p:cNvPr>
          <p:cNvSpPr txBox="1"/>
          <p:nvPr/>
        </p:nvSpPr>
        <p:spPr>
          <a:xfrm>
            <a:off x="1333500" y="2159000"/>
            <a:ext cx="6477000" cy="2032000"/>
          </a:xfrm>
          <a:prstGeom prst="rect">
            <a:avLst/>
          </a:prstGeom>
          <a:noFill/>
        </p:spPr>
        <p:txBody>
          <a:bodyPr vertOverflow="overflow" vert="horz" wrap="square" rtlCol="0" anchor="t">
            <a:spAutoFit/>
          </a:bodyPr>
          <a:lstStyle/>
          <a:p>
            <a:pPr algn="l"/>
            <a:r>
              <a:rPr lang="es-CO" sz="1700">
                <a:solidFill>
                  <a:srgbClr val="1A2332"/>
                </a:solidFill>
                <a:latin typeface="DM Sans"/>
              </a:rPr>
              <a:t>→  These tools are approved
→  This data never goes in
→  This type of output needs review
→  This is how clients are informed</a:t>
            </a:r>
          </a:p>
        </p:txBody>
      </p:sp>
      <p:sp>
        <p:nvSpPr>
          <p:cNvPr id="7" name="CuadroTexto 6">
            <a:extLst>
              <a:ext uri="{FF2B5EF4-FFF2-40B4-BE49-F238E27FC236}">
                <a16:creationId xmlns:a16="http://schemas.microsoft.com/office/drawing/2014/main" id="{1B4E3DC6-1139-2546-8E8A-481994CF3C6E}"/>
              </a:ext>
            </a:extLst>
          </p:cNvPr>
          <p:cNvSpPr txBox="1"/>
          <p:nvPr/>
        </p:nvSpPr>
        <p:spPr>
          <a:xfrm>
            <a:off x="1079500" y="4572000"/>
            <a:ext cx="7620000" cy="762000"/>
          </a:xfrm>
          <a:prstGeom prst="rect">
            <a:avLst/>
          </a:prstGeom>
          <a:noFill/>
        </p:spPr>
        <p:txBody>
          <a:bodyPr vertOverflow="overflow" vert="horz" wrap="square" rtlCol="0" anchor="t">
            <a:spAutoFit/>
          </a:bodyPr>
          <a:lstStyle/>
          <a:p>
            <a:pPr algn="l"/>
            <a:r>
              <a:rPr lang="es-CO" sz="1700" b="1">
                <a:solidFill>
                  <a:srgbClr val="C98B2B"/>
                </a:solidFill>
                <a:latin typeface="DM Sans"/>
              </a:rPr>
              <a:t>That document takes 30 minutes to implement.
The awareness takes a sprint.</a:t>
            </a:r>
          </a:p>
        </p:txBody>
      </p:sp>
      <p:sp>
        <p:nvSpPr>
          <p:cNvPr id="8" name="CuadroTexto 7">
            <a:extLst>
              <a:ext uri="{FF2B5EF4-FFF2-40B4-BE49-F238E27FC236}">
                <a16:creationId xmlns:a16="http://schemas.microsoft.com/office/drawing/2014/main" id="{31EA7A2E-9E78-334E-A97E-C0127CA71B07}"/>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06 / 08</a:t>
            </a:r>
          </a:p>
        </p:txBody>
      </p:sp>
    </p:spTree>
    <p:extLst>
      <p:ext uri="{BB962C8B-B14F-4D97-AF65-F5344CB8AC3E}">
        <p14:creationId xmlns:p14="http://schemas.microsoft.com/office/powerpoint/2010/main" val="337999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32F1622E-2816-494A-84AF-3790C66B9E04}"/>
              </a:ext>
            </a:extLst>
          </p:cNvPr>
          <p:cNvSpPr/>
          <p:nvPr/>
        </p:nvSpPr>
        <p:spPr>
          <a:xfrm>
            <a:off x="762000" y="762000"/>
            <a:ext cx="63500" cy="762000"/>
          </a:xfrm>
          <a:prstGeom prst="rect">
            <a:avLst/>
          </a:prstGeom>
          <a:solidFill>
            <a:srgbClr val="C98B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23860094-278E-4443-B575-CDDE7F75F7BC}"/>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This is for you if:</a:t>
            </a:r>
          </a:p>
        </p:txBody>
      </p:sp>
      <p:sp>
        <p:nvSpPr>
          <p:cNvPr id="4" name="CuadroTexto 3">
            <a:extLst>
              <a:ext uri="{FF2B5EF4-FFF2-40B4-BE49-F238E27FC236}">
                <a16:creationId xmlns:a16="http://schemas.microsoft.com/office/drawing/2014/main" id="{9874DCE4-7B2E-C348-A54C-DA00ACAC2785}"/>
              </a:ext>
            </a:extLst>
          </p:cNvPr>
          <p:cNvSpPr txBox="1"/>
          <p:nvPr/>
        </p:nvSpPr>
        <p:spPr>
          <a:xfrm>
            <a:off x="1079500" y="1651000"/>
            <a:ext cx="8255000" cy="2794000"/>
          </a:xfrm>
          <a:prstGeom prst="rect">
            <a:avLst/>
          </a:prstGeom>
          <a:noFill/>
        </p:spPr>
        <p:txBody>
          <a:bodyPr vertOverflow="overflow" vert="horz" wrap="square" rtlCol="0" anchor="t">
            <a:spAutoFit/>
          </a:bodyPr>
          <a:lstStyle/>
          <a:p>
            <a:pPr algn="l"/>
            <a:r>
              <a:rPr lang="es-CO">
                <a:solidFill>
                  <a:srgbClr val="1A2332"/>
                </a:solidFill>
                <a:latin typeface="DM Sans"/>
              </a:rPr>
              <a:t>→  Your firm uses AI tools regularly
→  You have no written AI usage rule
→  Your client contracts predate 2023
→  You'd struggle to answer an auditor's
     question about your AI governance</a:t>
            </a:r>
          </a:p>
        </p:txBody>
      </p:sp>
      <p:sp>
        <p:nvSpPr>
          <p:cNvPr id="5" name="CuadroTexto 4">
            <a:extLst>
              <a:ext uri="{FF2B5EF4-FFF2-40B4-BE49-F238E27FC236}">
                <a16:creationId xmlns:a16="http://schemas.microsoft.com/office/drawing/2014/main" id="{30138098-C7C1-7845-858B-24B45BE50EC8}"/>
              </a:ext>
            </a:extLst>
          </p:cNvPr>
          <p:cNvSpPr txBox="1"/>
          <p:nvPr/>
        </p:nvSpPr>
        <p:spPr>
          <a:xfrm>
            <a:off x="1079500" y="4826000"/>
            <a:ext cx="6350000" cy="381000"/>
          </a:xfrm>
          <a:prstGeom prst="rect">
            <a:avLst/>
          </a:prstGeom>
          <a:noFill/>
        </p:spPr>
        <p:txBody>
          <a:bodyPr vertOverflow="overflow" vert="horz" wrap="square" rtlCol="0" anchor="t">
            <a:spAutoFit/>
          </a:bodyPr>
          <a:lstStyle/>
          <a:p>
            <a:pPr algn="l"/>
            <a:r>
              <a:rPr lang="es-CO" sz="1600" i="1">
                <a:solidFill>
                  <a:srgbClr val="5A6677"/>
                </a:solidFill>
                <a:latin typeface="DM Sans"/>
              </a:rPr>
              <a:t>(Most small firms check all four boxes.)</a:t>
            </a:r>
          </a:p>
        </p:txBody>
      </p:sp>
      <p:sp>
        <p:nvSpPr>
          <p:cNvPr id="6" name="CuadroTexto 5">
            <a:extLst>
              <a:ext uri="{FF2B5EF4-FFF2-40B4-BE49-F238E27FC236}">
                <a16:creationId xmlns:a16="http://schemas.microsoft.com/office/drawing/2014/main" id="{4E6EFDEE-0FBB-E34C-96C3-B3B73B02BEFA}"/>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07 / 08</a:t>
            </a:r>
          </a:p>
        </p:txBody>
      </p:sp>
    </p:spTree>
    <p:extLst>
      <p:ext uri="{BB962C8B-B14F-4D97-AF65-F5344CB8AC3E}">
        <p14:creationId xmlns:p14="http://schemas.microsoft.com/office/powerpoint/2010/main" val="1458140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C427B78-47E8-F742-90C7-B66E3A189F06}"/>
              </a:ext>
            </a:extLst>
          </p:cNvPr>
          <p:cNvSpPr/>
          <p:nvPr/>
        </p:nvSpPr>
        <p:spPr>
          <a:xfrm>
            <a:off x="0" y="0"/>
            <a:ext cx="12192000" cy="76200"/>
          </a:xfrm>
          <a:prstGeom prst="rect">
            <a:avLst/>
          </a:prstGeom>
          <a:solidFill>
            <a:srgbClr val="C98B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2D1B1B77-69A1-7A4A-A79A-E4158962F455}"/>
              </a:ext>
            </a:extLst>
          </p:cNvPr>
          <p:cNvSpPr txBox="1"/>
          <p:nvPr/>
        </p:nvSpPr>
        <p:spPr>
          <a:xfrm>
            <a:off x="1079500" y="1016000"/>
            <a:ext cx="7620000" cy="508000"/>
          </a:xfrm>
          <a:prstGeom prst="rect">
            <a:avLst/>
          </a:prstGeom>
          <a:noFill/>
        </p:spPr>
        <p:txBody>
          <a:bodyPr vertOverflow="overflow" vert="horz" wrap="square" rtlCol="0" anchor="t">
            <a:spAutoFit/>
          </a:bodyPr>
          <a:lstStyle/>
          <a:p>
            <a:pPr algn="l"/>
            <a:r>
              <a:rPr lang="es-CO" sz="2000">
                <a:solidFill>
                  <a:srgbClr val="8A95A3"/>
                </a:solidFill>
                <a:latin typeface="Inter"/>
              </a:rPr>
              <a:t>One question:</a:t>
            </a:r>
          </a:p>
        </p:txBody>
      </p:sp>
      <p:sp>
        <p:nvSpPr>
          <p:cNvPr id="4" name="CuadroTexto 3">
            <a:extLst>
              <a:ext uri="{FF2B5EF4-FFF2-40B4-BE49-F238E27FC236}">
                <a16:creationId xmlns:a16="http://schemas.microsoft.com/office/drawing/2014/main" id="{45F99D75-BC5C-1B43-84E4-EED406C76824}"/>
              </a:ext>
            </a:extLst>
          </p:cNvPr>
          <p:cNvSpPr txBox="1"/>
          <p:nvPr/>
        </p:nvSpPr>
        <p:spPr>
          <a:xfrm>
            <a:off x="1079500" y="1651000"/>
            <a:ext cx="8890000" cy="1143000"/>
          </a:xfrm>
          <a:prstGeom prst="rect">
            <a:avLst/>
          </a:prstGeom>
          <a:noFill/>
        </p:spPr>
        <p:txBody>
          <a:bodyPr vertOverflow="overflow" vert="horz" wrap="square" rtlCol="0" anchor="t">
            <a:spAutoFit/>
          </a:bodyPr>
          <a:lstStyle/>
          <a:p>
            <a:pPr algn="l"/>
            <a:r>
              <a:rPr lang="es-CO" sz="2600" b="1">
                <a:solidFill>
                  <a:srgbClr val="F3F6FA"/>
                </a:solidFill>
                <a:latin typeface="Inter"/>
              </a:rPr>
              <a:t>Does your firm have a written rule
on what data can go into AI tools?</a:t>
            </a:r>
          </a:p>
        </p:txBody>
      </p:sp>
      <p:sp>
        <p:nvSpPr>
          <p:cNvPr id="5" name="CuadroTexto 4">
            <a:extLst>
              <a:ext uri="{FF2B5EF4-FFF2-40B4-BE49-F238E27FC236}">
                <a16:creationId xmlns:a16="http://schemas.microsoft.com/office/drawing/2014/main" id="{EBEB9CF9-D4F1-2D4F-9FA8-543EF216D383}"/>
              </a:ext>
            </a:extLst>
          </p:cNvPr>
          <p:cNvSpPr txBox="1"/>
          <p:nvPr/>
        </p:nvSpPr>
        <p:spPr>
          <a:xfrm>
            <a:off x="1079500" y="3302000"/>
            <a:ext cx="7620000" cy="762000"/>
          </a:xfrm>
          <a:prstGeom prst="rect">
            <a:avLst/>
          </a:prstGeom>
          <a:noFill/>
        </p:spPr>
        <p:txBody>
          <a:bodyPr vertOverflow="overflow" vert="horz" wrap="square" rtlCol="0" anchor="t">
            <a:spAutoFit/>
          </a:bodyPr>
          <a:lstStyle/>
          <a:p>
            <a:pPr algn="l"/>
            <a:r>
              <a:rPr lang="es-CO">
                <a:solidFill>
                  <a:srgbClr val="C8CED8"/>
                </a:solidFill>
                <a:latin typeface="DM Sans"/>
              </a:rPr>
              <a:t>Answer in the comments.
I'll tell you if it's a risk — for free.</a:t>
            </a:r>
          </a:p>
        </p:txBody>
      </p:sp>
      <p:sp>
        <p:nvSpPr>
          <p:cNvPr id="6" name="Rectángulo redondeado 5">
            <a:extLst>
              <a:ext uri="{FF2B5EF4-FFF2-40B4-BE49-F238E27FC236}">
                <a16:creationId xmlns:a16="http://schemas.microsoft.com/office/drawing/2014/main" id="{802C6E0C-6E49-F940-8737-8F597B6FEEED}"/>
              </a:ext>
            </a:extLst>
          </p:cNvPr>
          <p:cNvSpPr/>
          <p:nvPr/>
        </p:nvSpPr>
        <p:spPr>
          <a:xfrm>
            <a:off x="1079500" y="4699000"/>
            <a:ext cx="6350000" cy="635000"/>
          </a:xfrm>
          <a:prstGeom prst="roundRect">
            <a:avLst/>
          </a:prstGeom>
          <a:solidFill>
            <a:srgbClr val="C98B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600" b="1">
                <a:solidFill>
                  <a:srgbClr val="FFFFFF"/>
                </a:solidFill>
                <a:latin typeface="DM Sans"/>
              </a:rPr>
              <a:t>💬  Comment your answer below — free risk check</a:t>
            </a:r>
          </a:p>
        </p:txBody>
      </p:sp>
      <p:sp>
        <p:nvSpPr>
          <p:cNvPr id="7" name="CuadroTexto 6">
            <a:extLst>
              <a:ext uri="{FF2B5EF4-FFF2-40B4-BE49-F238E27FC236}">
                <a16:creationId xmlns:a16="http://schemas.microsoft.com/office/drawing/2014/main" id="{C7785E02-6817-4441-8308-DBC545F74FF7}"/>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08 / 08</a:t>
            </a:r>
          </a:p>
        </p:txBody>
      </p:sp>
    </p:spTree>
    <p:extLst>
      <p:ext uri="{BB962C8B-B14F-4D97-AF65-F5344CB8AC3E}">
        <p14:creationId xmlns:p14="http://schemas.microsoft.com/office/powerpoint/2010/main" val="3920954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FB3B962-FF05-5443-92A5-95E25F5CE64F}"/>
              </a:ext>
            </a:extLst>
          </p:cNvPr>
          <p:cNvSpPr txBox="1"/>
          <p:nvPr/>
        </p:nvSpPr>
        <p:spPr>
          <a:xfrm>
            <a:off x="1016000" y="1270000"/>
            <a:ext cx="3810000" cy="508000"/>
          </a:xfrm>
          <a:prstGeom prst="rect">
            <a:avLst/>
          </a:prstGeom>
          <a:noFill/>
        </p:spPr>
        <p:txBody>
          <a:bodyPr vertOverflow="overflow" vert="horz" wrap="square" rtlCol="0" anchor="t">
            <a:spAutoFit/>
          </a:bodyPr>
          <a:lstStyle/>
          <a:p>
            <a:pPr algn="l"/>
            <a:r>
              <a:rPr lang="es-CO" sz="1400" b="1">
                <a:solidFill>
                  <a:srgbClr val="C4513E"/>
                </a:solidFill>
                <a:latin typeface="Inter"/>
              </a:rPr>
              <a:t>CAROUSEL 02</a:t>
            </a:r>
          </a:p>
        </p:txBody>
      </p:sp>
      <p:sp>
        <p:nvSpPr>
          <p:cNvPr id="3" name="Rectángulo 2">
            <a:extLst>
              <a:ext uri="{FF2B5EF4-FFF2-40B4-BE49-F238E27FC236}">
                <a16:creationId xmlns:a16="http://schemas.microsoft.com/office/drawing/2014/main" id="{E910A4F6-2EF9-434C-9CB5-66FA1531AFF3}"/>
              </a:ext>
            </a:extLst>
          </p:cNvPr>
          <p:cNvSpPr/>
          <p:nvPr/>
        </p:nvSpPr>
        <p:spPr>
          <a:xfrm>
            <a:off x="1016000" y="1905000"/>
            <a:ext cx="1016000" cy="63500"/>
          </a:xfrm>
          <a:prstGeom prst="rect">
            <a:avLst/>
          </a:prstGeom>
          <a:solidFill>
            <a:srgbClr val="C4513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4" name="CuadroTexto 3">
            <a:extLst>
              <a:ext uri="{FF2B5EF4-FFF2-40B4-BE49-F238E27FC236}">
                <a16:creationId xmlns:a16="http://schemas.microsoft.com/office/drawing/2014/main" id="{4F751B23-A1C3-334B-9BBA-3DF9807D7649}"/>
              </a:ext>
            </a:extLst>
          </p:cNvPr>
          <p:cNvSpPr txBox="1"/>
          <p:nvPr/>
        </p:nvSpPr>
        <p:spPr>
          <a:xfrm>
            <a:off x="1016000" y="2159000"/>
            <a:ext cx="7620000" cy="1524000"/>
          </a:xfrm>
          <a:prstGeom prst="rect">
            <a:avLst/>
          </a:prstGeom>
          <a:noFill/>
        </p:spPr>
        <p:txBody>
          <a:bodyPr vertOverflow="overflow" vert="horz" wrap="square" rtlCol="0" anchor="t">
            <a:spAutoFit/>
          </a:bodyPr>
          <a:lstStyle/>
          <a:p>
            <a:pPr algn="l"/>
            <a:r>
              <a:rPr lang="es-CO" sz="3600" b="1" dirty="0" err="1">
                <a:solidFill>
                  <a:srgbClr val="F3F6FA"/>
                </a:solidFill>
                <a:latin typeface="Inter"/>
              </a:rPr>
              <a:t>The</a:t>
            </a:r>
            <a:r>
              <a:rPr lang="es-CO" sz="3600" b="1" dirty="0">
                <a:solidFill>
                  <a:srgbClr val="F3F6FA"/>
                </a:solidFill>
                <a:latin typeface="Inter"/>
              </a:rPr>
              <a:t> 5 AI </a:t>
            </a:r>
            <a:r>
              <a:rPr lang="es-CO" sz="3600" b="1" dirty="0" err="1">
                <a:solidFill>
                  <a:srgbClr val="F3F6FA"/>
                </a:solidFill>
                <a:latin typeface="Inter"/>
              </a:rPr>
              <a:t>Risks</a:t>
            </a:r>
            <a:r>
              <a:rPr lang="es-CO" sz="3600" b="1" dirty="0">
                <a:solidFill>
                  <a:srgbClr val="F3F6FA"/>
                </a:solidFill>
                <a:latin typeface="Inter"/>
              </a:rPr>
              <a:t> Small
</a:t>
            </a:r>
            <a:r>
              <a:rPr lang="es-CO" sz="3600" b="1" dirty="0" err="1">
                <a:solidFill>
                  <a:srgbClr val="F3F6FA"/>
                </a:solidFill>
                <a:latin typeface="Inter"/>
              </a:rPr>
              <a:t>Firms</a:t>
            </a:r>
            <a:r>
              <a:rPr lang="es-CO" sz="3600" b="1" dirty="0">
                <a:solidFill>
                  <a:srgbClr val="F3F6FA"/>
                </a:solidFill>
                <a:latin typeface="Inter"/>
              </a:rPr>
              <a:t> </a:t>
            </a:r>
            <a:r>
              <a:rPr lang="es-CO" sz="3600" b="1" dirty="0" err="1">
                <a:solidFill>
                  <a:srgbClr val="F3F6FA"/>
                </a:solidFill>
                <a:latin typeface="Inter"/>
              </a:rPr>
              <a:t>Don't</a:t>
            </a:r>
            <a:r>
              <a:rPr lang="es-CO" sz="3600" b="1" dirty="0">
                <a:solidFill>
                  <a:srgbClr val="F3F6FA"/>
                </a:solidFill>
                <a:latin typeface="Inter"/>
              </a:rPr>
              <a:t> </a:t>
            </a:r>
            <a:r>
              <a:rPr lang="es-CO" sz="3600" b="1" dirty="0" err="1">
                <a:solidFill>
                  <a:srgbClr val="F3F6FA"/>
                </a:solidFill>
                <a:latin typeface="Inter"/>
              </a:rPr>
              <a:t>See</a:t>
            </a:r>
            <a:r>
              <a:rPr lang="es-CO" sz="3600" b="1" dirty="0">
                <a:solidFill>
                  <a:srgbClr val="F3F6FA"/>
                </a:solidFill>
                <a:latin typeface="Inter"/>
              </a:rPr>
              <a:t> </a:t>
            </a:r>
            <a:r>
              <a:rPr lang="es-CO" sz="3600" b="1" dirty="0" err="1">
                <a:solidFill>
                  <a:srgbClr val="F3F6FA"/>
                </a:solidFill>
                <a:latin typeface="Inter"/>
              </a:rPr>
              <a:t>Coming</a:t>
            </a:r>
            <a:endParaRPr lang="es-CO" sz="3600" b="1" dirty="0">
              <a:solidFill>
                <a:srgbClr val="F3F6FA"/>
              </a:solidFill>
              <a:latin typeface="Inter"/>
            </a:endParaRPr>
          </a:p>
        </p:txBody>
      </p:sp>
      <p:sp>
        <p:nvSpPr>
          <p:cNvPr id="5" name="CuadroTexto 4">
            <a:extLst>
              <a:ext uri="{FF2B5EF4-FFF2-40B4-BE49-F238E27FC236}">
                <a16:creationId xmlns:a16="http://schemas.microsoft.com/office/drawing/2014/main" id="{8B6988A7-397E-FC43-9D9F-D2A9117C3C79}"/>
              </a:ext>
            </a:extLst>
          </p:cNvPr>
          <p:cNvSpPr txBox="1"/>
          <p:nvPr/>
        </p:nvSpPr>
        <p:spPr>
          <a:xfrm>
            <a:off x="1016000" y="3937000"/>
            <a:ext cx="6350000" cy="381000"/>
          </a:xfrm>
          <a:prstGeom prst="rect">
            <a:avLst/>
          </a:prstGeom>
          <a:noFill/>
        </p:spPr>
        <p:txBody>
          <a:bodyPr vertOverflow="overflow" vert="horz" wrap="square" rtlCol="0" anchor="t">
            <a:spAutoFit/>
          </a:bodyPr>
          <a:lstStyle/>
          <a:p>
            <a:pPr algn="l"/>
            <a:r>
              <a:rPr lang="es-CO" sz="1400">
                <a:solidFill>
                  <a:srgbClr val="6B7584"/>
                </a:solidFill>
                <a:latin typeface="DM Sans"/>
              </a:rPr>
              <a:t>Day 3  •  8:00 AM EST  •  Education  •  7 Slides</a:t>
            </a:r>
          </a:p>
        </p:txBody>
      </p:sp>
      <p:sp>
        <p:nvSpPr>
          <p:cNvPr id="6" name="Rectángulo redondeado 5">
            <a:extLst>
              <a:ext uri="{FF2B5EF4-FFF2-40B4-BE49-F238E27FC236}">
                <a16:creationId xmlns:a16="http://schemas.microsoft.com/office/drawing/2014/main" id="{6BDC10B7-1612-FC45-AE1B-C988961F2150}"/>
              </a:ext>
            </a:extLst>
          </p:cNvPr>
          <p:cNvSpPr/>
          <p:nvPr/>
        </p:nvSpPr>
        <p:spPr>
          <a:xfrm>
            <a:off x="1016000" y="4699000"/>
            <a:ext cx="2540000" cy="508000"/>
          </a:xfrm>
          <a:prstGeom prst="roundRect">
            <a:avLst/>
          </a:prstGeom>
          <a:solidFill>
            <a:srgbClr val="C4513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400" b="1">
                <a:solidFill>
                  <a:srgbClr val="FFFFFF"/>
                </a:solidFill>
              </a:rPr>
              <a:t>Vermilion #C4513E</a:t>
            </a:r>
          </a:p>
        </p:txBody>
      </p:sp>
      <p:sp>
        <p:nvSpPr>
          <p:cNvPr id="7" name="CuadroTexto 6">
            <a:extLst>
              <a:ext uri="{FF2B5EF4-FFF2-40B4-BE49-F238E27FC236}">
                <a16:creationId xmlns:a16="http://schemas.microsoft.com/office/drawing/2014/main" id="{4A51AFE2-FF0A-7148-BA2B-406F0C4A4CF6}"/>
              </a:ext>
            </a:extLst>
          </p:cNvPr>
          <p:cNvSpPr txBox="1"/>
          <p:nvPr/>
        </p:nvSpPr>
        <p:spPr>
          <a:xfrm>
            <a:off x="9144000" y="1524000"/>
            <a:ext cx="2540000" cy="3810000"/>
          </a:xfrm>
          <a:prstGeom prst="rect">
            <a:avLst/>
          </a:prstGeom>
          <a:noFill/>
        </p:spPr>
        <p:txBody>
          <a:bodyPr vertOverflow="overflow" vert="horz" wrap="square" rtlCol="0" anchor="t">
            <a:spAutoFit/>
          </a:bodyPr>
          <a:lstStyle/>
          <a:p>
            <a:pPr algn="l"/>
            <a:r>
              <a:rPr lang="es-CO" sz="12000" b="1">
                <a:solidFill>
                  <a:srgbClr val="C4513E"/>
                </a:solidFill>
                <a:latin typeface="Inter"/>
              </a:rPr>
              <a:t>02</a:t>
            </a:r>
          </a:p>
        </p:txBody>
      </p:sp>
    </p:spTree>
    <p:extLst>
      <p:ext uri="{BB962C8B-B14F-4D97-AF65-F5344CB8AC3E}">
        <p14:creationId xmlns:p14="http://schemas.microsoft.com/office/powerpoint/2010/main" val="854784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6DBAB6E6-6BDD-F04A-A357-137D824892EB}"/>
              </a:ext>
            </a:extLst>
          </p:cNvPr>
          <p:cNvSpPr/>
          <p:nvPr/>
        </p:nvSpPr>
        <p:spPr>
          <a:xfrm>
            <a:off x="762000" y="1270000"/>
            <a:ext cx="63500" cy="3810000"/>
          </a:xfrm>
          <a:prstGeom prst="rect">
            <a:avLst/>
          </a:prstGeom>
          <a:solidFill>
            <a:srgbClr val="C4513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7B0D3790-7253-3948-BCFE-90C48CFC9234}"/>
              </a:ext>
            </a:extLst>
          </p:cNvPr>
          <p:cNvSpPr txBox="1"/>
          <p:nvPr/>
        </p:nvSpPr>
        <p:spPr>
          <a:xfrm>
            <a:off x="1079500" y="1270000"/>
            <a:ext cx="7620000" cy="1397000"/>
          </a:xfrm>
          <a:prstGeom prst="rect">
            <a:avLst/>
          </a:prstGeom>
          <a:noFill/>
        </p:spPr>
        <p:txBody>
          <a:bodyPr vertOverflow="overflow" vert="horz" wrap="square" rtlCol="0" anchor="t">
            <a:spAutoFit/>
          </a:bodyPr>
          <a:lstStyle/>
          <a:p>
            <a:pPr algn="l"/>
            <a:r>
              <a:rPr lang="es-CO" sz="3200" b="1">
                <a:solidFill>
                  <a:srgbClr val="F3F6FA"/>
                </a:solidFill>
                <a:latin typeface="Inter"/>
              </a:rPr>
              <a:t>5 AI risks that are
already in your business.</a:t>
            </a:r>
          </a:p>
        </p:txBody>
      </p:sp>
      <p:sp>
        <p:nvSpPr>
          <p:cNvPr id="4" name="CuadroTexto 3">
            <a:extLst>
              <a:ext uri="{FF2B5EF4-FFF2-40B4-BE49-F238E27FC236}">
                <a16:creationId xmlns:a16="http://schemas.microsoft.com/office/drawing/2014/main" id="{19CB5626-ED35-B74F-8F64-90EA29C16544}"/>
              </a:ext>
            </a:extLst>
          </p:cNvPr>
          <p:cNvSpPr txBox="1"/>
          <p:nvPr/>
        </p:nvSpPr>
        <p:spPr>
          <a:xfrm>
            <a:off x="1079500" y="3048000"/>
            <a:ext cx="7620000" cy="889000"/>
          </a:xfrm>
          <a:prstGeom prst="rect">
            <a:avLst/>
          </a:prstGeom>
          <a:noFill/>
        </p:spPr>
        <p:txBody>
          <a:bodyPr vertOverflow="overflow" vert="horz" wrap="square" rtlCol="0" anchor="t">
            <a:spAutoFit/>
          </a:bodyPr>
          <a:lstStyle/>
          <a:p>
            <a:pPr algn="l"/>
            <a:r>
              <a:rPr lang="es-CO" sz="2000" b="1">
                <a:solidFill>
                  <a:srgbClr val="C4513E"/>
                </a:solidFill>
                <a:latin typeface="DM Sans"/>
              </a:rPr>
              <a:t>Most small firms have 3 or more.
None require new laws to matter.</a:t>
            </a:r>
          </a:p>
        </p:txBody>
      </p:sp>
      <p:sp>
        <p:nvSpPr>
          <p:cNvPr id="5" name="CuadroTexto 4">
            <a:extLst>
              <a:ext uri="{FF2B5EF4-FFF2-40B4-BE49-F238E27FC236}">
                <a16:creationId xmlns:a16="http://schemas.microsoft.com/office/drawing/2014/main" id="{6F8160C1-08F7-C94A-A7EE-C7E74E8DA0E3}"/>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01 / 07</a:t>
            </a:r>
          </a:p>
        </p:txBody>
      </p:sp>
    </p:spTree>
    <p:extLst>
      <p:ext uri="{BB962C8B-B14F-4D97-AF65-F5344CB8AC3E}">
        <p14:creationId xmlns:p14="http://schemas.microsoft.com/office/powerpoint/2010/main" val="750673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762772EF-213A-7A4E-AFD3-8708F3CEAF83}"/>
              </a:ext>
            </a:extLst>
          </p:cNvPr>
          <p:cNvSpPr/>
          <p:nvPr/>
        </p:nvSpPr>
        <p:spPr>
          <a:xfrm>
            <a:off x="762000" y="762000"/>
            <a:ext cx="63500" cy="762000"/>
          </a:xfrm>
          <a:prstGeom prst="rect">
            <a:avLst/>
          </a:prstGeom>
          <a:solidFill>
            <a:srgbClr val="C4513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BC940CB4-8E7F-2648-B183-EAAF0026D1CC}"/>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C4513E"/>
                </a:solidFill>
                <a:latin typeface="Inter"/>
              </a:rPr>
              <a:t>Risk 1 — The Contract Gap</a:t>
            </a:r>
          </a:p>
        </p:txBody>
      </p:sp>
      <p:sp>
        <p:nvSpPr>
          <p:cNvPr id="4" name="CuadroTexto 3">
            <a:extLst>
              <a:ext uri="{FF2B5EF4-FFF2-40B4-BE49-F238E27FC236}">
                <a16:creationId xmlns:a16="http://schemas.microsoft.com/office/drawing/2014/main" id="{2B2BA4AC-49C0-6A42-84D5-18D781B152F5}"/>
              </a:ext>
            </a:extLst>
          </p:cNvPr>
          <p:cNvSpPr txBox="1"/>
          <p:nvPr/>
        </p:nvSpPr>
        <p:spPr>
          <a:xfrm>
            <a:off x="1079500" y="1524000"/>
            <a:ext cx="7620000" cy="3810000"/>
          </a:xfrm>
          <a:prstGeom prst="rect">
            <a:avLst/>
          </a:prstGeom>
          <a:noFill/>
        </p:spPr>
        <p:txBody>
          <a:bodyPr vertOverflow="overflow" vert="horz" wrap="square" rtlCol="0" anchor="t">
            <a:spAutoFit/>
          </a:bodyPr>
          <a:lstStyle/>
          <a:p>
            <a:pPr algn="l"/>
            <a:r>
              <a:rPr lang="es-CO">
                <a:solidFill>
                  <a:srgbClr val="1A2332"/>
                </a:solidFill>
                <a:latin typeface="DM Sans"/>
              </a:rPr>
              <a:t>Your client agreements were written
before your team started using AI.
Some have 'original work' clauses.
Some have 'no AI' clauses.
Most have nothing.
None of them reflect how
you actually work today.</a:t>
            </a:r>
          </a:p>
        </p:txBody>
      </p:sp>
      <p:sp>
        <p:nvSpPr>
          <p:cNvPr id="5" name="CuadroTexto 4">
            <a:extLst>
              <a:ext uri="{FF2B5EF4-FFF2-40B4-BE49-F238E27FC236}">
                <a16:creationId xmlns:a16="http://schemas.microsoft.com/office/drawing/2014/main" id="{97AD8F3A-5187-5145-826F-127E1658021A}"/>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02 / 07</a:t>
            </a:r>
          </a:p>
        </p:txBody>
      </p:sp>
    </p:spTree>
    <p:extLst>
      <p:ext uri="{BB962C8B-B14F-4D97-AF65-F5344CB8AC3E}">
        <p14:creationId xmlns:p14="http://schemas.microsoft.com/office/powerpoint/2010/main" val="2911317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87B3EAE-C193-FE41-A56B-03365D4ED7CB}"/>
              </a:ext>
            </a:extLst>
          </p:cNvPr>
          <p:cNvSpPr/>
          <p:nvPr/>
        </p:nvSpPr>
        <p:spPr>
          <a:xfrm>
            <a:off x="762000" y="762000"/>
            <a:ext cx="63500" cy="762000"/>
          </a:xfrm>
          <a:prstGeom prst="rect">
            <a:avLst/>
          </a:prstGeom>
          <a:solidFill>
            <a:srgbClr val="C4513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3BBFAA3C-1BDA-D642-88F7-E682357FF6A5}"/>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C4513E"/>
                </a:solidFill>
                <a:latin typeface="Inter"/>
              </a:rPr>
              <a:t>Risk 2 — The Data Prompt Problem</a:t>
            </a:r>
          </a:p>
        </p:txBody>
      </p:sp>
      <p:sp>
        <p:nvSpPr>
          <p:cNvPr id="4" name="CuadroTexto 3">
            <a:extLst>
              <a:ext uri="{FF2B5EF4-FFF2-40B4-BE49-F238E27FC236}">
                <a16:creationId xmlns:a16="http://schemas.microsoft.com/office/drawing/2014/main" id="{014C53B0-D134-E449-A349-BC6C0A9188ED}"/>
              </a:ext>
            </a:extLst>
          </p:cNvPr>
          <p:cNvSpPr txBox="1"/>
          <p:nvPr/>
        </p:nvSpPr>
        <p:spPr>
          <a:xfrm>
            <a:off x="1079500" y="1524000"/>
            <a:ext cx="7620000" cy="4064000"/>
          </a:xfrm>
          <a:prstGeom prst="rect">
            <a:avLst/>
          </a:prstGeom>
          <a:noFill/>
        </p:spPr>
        <p:txBody>
          <a:bodyPr vertOverflow="overflow" vert="horz" wrap="square" rtlCol="0" anchor="t">
            <a:spAutoFit/>
          </a:bodyPr>
          <a:lstStyle/>
          <a:p>
            <a:pPr algn="l"/>
            <a:r>
              <a:rPr lang="es-CO">
                <a:solidFill>
                  <a:srgbClr val="1A2332"/>
                </a:solidFill>
                <a:latin typeface="DM Sans"/>
              </a:rPr>
              <a:t>Your team pastes client information
into ChatGPT to get faster results.
Client names. Budget numbers.
Strategy docs. Contact lists.
No rule says they shouldn't.
No rule says they should either.
That ambiguity is the risk.</a:t>
            </a:r>
          </a:p>
        </p:txBody>
      </p:sp>
      <p:sp>
        <p:nvSpPr>
          <p:cNvPr id="5" name="CuadroTexto 4">
            <a:extLst>
              <a:ext uri="{FF2B5EF4-FFF2-40B4-BE49-F238E27FC236}">
                <a16:creationId xmlns:a16="http://schemas.microsoft.com/office/drawing/2014/main" id="{CFF7EFCF-ABF0-2C4D-AD5C-E206FCC82F92}"/>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03 / 07</a:t>
            </a:r>
          </a:p>
        </p:txBody>
      </p:sp>
    </p:spTree>
    <p:extLst>
      <p:ext uri="{BB962C8B-B14F-4D97-AF65-F5344CB8AC3E}">
        <p14:creationId xmlns:p14="http://schemas.microsoft.com/office/powerpoint/2010/main" val="2185619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690E9019-EF82-2647-8355-543AA75E52B7}"/>
              </a:ext>
            </a:extLst>
          </p:cNvPr>
          <p:cNvSpPr/>
          <p:nvPr/>
        </p:nvSpPr>
        <p:spPr>
          <a:xfrm>
            <a:off x="762000" y="762000"/>
            <a:ext cx="63500" cy="762000"/>
          </a:xfrm>
          <a:prstGeom prst="rect">
            <a:avLst/>
          </a:prstGeom>
          <a:solidFill>
            <a:srgbClr val="C4513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060CE541-AB3F-C943-A78F-7A3D6F38A3FB}"/>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C4513E"/>
                </a:solidFill>
                <a:latin typeface="Inter"/>
              </a:rPr>
              <a:t>Risk 3 — The Review Gap</a:t>
            </a:r>
          </a:p>
        </p:txBody>
      </p:sp>
      <p:sp>
        <p:nvSpPr>
          <p:cNvPr id="4" name="CuadroTexto 3">
            <a:extLst>
              <a:ext uri="{FF2B5EF4-FFF2-40B4-BE49-F238E27FC236}">
                <a16:creationId xmlns:a16="http://schemas.microsoft.com/office/drawing/2014/main" id="{A0B7D6CB-3FE6-5C4B-89AD-C92C90990232}"/>
              </a:ext>
            </a:extLst>
          </p:cNvPr>
          <p:cNvSpPr txBox="1"/>
          <p:nvPr/>
        </p:nvSpPr>
        <p:spPr>
          <a:xfrm>
            <a:off x="1079500" y="1524000"/>
            <a:ext cx="7620000" cy="3810000"/>
          </a:xfrm>
          <a:prstGeom prst="rect">
            <a:avLst/>
          </a:prstGeom>
          <a:noFill/>
        </p:spPr>
        <p:txBody>
          <a:bodyPr vertOverflow="overflow" vert="horz" wrap="square" rtlCol="0" anchor="t">
            <a:spAutoFit/>
          </a:bodyPr>
          <a:lstStyle/>
          <a:p>
            <a:pPr algn="l"/>
            <a:r>
              <a:rPr lang="es-CO">
                <a:solidFill>
                  <a:srgbClr val="1A2332"/>
                </a:solidFill>
                <a:latin typeface="DM Sans"/>
              </a:rPr>
              <a:t>AI generates the output.
The employee sends it to the client.
No one defined when a human
must review before it goes out.
Different employees. Different standards.
Same client. Different quality.</a:t>
            </a:r>
          </a:p>
        </p:txBody>
      </p:sp>
      <p:sp>
        <p:nvSpPr>
          <p:cNvPr id="5" name="CuadroTexto 4">
            <a:extLst>
              <a:ext uri="{FF2B5EF4-FFF2-40B4-BE49-F238E27FC236}">
                <a16:creationId xmlns:a16="http://schemas.microsoft.com/office/drawing/2014/main" id="{675D9849-9DB4-0449-A59C-5BE58F5ECD55}"/>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04 / 07</a:t>
            </a:r>
          </a:p>
        </p:txBody>
      </p:sp>
    </p:spTree>
    <p:extLst>
      <p:ext uri="{BB962C8B-B14F-4D97-AF65-F5344CB8AC3E}">
        <p14:creationId xmlns:p14="http://schemas.microsoft.com/office/powerpoint/2010/main" val="1185795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09B7058-95CB-BF43-8AD0-3E4E5E4B40C5}"/>
              </a:ext>
            </a:extLst>
          </p:cNvPr>
          <p:cNvSpPr/>
          <p:nvPr/>
        </p:nvSpPr>
        <p:spPr>
          <a:xfrm>
            <a:off x="762000" y="762000"/>
            <a:ext cx="63500" cy="762000"/>
          </a:xfrm>
          <a:prstGeom prst="rect">
            <a:avLst/>
          </a:prstGeom>
          <a:solidFill>
            <a:srgbClr val="C4513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64E4A0FD-F6E3-D24F-A904-2BBE310C9EFA}"/>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C4513E"/>
                </a:solidFill>
                <a:latin typeface="Inter"/>
              </a:rPr>
              <a:t>Risk 4 — The Disclosure Trigger</a:t>
            </a:r>
          </a:p>
        </p:txBody>
      </p:sp>
      <p:sp>
        <p:nvSpPr>
          <p:cNvPr id="4" name="CuadroTexto 3">
            <a:extLst>
              <a:ext uri="{FF2B5EF4-FFF2-40B4-BE49-F238E27FC236}">
                <a16:creationId xmlns:a16="http://schemas.microsoft.com/office/drawing/2014/main" id="{13A5E1A9-2380-2742-B863-1DAEE78AF6F2}"/>
              </a:ext>
            </a:extLst>
          </p:cNvPr>
          <p:cNvSpPr txBox="1"/>
          <p:nvPr/>
        </p:nvSpPr>
        <p:spPr>
          <a:xfrm>
            <a:off x="1079500" y="1524000"/>
            <a:ext cx="7620000" cy="4064000"/>
          </a:xfrm>
          <a:prstGeom prst="rect">
            <a:avLst/>
          </a:prstGeom>
          <a:noFill/>
        </p:spPr>
        <p:txBody>
          <a:bodyPr vertOverflow="overflow" vert="horz" wrap="square" rtlCol="0" anchor="t">
            <a:spAutoFit/>
          </a:bodyPr>
          <a:lstStyle/>
          <a:p>
            <a:pPr algn="l"/>
            <a:r>
              <a:rPr lang="es-CO">
                <a:solidFill>
                  <a:srgbClr val="1A2332"/>
                </a:solidFill>
                <a:latin typeface="DM Sans"/>
              </a:rPr>
              <a:t>Your clients don't know
AI is involved in their work.
When they find out — and they will —
the question becomes:
'Why didn't you tell us?'
That's a trust problem, not a legal one.
Trust problems are harder to fix.</a:t>
            </a:r>
          </a:p>
        </p:txBody>
      </p:sp>
      <p:sp>
        <p:nvSpPr>
          <p:cNvPr id="5" name="CuadroTexto 4">
            <a:extLst>
              <a:ext uri="{FF2B5EF4-FFF2-40B4-BE49-F238E27FC236}">
                <a16:creationId xmlns:a16="http://schemas.microsoft.com/office/drawing/2014/main" id="{CCDE79B5-C6CE-5E45-9A5A-F8CBB9EF229A}"/>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05 / 07</a:t>
            </a:r>
          </a:p>
        </p:txBody>
      </p:sp>
    </p:spTree>
    <p:extLst>
      <p:ext uri="{BB962C8B-B14F-4D97-AF65-F5344CB8AC3E}">
        <p14:creationId xmlns:p14="http://schemas.microsoft.com/office/powerpoint/2010/main" val="291943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618E05A-7E74-A34A-B9BA-88952798AFF1}"/>
              </a:ext>
            </a:extLst>
          </p:cNvPr>
          <p:cNvSpPr/>
          <p:nvPr/>
        </p:nvSpPr>
        <p:spPr>
          <a:xfrm>
            <a:off x="762000" y="762000"/>
            <a:ext cx="63500" cy="762000"/>
          </a:xfrm>
          <a:prstGeom prst="rect">
            <a:avLst/>
          </a:prstGeom>
          <a:solidFill>
            <a:srgbClr val="C4513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8E17D291-93B6-AB4C-8B41-938EFEC9777A}"/>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C4513E"/>
                </a:solidFill>
                <a:latin typeface="Inter"/>
              </a:rPr>
              <a:t>Risk 5 — The Tool Sprawl</a:t>
            </a:r>
          </a:p>
        </p:txBody>
      </p:sp>
      <p:sp>
        <p:nvSpPr>
          <p:cNvPr id="4" name="CuadroTexto 3">
            <a:extLst>
              <a:ext uri="{FF2B5EF4-FFF2-40B4-BE49-F238E27FC236}">
                <a16:creationId xmlns:a16="http://schemas.microsoft.com/office/drawing/2014/main" id="{F8323087-4E46-5145-997A-9583C876607D}"/>
              </a:ext>
            </a:extLst>
          </p:cNvPr>
          <p:cNvSpPr txBox="1"/>
          <p:nvPr/>
        </p:nvSpPr>
        <p:spPr>
          <a:xfrm>
            <a:off x="1079500" y="1524000"/>
            <a:ext cx="7620000" cy="3810000"/>
          </a:xfrm>
          <a:prstGeom prst="rect">
            <a:avLst/>
          </a:prstGeom>
          <a:noFill/>
        </p:spPr>
        <p:txBody>
          <a:bodyPr vertOverflow="overflow" vert="horz" wrap="square" rtlCol="0" anchor="t">
            <a:spAutoFit/>
          </a:bodyPr>
          <a:lstStyle/>
          <a:p>
            <a:pPr algn="l"/>
            <a:r>
              <a:rPr lang="es-CO">
                <a:solidFill>
                  <a:srgbClr val="1A2332"/>
                </a:solidFill>
                <a:latin typeface="DM Sans"/>
              </a:rPr>
              <a:t>New AI tools launch every week.
Your team tries them.
Nobody approves them.
Each new tool is a new data handler
with new terms and new risks.
No one is tracking what gets in.</a:t>
            </a:r>
          </a:p>
        </p:txBody>
      </p:sp>
      <p:sp>
        <p:nvSpPr>
          <p:cNvPr id="5" name="CuadroTexto 4">
            <a:extLst>
              <a:ext uri="{FF2B5EF4-FFF2-40B4-BE49-F238E27FC236}">
                <a16:creationId xmlns:a16="http://schemas.microsoft.com/office/drawing/2014/main" id="{12083258-3CFB-5D49-B01E-951D34E99E6D}"/>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06 / 07</a:t>
            </a:r>
          </a:p>
        </p:txBody>
      </p:sp>
    </p:spTree>
    <p:extLst>
      <p:ext uri="{BB962C8B-B14F-4D97-AF65-F5344CB8AC3E}">
        <p14:creationId xmlns:p14="http://schemas.microsoft.com/office/powerpoint/2010/main" val="3141001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537FAFA-2D16-564F-BA43-346EDC462CB6}"/>
              </a:ext>
            </a:extLst>
          </p:cNvPr>
          <p:cNvSpPr/>
          <p:nvPr/>
        </p:nvSpPr>
        <p:spPr>
          <a:xfrm>
            <a:off x="0" y="0"/>
            <a:ext cx="12192000" cy="76200"/>
          </a:xfrm>
          <a:prstGeom prst="rect">
            <a:avLst/>
          </a:prstGeom>
          <a:solidFill>
            <a:srgbClr val="C4513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0AE8AEB2-66E7-EE46-A342-B708D5BC44BE}"/>
              </a:ext>
            </a:extLst>
          </p:cNvPr>
          <p:cNvSpPr txBox="1"/>
          <p:nvPr/>
        </p:nvSpPr>
        <p:spPr>
          <a:xfrm>
            <a:off x="1079500" y="762000"/>
            <a:ext cx="7620000" cy="889000"/>
          </a:xfrm>
          <a:prstGeom prst="rect">
            <a:avLst/>
          </a:prstGeom>
          <a:noFill/>
        </p:spPr>
        <p:txBody>
          <a:bodyPr vertOverflow="overflow" vert="horz" wrap="square" rtlCol="0" anchor="t">
            <a:spAutoFit/>
          </a:bodyPr>
          <a:lstStyle/>
          <a:p>
            <a:pPr algn="l"/>
            <a:r>
              <a:rPr lang="es-CO" sz="2600" b="1">
                <a:solidFill>
                  <a:srgbClr val="F3F6FA"/>
                </a:solidFill>
                <a:latin typeface="Inter"/>
              </a:rPr>
              <a:t>How many of these
does your firm have?</a:t>
            </a:r>
          </a:p>
        </p:txBody>
      </p:sp>
      <p:sp>
        <p:nvSpPr>
          <p:cNvPr id="4" name="CuadroTexto 3">
            <a:extLst>
              <a:ext uri="{FF2B5EF4-FFF2-40B4-BE49-F238E27FC236}">
                <a16:creationId xmlns:a16="http://schemas.microsoft.com/office/drawing/2014/main" id="{8306C403-002D-4E43-8405-40ACAE67B5A6}"/>
              </a:ext>
            </a:extLst>
          </p:cNvPr>
          <p:cNvSpPr txBox="1"/>
          <p:nvPr/>
        </p:nvSpPr>
        <p:spPr>
          <a:xfrm>
            <a:off x="1079500" y="1968500"/>
            <a:ext cx="6350000" cy="2032000"/>
          </a:xfrm>
          <a:prstGeom prst="rect">
            <a:avLst/>
          </a:prstGeom>
          <a:noFill/>
        </p:spPr>
        <p:txBody>
          <a:bodyPr vertOverflow="overflow" vert="horz" wrap="square" rtlCol="0" anchor="t">
            <a:spAutoFit/>
          </a:bodyPr>
          <a:lstStyle/>
          <a:p>
            <a:pPr algn="l"/>
            <a:r>
              <a:rPr lang="es-CO">
                <a:solidFill>
                  <a:srgbClr val="C8CED8"/>
                </a:solidFill>
                <a:latin typeface="DM Sans"/>
              </a:rPr>
              <a:t>→  The Contract Gap
→  The Data Prompt Problem
→  The Review Gap
→  The Disclosure Trigger
→  The Tool Sprawl</a:t>
            </a:r>
          </a:p>
        </p:txBody>
      </p:sp>
      <p:sp>
        <p:nvSpPr>
          <p:cNvPr id="5" name="CuadroTexto 4">
            <a:extLst>
              <a:ext uri="{FF2B5EF4-FFF2-40B4-BE49-F238E27FC236}">
                <a16:creationId xmlns:a16="http://schemas.microsoft.com/office/drawing/2014/main" id="{4F3FD3F0-377B-4C49-BE1C-83ABB116CB13}"/>
              </a:ext>
            </a:extLst>
          </p:cNvPr>
          <p:cNvSpPr txBox="1"/>
          <p:nvPr/>
        </p:nvSpPr>
        <p:spPr>
          <a:xfrm>
            <a:off x="1079500" y="4191000"/>
            <a:ext cx="6350000" cy="635000"/>
          </a:xfrm>
          <a:prstGeom prst="rect">
            <a:avLst/>
          </a:prstGeom>
          <a:noFill/>
        </p:spPr>
        <p:txBody>
          <a:bodyPr vertOverflow="overflow" vert="horz" wrap="square" rtlCol="0" anchor="t">
            <a:spAutoFit/>
          </a:bodyPr>
          <a:lstStyle/>
          <a:p>
            <a:pPr algn="l"/>
            <a:r>
              <a:rPr lang="es-CO" sz="1700">
                <a:solidFill>
                  <a:srgbClr val="8A95A3"/>
                </a:solidFill>
                <a:latin typeface="DM Sans"/>
              </a:rPr>
              <a:t>Comment the number.
No judgment. Most firms score 3–5.</a:t>
            </a:r>
          </a:p>
        </p:txBody>
      </p:sp>
      <p:sp>
        <p:nvSpPr>
          <p:cNvPr id="6" name="Rectángulo redondeado 5">
            <a:extLst>
              <a:ext uri="{FF2B5EF4-FFF2-40B4-BE49-F238E27FC236}">
                <a16:creationId xmlns:a16="http://schemas.microsoft.com/office/drawing/2014/main" id="{EF1DFD15-39BC-5541-BE50-06276CB183A0}"/>
              </a:ext>
            </a:extLst>
          </p:cNvPr>
          <p:cNvSpPr/>
          <p:nvPr/>
        </p:nvSpPr>
        <p:spPr>
          <a:xfrm>
            <a:off x="1079500" y="5207000"/>
            <a:ext cx="6604000" cy="635000"/>
          </a:xfrm>
          <a:prstGeom prst="roundRect">
            <a:avLst/>
          </a:prstGeom>
          <a:solidFill>
            <a:srgbClr val="C4513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600" b="1">
                <a:solidFill>
                  <a:srgbClr val="FFFFFF"/>
                </a:solidFill>
                <a:latin typeface="DM Sans"/>
              </a:rPr>
              <a:t>💬  Comment your score: 0 / 1 / 2 / 3 / 4 / 5</a:t>
            </a:r>
          </a:p>
        </p:txBody>
      </p:sp>
      <p:sp>
        <p:nvSpPr>
          <p:cNvPr id="7" name="CuadroTexto 6">
            <a:extLst>
              <a:ext uri="{FF2B5EF4-FFF2-40B4-BE49-F238E27FC236}">
                <a16:creationId xmlns:a16="http://schemas.microsoft.com/office/drawing/2014/main" id="{4D66B437-3CE0-CE45-BB22-8B8F8EBEB87E}"/>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07 / 07</a:t>
            </a:r>
          </a:p>
        </p:txBody>
      </p:sp>
    </p:spTree>
    <p:extLst>
      <p:ext uri="{BB962C8B-B14F-4D97-AF65-F5344CB8AC3E}">
        <p14:creationId xmlns:p14="http://schemas.microsoft.com/office/powerpoint/2010/main" val="2223807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1EA9D5F-9D2C-014E-9132-2F94FD3EF798}"/>
              </a:ext>
            </a:extLst>
          </p:cNvPr>
          <p:cNvSpPr txBox="1"/>
          <p:nvPr/>
        </p:nvSpPr>
        <p:spPr>
          <a:xfrm>
            <a:off x="1016000" y="1270000"/>
            <a:ext cx="3810000" cy="508000"/>
          </a:xfrm>
          <a:prstGeom prst="rect">
            <a:avLst/>
          </a:prstGeom>
          <a:noFill/>
        </p:spPr>
        <p:txBody>
          <a:bodyPr vertOverflow="overflow" vert="horz" wrap="square" rtlCol="0" anchor="t">
            <a:spAutoFit/>
          </a:bodyPr>
          <a:lstStyle/>
          <a:p>
            <a:pPr algn="l"/>
            <a:r>
              <a:rPr lang="es-CO" sz="1400"/>
              <a:t>CAROUSEL 03</a:t>
            </a:r>
          </a:p>
        </p:txBody>
      </p:sp>
      <p:sp>
        <p:nvSpPr>
          <p:cNvPr id="3" name="CuadroTexto 2">
            <a:extLst>
              <a:ext uri="{FF2B5EF4-FFF2-40B4-BE49-F238E27FC236}">
                <a16:creationId xmlns:a16="http://schemas.microsoft.com/office/drawing/2014/main" id="{3A404FE9-5D3F-B145-ACCD-978A2FE13151}"/>
              </a:ext>
            </a:extLst>
          </p:cNvPr>
          <p:cNvSpPr txBox="1"/>
          <p:nvPr/>
        </p:nvSpPr>
        <p:spPr>
          <a:xfrm>
            <a:off x="1016000" y="1270000"/>
            <a:ext cx="3810000" cy="508000"/>
          </a:xfrm>
          <a:prstGeom prst="rect">
            <a:avLst/>
          </a:prstGeom>
          <a:noFill/>
        </p:spPr>
        <p:txBody>
          <a:bodyPr vertOverflow="overflow" vert="horz" wrap="square" rtlCol="0" anchor="t">
            <a:spAutoFit/>
          </a:bodyPr>
          <a:lstStyle/>
          <a:p>
            <a:pPr algn="l"/>
            <a:r>
              <a:rPr lang="es-CO"/>
              <a:t>CAROUSEL 03</a:t>
            </a:r>
          </a:p>
        </p:txBody>
      </p:sp>
      <p:sp>
        <p:nvSpPr>
          <p:cNvPr id="4" name="CuadroTexto 3">
            <a:extLst>
              <a:ext uri="{FF2B5EF4-FFF2-40B4-BE49-F238E27FC236}">
                <a16:creationId xmlns:a16="http://schemas.microsoft.com/office/drawing/2014/main" id="{9003FBD8-5256-D548-B70F-0E6095A794E8}"/>
              </a:ext>
            </a:extLst>
          </p:cNvPr>
          <p:cNvSpPr txBox="1"/>
          <p:nvPr/>
        </p:nvSpPr>
        <p:spPr>
          <a:xfrm>
            <a:off x="1016000" y="1270000"/>
            <a:ext cx="3810000" cy="508000"/>
          </a:xfrm>
          <a:prstGeom prst="rect">
            <a:avLst/>
          </a:prstGeom>
          <a:noFill/>
        </p:spPr>
        <p:txBody>
          <a:bodyPr vertOverflow="overflow" vert="horz" wrap="square" rtlCol="0" anchor="t">
            <a:spAutoFit/>
          </a:bodyPr>
          <a:lstStyle/>
          <a:p>
            <a:pPr algn="l"/>
            <a:r>
              <a:rPr lang="es-CO" sz="1400" b="1">
                <a:solidFill>
                  <a:srgbClr val="2F5DA8"/>
                </a:solidFill>
                <a:latin typeface="Inter"/>
              </a:rPr>
              <a:t>CAROUSEL 03</a:t>
            </a:r>
          </a:p>
        </p:txBody>
      </p:sp>
      <p:sp>
        <p:nvSpPr>
          <p:cNvPr id="5" name="Rectángulo 4">
            <a:extLst>
              <a:ext uri="{FF2B5EF4-FFF2-40B4-BE49-F238E27FC236}">
                <a16:creationId xmlns:a16="http://schemas.microsoft.com/office/drawing/2014/main" id="{0BE5E19B-C52E-A04D-A99E-9249211107E2}"/>
              </a:ext>
            </a:extLst>
          </p:cNvPr>
          <p:cNvSpPr/>
          <p:nvPr/>
        </p:nvSpPr>
        <p:spPr>
          <a:xfrm>
            <a:off x="1016000" y="1905000"/>
            <a:ext cx="1016000" cy="63500"/>
          </a:xfrm>
          <a:prstGeom prst="rect">
            <a:avLst/>
          </a:prstGeom>
          <a:solidFill>
            <a:srgbClr val="2F5D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5760B823-92BE-A14D-8999-69CEA0C4A125}"/>
              </a:ext>
            </a:extLst>
          </p:cNvPr>
          <p:cNvSpPr txBox="1"/>
          <p:nvPr/>
        </p:nvSpPr>
        <p:spPr>
          <a:xfrm>
            <a:off x="1016000" y="2159000"/>
            <a:ext cx="7620000" cy="1524000"/>
          </a:xfrm>
          <a:prstGeom prst="rect">
            <a:avLst/>
          </a:prstGeom>
          <a:noFill/>
        </p:spPr>
        <p:txBody>
          <a:bodyPr vertOverflow="overflow" vert="horz" wrap="square" rtlCol="0" anchor="t">
            <a:spAutoFit/>
          </a:bodyPr>
          <a:lstStyle/>
          <a:p>
            <a:pPr algn="l"/>
            <a:r>
              <a:rPr lang="es-CO" sz="3600" b="1">
                <a:solidFill>
                  <a:srgbClr val="F3F6FA"/>
                </a:solidFill>
                <a:latin typeface="Inter"/>
              </a:rPr>
              <a:t>The AI Governance Stack
Every Small Firm Needs</a:t>
            </a:r>
          </a:p>
        </p:txBody>
      </p:sp>
      <p:sp>
        <p:nvSpPr>
          <p:cNvPr id="7" name="CuadroTexto 6">
            <a:extLst>
              <a:ext uri="{FF2B5EF4-FFF2-40B4-BE49-F238E27FC236}">
                <a16:creationId xmlns:a16="http://schemas.microsoft.com/office/drawing/2014/main" id="{BABD63DB-04E4-B644-8026-F3E83EC4C14D}"/>
              </a:ext>
            </a:extLst>
          </p:cNvPr>
          <p:cNvSpPr txBox="1"/>
          <p:nvPr/>
        </p:nvSpPr>
        <p:spPr>
          <a:xfrm>
            <a:off x="1016000" y="3937000"/>
            <a:ext cx="6350000" cy="381000"/>
          </a:xfrm>
          <a:prstGeom prst="rect">
            <a:avLst/>
          </a:prstGeom>
          <a:noFill/>
        </p:spPr>
        <p:txBody>
          <a:bodyPr vertOverflow="overflow" vert="horz" wrap="square" rtlCol="0" anchor="t">
            <a:spAutoFit/>
          </a:bodyPr>
          <a:lstStyle/>
          <a:p>
            <a:pPr algn="l"/>
            <a:r>
              <a:rPr lang="es-CO" sz="1400">
                <a:solidFill>
                  <a:srgbClr val="6B7584"/>
                </a:solidFill>
                <a:latin typeface="DM Sans"/>
              </a:rPr>
              <a:t>Day 5  •  8:00 AM EST  •  Framework  •  8 Slides</a:t>
            </a:r>
          </a:p>
        </p:txBody>
      </p:sp>
      <p:sp>
        <p:nvSpPr>
          <p:cNvPr id="8" name="Rectángulo redondeado 7">
            <a:extLst>
              <a:ext uri="{FF2B5EF4-FFF2-40B4-BE49-F238E27FC236}">
                <a16:creationId xmlns:a16="http://schemas.microsoft.com/office/drawing/2014/main" id="{E8A4EDD4-A952-BA40-A63F-8ED5C8CE6574}"/>
              </a:ext>
            </a:extLst>
          </p:cNvPr>
          <p:cNvSpPr/>
          <p:nvPr/>
        </p:nvSpPr>
        <p:spPr>
          <a:xfrm>
            <a:off x="1016000" y="4699000"/>
            <a:ext cx="2286000" cy="508000"/>
          </a:xfrm>
          <a:prstGeom prst="roundRect">
            <a:avLst/>
          </a:prstGeom>
          <a:solidFill>
            <a:srgbClr val="2F5D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r>
              <a:rPr lang="es-CO" sz="1400"/>
              <a:t>Cobalt #2F5DA8</a:t>
            </a:r>
          </a:p>
        </p:txBody>
      </p:sp>
    </p:spTree>
    <p:extLst>
      <p:ext uri="{BB962C8B-B14F-4D97-AF65-F5344CB8AC3E}">
        <p14:creationId xmlns:p14="http://schemas.microsoft.com/office/powerpoint/2010/main" val="2592500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8602769-B77F-A040-AC15-B0F978BCD603}"/>
              </a:ext>
            </a:extLst>
          </p:cNvPr>
          <p:cNvSpPr txBox="1"/>
          <p:nvPr/>
        </p:nvSpPr>
        <p:spPr>
          <a:xfrm>
            <a:off x="1016000" y="1270000"/>
            <a:ext cx="3810000" cy="508000"/>
          </a:xfrm>
          <a:prstGeom prst="rect">
            <a:avLst/>
          </a:prstGeom>
          <a:noFill/>
        </p:spPr>
        <p:txBody>
          <a:bodyPr vertOverflow="overflow" vert="horz" wrap="square" rtlCol="0" anchor="t">
            <a:spAutoFit/>
          </a:bodyPr>
          <a:lstStyle/>
          <a:p>
            <a:pPr algn="l"/>
            <a:r>
              <a:rPr lang="es-CO" sz="1400" b="1">
                <a:solidFill>
                  <a:srgbClr val="2F5DA8"/>
                </a:solidFill>
                <a:latin typeface="Inter"/>
              </a:rPr>
              <a:t>CAROUSEL 03</a:t>
            </a:r>
          </a:p>
        </p:txBody>
      </p:sp>
      <p:sp>
        <p:nvSpPr>
          <p:cNvPr id="3" name="Rectángulo 2">
            <a:extLst>
              <a:ext uri="{FF2B5EF4-FFF2-40B4-BE49-F238E27FC236}">
                <a16:creationId xmlns:a16="http://schemas.microsoft.com/office/drawing/2014/main" id="{FB01459E-3ED4-FF47-87AA-AEE48034FD42}"/>
              </a:ext>
            </a:extLst>
          </p:cNvPr>
          <p:cNvSpPr/>
          <p:nvPr/>
        </p:nvSpPr>
        <p:spPr>
          <a:xfrm>
            <a:off x="1016000" y="1905000"/>
            <a:ext cx="1016000" cy="63500"/>
          </a:xfrm>
          <a:prstGeom prst="rect">
            <a:avLst/>
          </a:prstGeom>
          <a:solidFill>
            <a:srgbClr val="2F5D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4" name="CuadroTexto 3">
            <a:extLst>
              <a:ext uri="{FF2B5EF4-FFF2-40B4-BE49-F238E27FC236}">
                <a16:creationId xmlns:a16="http://schemas.microsoft.com/office/drawing/2014/main" id="{4F4D0079-5DB0-C04D-AF3C-7D366D2D5F4D}"/>
              </a:ext>
            </a:extLst>
          </p:cNvPr>
          <p:cNvSpPr txBox="1"/>
          <p:nvPr/>
        </p:nvSpPr>
        <p:spPr>
          <a:xfrm>
            <a:off x="1016000" y="2159000"/>
            <a:ext cx="7620000" cy="1524000"/>
          </a:xfrm>
          <a:prstGeom prst="rect">
            <a:avLst/>
          </a:prstGeom>
          <a:noFill/>
        </p:spPr>
        <p:txBody>
          <a:bodyPr vertOverflow="overflow" vert="horz" wrap="square" rtlCol="0" anchor="t">
            <a:spAutoFit/>
          </a:bodyPr>
          <a:lstStyle/>
          <a:p>
            <a:pPr algn="l"/>
            <a:r>
              <a:rPr lang="es-CO" sz="3600" b="1">
                <a:solidFill>
                  <a:srgbClr val="F3F6FA"/>
                </a:solidFill>
                <a:latin typeface="Inter"/>
              </a:rPr>
              <a:t>The AI Governance Stack
Every Small Firm Needs</a:t>
            </a:r>
          </a:p>
        </p:txBody>
      </p:sp>
      <p:sp>
        <p:nvSpPr>
          <p:cNvPr id="5" name="CuadroTexto 4">
            <a:extLst>
              <a:ext uri="{FF2B5EF4-FFF2-40B4-BE49-F238E27FC236}">
                <a16:creationId xmlns:a16="http://schemas.microsoft.com/office/drawing/2014/main" id="{04A2FC8E-89D5-F24C-963A-95C4CECA4F80}"/>
              </a:ext>
            </a:extLst>
          </p:cNvPr>
          <p:cNvSpPr txBox="1"/>
          <p:nvPr/>
        </p:nvSpPr>
        <p:spPr>
          <a:xfrm>
            <a:off x="1016000" y="3937000"/>
            <a:ext cx="6350000" cy="381000"/>
          </a:xfrm>
          <a:prstGeom prst="rect">
            <a:avLst/>
          </a:prstGeom>
          <a:noFill/>
        </p:spPr>
        <p:txBody>
          <a:bodyPr vertOverflow="overflow" vert="horz" wrap="square" rtlCol="0" anchor="t">
            <a:spAutoFit/>
          </a:bodyPr>
          <a:lstStyle/>
          <a:p>
            <a:pPr algn="l"/>
            <a:r>
              <a:rPr lang="es-CO" sz="1400">
                <a:solidFill>
                  <a:srgbClr val="6B7584"/>
                </a:solidFill>
                <a:latin typeface="DM Sans"/>
              </a:rPr>
              <a:t>Day 5  •  8:00 AM EST  •  Framework  •  8 Slides</a:t>
            </a:r>
          </a:p>
        </p:txBody>
      </p:sp>
      <p:sp>
        <p:nvSpPr>
          <p:cNvPr id="6" name="Rectángulo redondeado 5">
            <a:extLst>
              <a:ext uri="{FF2B5EF4-FFF2-40B4-BE49-F238E27FC236}">
                <a16:creationId xmlns:a16="http://schemas.microsoft.com/office/drawing/2014/main" id="{B4FDBB36-7E1E-C944-B631-3C66A1AE009B}"/>
              </a:ext>
            </a:extLst>
          </p:cNvPr>
          <p:cNvSpPr/>
          <p:nvPr/>
        </p:nvSpPr>
        <p:spPr>
          <a:xfrm>
            <a:off x="1016000" y="4699000"/>
            <a:ext cx="2286000" cy="508000"/>
          </a:xfrm>
          <a:prstGeom prst="roundRect">
            <a:avLst/>
          </a:prstGeom>
          <a:solidFill>
            <a:srgbClr val="2F5D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400" b="1">
                <a:solidFill>
                  <a:srgbClr val="FFFFFF"/>
                </a:solidFill>
              </a:rPr>
              <a:t>Cobalt #2F5DA8</a:t>
            </a:r>
          </a:p>
        </p:txBody>
      </p:sp>
      <p:sp>
        <p:nvSpPr>
          <p:cNvPr id="7" name="CuadroTexto 6">
            <a:extLst>
              <a:ext uri="{FF2B5EF4-FFF2-40B4-BE49-F238E27FC236}">
                <a16:creationId xmlns:a16="http://schemas.microsoft.com/office/drawing/2014/main" id="{136BCAC8-5F8E-9647-A6CD-76CA53B111EA}"/>
              </a:ext>
            </a:extLst>
          </p:cNvPr>
          <p:cNvSpPr txBox="1"/>
          <p:nvPr/>
        </p:nvSpPr>
        <p:spPr>
          <a:xfrm>
            <a:off x="9144000" y="1524000"/>
            <a:ext cx="2540000" cy="3810000"/>
          </a:xfrm>
          <a:prstGeom prst="rect">
            <a:avLst/>
          </a:prstGeom>
          <a:noFill/>
        </p:spPr>
        <p:txBody>
          <a:bodyPr vertOverflow="overflow" vert="horz" wrap="square" rtlCol="0" anchor="t">
            <a:spAutoFit/>
          </a:bodyPr>
          <a:lstStyle/>
          <a:p>
            <a:pPr algn="l"/>
            <a:r>
              <a:rPr lang="es-CO" sz="12000" b="1">
                <a:solidFill>
                  <a:srgbClr val="2F5DA8"/>
                </a:solidFill>
                <a:latin typeface="Inter"/>
              </a:rPr>
              <a:t>03</a:t>
            </a:r>
          </a:p>
        </p:txBody>
      </p:sp>
    </p:spTree>
    <p:extLst>
      <p:ext uri="{BB962C8B-B14F-4D97-AF65-F5344CB8AC3E}">
        <p14:creationId xmlns:p14="http://schemas.microsoft.com/office/powerpoint/2010/main" val="39577623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0740D84C-67CF-CD46-8234-15D69EFCAE4C}"/>
              </a:ext>
            </a:extLst>
          </p:cNvPr>
          <p:cNvSpPr/>
          <p:nvPr/>
        </p:nvSpPr>
        <p:spPr>
          <a:xfrm>
            <a:off x="762000" y="1270000"/>
            <a:ext cx="63500" cy="3810000"/>
          </a:xfrm>
          <a:prstGeom prst="rect">
            <a:avLst/>
          </a:prstGeom>
          <a:solidFill>
            <a:srgbClr val="2F5DA8"/>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FABCE4F5-F357-8D49-B672-60C3BAC3822D}"/>
              </a:ext>
            </a:extLst>
          </p:cNvPr>
          <p:cNvSpPr txBox="1"/>
          <p:nvPr/>
        </p:nvSpPr>
        <p:spPr>
          <a:xfrm>
            <a:off x="1079500" y="1270000"/>
            <a:ext cx="7620000" cy="1397000"/>
          </a:xfrm>
          <a:prstGeom prst="rect">
            <a:avLst/>
          </a:prstGeom>
          <a:noFill/>
        </p:spPr>
        <p:txBody>
          <a:bodyPr vertOverflow="overflow" vert="horz" wrap="square" rtlCol="0" anchor="t">
            <a:spAutoFit/>
          </a:bodyPr>
          <a:lstStyle/>
          <a:p>
            <a:pPr algn="l"/>
            <a:r>
              <a:rPr lang="es-CO" sz="3200" b="1">
                <a:solidFill>
                  <a:srgbClr val="F3F6FA"/>
                </a:solidFill>
                <a:latin typeface="Inter"/>
              </a:rPr>
              <a:t>The AI Governance Stack
for Small Firms.</a:t>
            </a:r>
          </a:p>
        </p:txBody>
      </p:sp>
      <p:sp>
        <p:nvSpPr>
          <p:cNvPr id="4" name="CuadroTexto 3">
            <a:extLst>
              <a:ext uri="{FF2B5EF4-FFF2-40B4-BE49-F238E27FC236}">
                <a16:creationId xmlns:a16="http://schemas.microsoft.com/office/drawing/2014/main" id="{93241875-5748-F843-9B15-2F08CB2F2EB3}"/>
              </a:ext>
            </a:extLst>
          </p:cNvPr>
          <p:cNvSpPr txBox="1"/>
          <p:nvPr/>
        </p:nvSpPr>
        <p:spPr>
          <a:xfrm>
            <a:off x="1079500" y="3048000"/>
            <a:ext cx="7620000" cy="889000"/>
          </a:xfrm>
          <a:prstGeom prst="rect">
            <a:avLst/>
          </a:prstGeom>
          <a:noFill/>
        </p:spPr>
        <p:txBody>
          <a:bodyPr vertOverflow="overflow" vert="horz" wrap="square" rtlCol="0" anchor="t">
            <a:spAutoFit/>
          </a:bodyPr>
          <a:lstStyle/>
          <a:p>
            <a:pPr algn="l"/>
            <a:r>
              <a:rPr lang="es-CO" sz="2000" b="1">
                <a:solidFill>
                  <a:srgbClr val="2F5DA8"/>
                </a:solidFill>
                <a:latin typeface="DM Sans"/>
              </a:rPr>
              <a:t>4 layers. Implementable without lawyers.
Takes less than a day to set up.</a:t>
            </a:r>
          </a:p>
        </p:txBody>
      </p:sp>
      <p:sp>
        <p:nvSpPr>
          <p:cNvPr id="5" name="CuadroTexto 4">
            <a:extLst>
              <a:ext uri="{FF2B5EF4-FFF2-40B4-BE49-F238E27FC236}">
                <a16:creationId xmlns:a16="http://schemas.microsoft.com/office/drawing/2014/main" id="{CC33779A-F891-3C4F-9EDB-46CFB91161C0}"/>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01 / 08</a:t>
            </a:r>
          </a:p>
        </p:txBody>
      </p:sp>
    </p:spTree>
    <p:extLst>
      <p:ext uri="{BB962C8B-B14F-4D97-AF65-F5344CB8AC3E}">
        <p14:creationId xmlns:p14="http://schemas.microsoft.com/office/powerpoint/2010/main" val="3706906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8415CF9-5F92-664A-9C67-234FFC3D8019}"/>
              </a:ext>
            </a:extLst>
          </p:cNvPr>
          <p:cNvSpPr/>
          <p:nvPr/>
        </p:nvSpPr>
        <p:spPr>
          <a:xfrm>
            <a:off x="762000" y="762000"/>
            <a:ext cx="63500" cy="762000"/>
          </a:xfrm>
          <a:prstGeom prst="rect">
            <a:avLst/>
          </a:prstGeom>
          <a:solidFill>
            <a:srgbClr val="2F5D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DB08FFF3-A0DB-B54B-9A99-FC457EE1934C}"/>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2F5DA8"/>
                </a:solidFill>
                <a:latin typeface="Inter"/>
              </a:rPr>
              <a:t>Layer 1 — Tool Inventory</a:t>
            </a:r>
          </a:p>
        </p:txBody>
      </p:sp>
      <p:sp>
        <p:nvSpPr>
          <p:cNvPr id="4" name="CuadroTexto 3">
            <a:extLst>
              <a:ext uri="{FF2B5EF4-FFF2-40B4-BE49-F238E27FC236}">
                <a16:creationId xmlns:a16="http://schemas.microsoft.com/office/drawing/2014/main" id="{A28D845B-96DB-4E43-9053-9BF1B6998014}"/>
              </a:ext>
            </a:extLst>
          </p:cNvPr>
          <p:cNvSpPr txBox="1"/>
          <p:nvPr/>
        </p:nvSpPr>
        <p:spPr>
          <a:xfrm>
            <a:off x="1079500" y="1524000"/>
            <a:ext cx="7620000" cy="3810000"/>
          </a:xfrm>
          <a:prstGeom prst="rect">
            <a:avLst/>
          </a:prstGeom>
          <a:noFill/>
        </p:spPr>
        <p:txBody>
          <a:bodyPr vertOverflow="overflow" vert="horz" wrap="square" rtlCol="0" anchor="t">
            <a:spAutoFit/>
          </a:bodyPr>
          <a:lstStyle/>
          <a:p>
            <a:pPr algn="l"/>
            <a:r>
              <a:rPr lang="es-CO">
                <a:solidFill>
                  <a:srgbClr val="1A2332"/>
                </a:solidFill>
                <a:latin typeface="DM Sans"/>
              </a:rPr>
              <a:t>Know what AI tools your team actually uses.
Not what IT approved.
Not what was budgeted.
What is actually running in your business today.
Most firms discover 3–4 tools
they didn't know existed.</a:t>
            </a:r>
          </a:p>
        </p:txBody>
      </p:sp>
      <p:sp>
        <p:nvSpPr>
          <p:cNvPr id="5" name="CuadroTexto 4">
            <a:extLst>
              <a:ext uri="{FF2B5EF4-FFF2-40B4-BE49-F238E27FC236}">
                <a16:creationId xmlns:a16="http://schemas.microsoft.com/office/drawing/2014/main" id="{B3D2479C-1403-2541-8E14-CB45A7BEFC1C}"/>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02 / 08</a:t>
            </a:r>
          </a:p>
        </p:txBody>
      </p:sp>
    </p:spTree>
    <p:extLst>
      <p:ext uri="{BB962C8B-B14F-4D97-AF65-F5344CB8AC3E}">
        <p14:creationId xmlns:p14="http://schemas.microsoft.com/office/powerpoint/2010/main" val="570526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754C3E1-72CC-7841-8457-07BBCA3C1148}"/>
              </a:ext>
            </a:extLst>
          </p:cNvPr>
          <p:cNvSpPr/>
          <p:nvPr/>
        </p:nvSpPr>
        <p:spPr>
          <a:xfrm>
            <a:off x="762000" y="762000"/>
            <a:ext cx="63500" cy="762000"/>
          </a:xfrm>
          <a:prstGeom prst="rect">
            <a:avLst/>
          </a:prstGeom>
          <a:solidFill>
            <a:srgbClr val="2F5D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4BA0507F-2003-B14C-ADF9-B8FB5B082CAF}"/>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2F5DA8"/>
                </a:solidFill>
                <a:latin typeface="Inter"/>
              </a:rPr>
              <a:t>Layer 2 — Data Rules</a:t>
            </a:r>
          </a:p>
        </p:txBody>
      </p:sp>
      <p:sp>
        <p:nvSpPr>
          <p:cNvPr id="4" name="CuadroTexto 3">
            <a:extLst>
              <a:ext uri="{FF2B5EF4-FFF2-40B4-BE49-F238E27FC236}">
                <a16:creationId xmlns:a16="http://schemas.microsoft.com/office/drawing/2014/main" id="{E2B0CBF4-C950-3840-B9AF-1D36D80941F0}"/>
              </a:ext>
            </a:extLst>
          </p:cNvPr>
          <p:cNvSpPr txBox="1"/>
          <p:nvPr/>
        </p:nvSpPr>
        <p:spPr>
          <a:xfrm>
            <a:off x="1079500" y="1524000"/>
            <a:ext cx="7620000" cy="3810000"/>
          </a:xfrm>
          <a:prstGeom prst="rect">
            <a:avLst/>
          </a:prstGeom>
          <a:noFill/>
        </p:spPr>
        <p:txBody>
          <a:bodyPr vertOverflow="overflow" vert="horz" wrap="square" rtlCol="0" anchor="t">
            <a:spAutoFit/>
          </a:bodyPr>
          <a:lstStyle/>
          <a:p>
            <a:pPr algn="l"/>
            <a:r>
              <a:rPr lang="es-CO">
                <a:solidFill>
                  <a:srgbClr val="1A2332"/>
                </a:solidFill>
                <a:latin typeface="DM Sans"/>
              </a:rPr>
              <a:t>Two lists. That's it.
→  NEVER goes into AI: [list]
→  ALWAYS needs review before delivery: [list]
One paragraph. Posted in Slack.
Everyone reads it once.
Risk drops immediately.</a:t>
            </a:r>
          </a:p>
        </p:txBody>
      </p:sp>
      <p:sp>
        <p:nvSpPr>
          <p:cNvPr id="5" name="CuadroTexto 4">
            <a:extLst>
              <a:ext uri="{FF2B5EF4-FFF2-40B4-BE49-F238E27FC236}">
                <a16:creationId xmlns:a16="http://schemas.microsoft.com/office/drawing/2014/main" id="{B0E1BFDF-848E-6C44-B25E-006D7A27017C}"/>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03 / 08</a:t>
            </a:r>
          </a:p>
        </p:txBody>
      </p:sp>
    </p:spTree>
    <p:extLst>
      <p:ext uri="{BB962C8B-B14F-4D97-AF65-F5344CB8AC3E}">
        <p14:creationId xmlns:p14="http://schemas.microsoft.com/office/powerpoint/2010/main" val="22136103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B9601BB0-CE41-564B-B4CC-519E5CC92084}"/>
              </a:ext>
            </a:extLst>
          </p:cNvPr>
          <p:cNvSpPr/>
          <p:nvPr/>
        </p:nvSpPr>
        <p:spPr>
          <a:xfrm>
            <a:off x="762000" y="762000"/>
            <a:ext cx="63500" cy="762000"/>
          </a:xfrm>
          <a:prstGeom prst="rect">
            <a:avLst/>
          </a:prstGeom>
          <a:solidFill>
            <a:srgbClr val="2F5D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E53E28FE-4552-394C-B27C-BC074495CDC0}"/>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2F5DA8"/>
                </a:solidFill>
                <a:latin typeface="Inter"/>
              </a:rPr>
              <a:t>Layer 3 — Client Disclosure</a:t>
            </a:r>
          </a:p>
        </p:txBody>
      </p:sp>
      <p:sp>
        <p:nvSpPr>
          <p:cNvPr id="4" name="CuadroTexto 3">
            <a:extLst>
              <a:ext uri="{FF2B5EF4-FFF2-40B4-BE49-F238E27FC236}">
                <a16:creationId xmlns:a16="http://schemas.microsoft.com/office/drawing/2014/main" id="{30010AAD-AFCA-F347-B7CC-33786FC12864}"/>
              </a:ext>
            </a:extLst>
          </p:cNvPr>
          <p:cNvSpPr txBox="1"/>
          <p:nvPr/>
        </p:nvSpPr>
        <p:spPr>
          <a:xfrm>
            <a:off x="1079500" y="1524000"/>
            <a:ext cx="7620000" cy="4064000"/>
          </a:xfrm>
          <a:prstGeom prst="rect">
            <a:avLst/>
          </a:prstGeom>
          <a:noFill/>
        </p:spPr>
        <p:txBody>
          <a:bodyPr vertOverflow="overflow" vert="horz" wrap="square" rtlCol="0" anchor="t">
            <a:spAutoFit/>
          </a:bodyPr>
          <a:lstStyle/>
          <a:p>
            <a:pPr algn="l"/>
            <a:r>
              <a:rPr lang="es-CO">
                <a:solidFill>
                  <a:srgbClr val="1A2332"/>
                </a:solidFill>
                <a:latin typeface="DM Sans"/>
              </a:rPr>
              <a:t>One sentence added to new agreements:
'Our firm uses AI tools to assist
in research, drafting, and analysis.
All client-facing work is reviewed
by a qualified professional before delivery.'
That sentence converts a hidden risk
into a stated policy.</a:t>
            </a:r>
          </a:p>
        </p:txBody>
      </p:sp>
      <p:sp>
        <p:nvSpPr>
          <p:cNvPr id="5" name="CuadroTexto 4">
            <a:extLst>
              <a:ext uri="{FF2B5EF4-FFF2-40B4-BE49-F238E27FC236}">
                <a16:creationId xmlns:a16="http://schemas.microsoft.com/office/drawing/2014/main" id="{52B6AC69-66C1-6748-98CC-A96F48F84CA3}"/>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solidFill>
                  <a:srgbClr val="5A6677"/>
                </a:solidFill>
                <a:latin typeface="DM Sans"/>
              </a:rPr>
              <a:t>04 / 08</a:t>
            </a:r>
          </a:p>
        </p:txBody>
      </p:sp>
    </p:spTree>
    <p:extLst>
      <p:ext uri="{BB962C8B-B14F-4D97-AF65-F5344CB8AC3E}">
        <p14:creationId xmlns:p14="http://schemas.microsoft.com/office/powerpoint/2010/main" val="27625826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F9C1E48-9FF5-604E-8366-2C5810527833}"/>
              </a:ext>
            </a:extLst>
          </p:cNvPr>
          <p:cNvSpPr/>
          <p:nvPr/>
        </p:nvSpPr>
        <p:spPr>
          <a:xfrm>
            <a:off x="762000" y="762000"/>
            <a:ext cx="63500" cy="762000"/>
          </a:xfrm>
          <a:prstGeom prst="rect">
            <a:avLst/>
          </a:prstGeom>
          <a:solidFill>
            <a:srgbClr val="2F5D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811E91B5-6167-1E4E-8D2C-369198DC92FC}"/>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2F5DA8"/>
                </a:solidFill>
                <a:latin typeface="Inter"/>
              </a:rPr>
              <a:t>Layer 4 — Quarterly Review</a:t>
            </a:r>
          </a:p>
        </p:txBody>
      </p:sp>
      <p:sp>
        <p:nvSpPr>
          <p:cNvPr id="4" name="CuadroTexto 3">
            <a:extLst>
              <a:ext uri="{FF2B5EF4-FFF2-40B4-BE49-F238E27FC236}">
                <a16:creationId xmlns:a16="http://schemas.microsoft.com/office/drawing/2014/main" id="{5FB96E19-83F9-124B-93A7-1C93BC6EDE70}"/>
              </a:ext>
            </a:extLst>
          </p:cNvPr>
          <p:cNvSpPr txBox="1"/>
          <p:nvPr/>
        </p:nvSpPr>
        <p:spPr>
          <a:xfrm>
            <a:off x="1079500" y="1524000"/>
            <a:ext cx="7620000" cy="4064000"/>
          </a:xfrm>
          <a:prstGeom prst="rect">
            <a:avLst/>
          </a:prstGeom>
          <a:noFill/>
        </p:spPr>
        <p:txBody>
          <a:bodyPr vertOverflow="overflow" vert="horz" wrap="square" rtlCol="0" anchor="t">
            <a:spAutoFit/>
          </a:bodyPr>
          <a:lstStyle/>
          <a:p>
            <a:pPr algn="l"/>
            <a:r>
              <a:rPr lang="es-CO">
                <a:solidFill>
                  <a:srgbClr val="1A2332"/>
                </a:solidFill>
                <a:latin typeface="DM Sans"/>
              </a:rPr>
              <a:t>The AI landscape changes every 90 days.
Your controls need to keep up.
→  What new tools entered the stack?
→  Did any client agreements change?
→  Did any team members change their habits?
30 minutes. Once a quarter.
That's your entire ongoing governance.</a:t>
            </a:r>
          </a:p>
        </p:txBody>
      </p:sp>
      <p:sp>
        <p:nvSpPr>
          <p:cNvPr id="5" name="CuadroTexto 4">
            <a:extLst>
              <a:ext uri="{FF2B5EF4-FFF2-40B4-BE49-F238E27FC236}">
                <a16:creationId xmlns:a16="http://schemas.microsoft.com/office/drawing/2014/main" id="{93030A94-7006-4F43-9A5A-8DABD0C1BD89}"/>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05 / 08</a:t>
            </a:r>
          </a:p>
        </p:txBody>
      </p:sp>
    </p:spTree>
    <p:extLst>
      <p:ext uri="{BB962C8B-B14F-4D97-AF65-F5344CB8AC3E}">
        <p14:creationId xmlns:p14="http://schemas.microsoft.com/office/powerpoint/2010/main" val="3620775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5D1FE6D-E996-B94F-8EE8-A33BEF482703}"/>
              </a:ext>
            </a:extLst>
          </p:cNvPr>
          <p:cNvSpPr/>
          <p:nvPr/>
        </p:nvSpPr>
        <p:spPr>
          <a:xfrm>
            <a:off x="762000" y="762000"/>
            <a:ext cx="63500" cy="762000"/>
          </a:xfrm>
          <a:prstGeom prst="rect">
            <a:avLst/>
          </a:prstGeom>
          <a:solidFill>
            <a:srgbClr val="2F5D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21EA1DC7-0174-0144-A9BE-DB062E841945}"/>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The Full AI Governance Stack:</a:t>
            </a:r>
          </a:p>
        </p:txBody>
      </p:sp>
      <p:sp>
        <p:nvSpPr>
          <p:cNvPr id="4" name="CuadroTexto 3">
            <a:extLst>
              <a:ext uri="{FF2B5EF4-FFF2-40B4-BE49-F238E27FC236}">
                <a16:creationId xmlns:a16="http://schemas.microsoft.com/office/drawing/2014/main" id="{C9ED9FFE-9EAF-5948-B174-0125CB8F00E2}"/>
              </a:ext>
            </a:extLst>
          </p:cNvPr>
          <p:cNvSpPr txBox="1"/>
          <p:nvPr/>
        </p:nvSpPr>
        <p:spPr>
          <a:xfrm>
            <a:off x="1079500" y="1524000"/>
            <a:ext cx="7620000" cy="2032000"/>
          </a:xfrm>
          <a:prstGeom prst="rect">
            <a:avLst/>
          </a:prstGeom>
          <a:noFill/>
        </p:spPr>
        <p:txBody>
          <a:bodyPr vertOverflow="overflow" vert="horz" wrap="square" rtlCol="0" anchor="t">
            <a:spAutoFit/>
          </a:bodyPr>
          <a:lstStyle/>
          <a:p>
            <a:pPr algn="l"/>
            <a:r>
              <a:rPr lang="es-CO">
                <a:solidFill>
                  <a:srgbClr val="1A2332"/>
                </a:solidFill>
                <a:latin typeface="DM Sans"/>
              </a:rPr>
              <a:t>→  Layer 1: Tool Inventory
→  Layer 2: Data Rules (2 lists)
→  Layer 3: Client Disclosure (1 sentence)
→  Layer 4: Quarterly Review (30 min)</a:t>
            </a:r>
          </a:p>
        </p:txBody>
      </p:sp>
      <p:sp>
        <p:nvSpPr>
          <p:cNvPr id="5" name="CuadroTexto 4">
            <a:extLst>
              <a:ext uri="{FF2B5EF4-FFF2-40B4-BE49-F238E27FC236}">
                <a16:creationId xmlns:a16="http://schemas.microsoft.com/office/drawing/2014/main" id="{E47D1921-E9F6-CD41-A205-9FF4216045FB}"/>
              </a:ext>
            </a:extLst>
          </p:cNvPr>
          <p:cNvSpPr txBox="1"/>
          <p:nvPr/>
        </p:nvSpPr>
        <p:spPr>
          <a:xfrm>
            <a:off x="1079500" y="4191000"/>
            <a:ext cx="7620000" cy="762000"/>
          </a:xfrm>
          <a:prstGeom prst="rect">
            <a:avLst/>
          </a:prstGeom>
          <a:noFill/>
        </p:spPr>
        <p:txBody>
          <a:bodyPr vertOverflow="overflow" vert="horz" wrap="square" rtlCol="0" anchor="t">
            <a:spAutoFit/>
          </a:bodyPr>
          <a:lstStyle/>
          <a:p>
            <a:pPr algn="l"/>
            <a:r>
              <a:rPr lang="es-CO" b="1">
                <a:solidFill>
                  <a:srgbClr val="2F5DA8"/>
                </a:solidFill>
                <a:latin typeface="DM Sans"/>
              </a:rPr>
              <a:t>Total setup time: 2–4 hours
Ongoing maintenance: 30 min/quarter</a:t>
            </a:r>
          </a:p>
        </p:txBody>
      </p:sp>
      <p:sp>
        <p:nvSpPr>
          <p:cNvPr id="6" name="CuadroTexto 5">
            <a:extLst>
              <a:ext uri="{FF2B5EF4-FFF2-40B4-BE49-F238E27FC236}">
                <a16:creationId xmlns:a16="http://schemas.microsoft.com/office/drawing/2014/main" id="{6F77E695-BFF6-4B45-9878-72F815FA7C0C}"/>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06 / 08</a:t>
            </a:r>
          </a:p>
        </p:txBody>
      </p:sp>
    </p:spTree>
    <p:extLst>
      <p:ext uri="{BB962C8B-B14F-4D97-AF65-F5344CB8AC3E}">
        <p14:creationId xmlns:p14="http://schemas.microsoft.com/office/powerpoint/2010/main" val="4202028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01DAAB70-1E8E-AE45-8708-C1C475C4DF1E}"/>
              </a:ext>
            </a:extLst>
          </p:cNvPr>
          <p:cNvSpPr/>
          <p:nvPr/>
        </p:nvSpPr>
        <p:spPr>
          <a:xfrm>
            <a:off x="762000" y="762000"/>
            <a:ext cx="63500" cy="762000"/>
          </a:xfrm>
          <a:prstGeom prst="rect">
            <a:avLst/>
          </a:prstGeom>
          <a:solidFill>
            <a:srgbClr val="2F5D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2D7EEE70-8DAB-AB4D-836D-4E3361F356F7}"/>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What this gives you:</a:t>
            </a:r>
          </a:p>
        </p:txBody>
      </p:sp>
      <p:sp>
        <p:nvSpPr>
          <p:cNvPr id="4" name="CuadroTexto 3">
            <a:extLst>
              <a:ext uri="{FF2B5EF4-FFF2-40B4-BE49-F238E27FC236}">
                <a16:creationId xmlns:a16="http://schemas.microsoft.com/office/drawing/2014/main" id="{D13C0EEE-A3C7-DD4D-B6D0-C77EC47133D6}"/>
              </a:ext>
            </a:extLst>
          </p:cNvPr>
          <p:cNvSpPr txBox="1"/>
          <p:nvPr/>
        </p:nvSpPr>
        <p:spPr>
          <a:xfrm>
            <a:off x="1079500" y="1524000"/>
            <a:ext cx="8255000" cy="2286000"/>
          </a:xfrm>
          <a:prstGeom prst="rect">
            <a:avLst/>
          </a:prstGeom>
          <a:noFill/>
        </p:spPr>
        <p:txBody>
          <a:bodyPr vertOverflow="overflow" vert="horz" wrap="square" rtlCol="0" anchor="t">
            <a:spAutoFit/>
          </a:bodyPr>
          <a:lstStyle/>
          <a:p>
            <a:pPr algn="l"/>
            <a:r>
              <a:rPr lang="es-CO">
                <a:solidFill>
                  <a:srgbClr val="1A2332"/>
                </a:solidFill>
                <a:latin typeface="DM Sans"/>
              </a:rPr>
              <a:t>→  An answer when a client asks about AI
→  A policy when an auditor asks for one
→  Consistency in how your team works
→  A baseline to build on as regs evolve</a:t>
            </a:r>
          </a:p>
        </p:txBody>
      </p:sp>
      <p:sp>
        <p:nvSpPr>
          <p:cNvPr id="5" name="CuadroTexto 4">
            <a:extLst>
              <a:ext uri="{FF2B5EF4-FFF2-40B4-BE49-F238E27FC236}">
                <a16:creationId xmlns:a16="http://schemas.microsoft.com/office/drawing/2014/main" id="{090FA448-9E5A-CF4D-B9FB-91AF958E7A54}"/>
              </a:ext>
            </a:extLst>
          </p:cNvPr>
          <p:cNvSpPr txBox="1"/>
          <p:nvPr/>
        </p:nvSpPr>
        <p:spPr>
          <a:xfrm>
            <a:off x="1079500" y="4318000"/>
            <a:ext cx="7620000" cy="762000"/>
          </a:xfrm>
          <a:prstGeom prst="rect">
            <a:avLst/>
          </a:prstGeom>
          <a:noFill/>
        </p:spPr>
        <p:txBody>
          <a:bodyPr vertOverflow="overflow" vert="horz" wrap="square" rtlCol="0" anchor="t">
            <a:spAutoFit/>
          </a:bodyPr>
          <a:lstStyle/>
          <a:p>
            <a:pPr algn="l"/>
            <a:r>
              <a:rPr lang="es-CO" b="1">
                <a:solidFill>
                  <a:srgbClr val="2F5DA8"/>
                </a:solidFill>
                <a:latin typeface="DM Sans"/>
              </a:rPr>
              <a:t>None of this requires a lawyer.
All of this requires a decision.</a:t>
            </a:r>
          </a:p>
        </p:txBody>
      </p:sp>
      <p:sp>
        <p:nvSpPr>
          <p:cNvPr id="6" name="CuadroTexto 5">
            <a:extLst>
              <a:ext uri="{FF2B5EF4-FFF2-40B4-BE49-F238E27FC236}">
                <a16:creationId xmlns:a16="http://schemas.microsoft.com/office/drawing/2014/main" id="{5E9816F0-A22A-EF4E-9ED6-888822EB6446}"/>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07 / 08</a:t>
            </a:r>
          </a:p>
        </p:txBody>
      </p:sp>
    </p:spTree>
    <p:extLst>
      <p:ext uri="{BB962C8B-B14F-4D97-AF65-F5344CB8AC3E}">
        <p14:creationId xmlns:p14="http://schemas.microsoft.com/office/powerpoint/2010/main" val="3446142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0A7D75-B616-4B48-A0FB-9C70670F1958}"/>
              </a:ext>
            </a:extLst>
          </p:cNvPr>
          <p:cNvSpPr/>
          <p:nvPr/>
        </p:nvSpPr>
        <p:spPr>
          <a:xfrm>
            <a:off x="0" y="0"/>
            <a:ext cx="12192000" cy="76200"/>
          </a:xfrm>
          <a:prstGeom prst="rect">
            <a:avLst/>
          </a:prstGeom>
          <a:solidFill>
            <a:srgbClr val="2F5DA8"/>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D690E0B9-0320-7545-9E0A-B804EF2BB72E}"/>
              </a:ext>
            </a:extLst>
          </p:cNvPr>
          <p:cNvSpPr txBox="1"/>
          <p:nvPr/>
        </p:nvSpPr>
        <p:spPr>
          <a:xfrm>
            <a:off x="1079500" y="762000"/>
            <a:ext cx="7620000" cy="889000"/>
          </a:xfrm>
          <a:prstGeom prst="rect">
            <a:avLst/>
          </a:prstGeom>
          <a:noFill/>
        </p:spPr>
        <p:txBody>
          <a:bodyPr vertOverflow="overflow" vert="horz" wrap="square" rtlCol="0" anchor="t">
            <a:spAutoFit/>
          </a:bodyPr>
          <a:lstStyle/>
          <a:p>
            <a:pPr algn="l"/>
            <a:r>
              <a:rPr lang="es-CO" sz="2600" b="1">
                <a:solidFill>
                  <a:srgbClr val="F3F6FA"/>
                </a:solidFill>
                <a:latin typeface="Inter"/>
              </a:rPr>
              <a:t>Which layer does
your firm already have?</a:t>
            </a:r>
          </a:p>
        </p:txBody>
      </p:sp>
      <p:sp>
        <p:nvSpPr>
          <p:cNvPr id="4" name="CuadroTexto 3">
            <a:extLst>
              <a:ext uri="{FF2B5EF4-FFF2-40B4-BE49-F238E27FC236}">
                <a16:creationId xmlns:a16="http://schemas.microsoft.com/office/drawing/2014/main" id="{1670D6C6-B01F-0349-A489-722696F712D3}"/>
              </a:ext>
            </a:extLst>
          </p:cNvPr>
          <p:cNvSpPr txBox="1"/>
          <p:nvPr/>
        </p:nvSpPr>
        <p:spPr>
          <a:xfrm>
            <a:off x="1079500" y="1968500"/>
            <a:ext cx="6350000" cy="1778000"/>
          </a:xfrm>
          <a:prstGeom prst="rect">
            <a:avLst/>
          </a:prstGeom>
          <a:noFill/>
        </p:spPr>
        <p:txBody>
          <a:bodyPr vertOverflow="overflow" vert="horz" wrap="square" rtlCol="0" anchor="t">
            <a:spAutoFit/>
          </a:bodyPr>
          <a:lstStyle/>
          <a:p>
            <a:pPr algn="l"/>
            <a:r>
              <a:rPr lang="es-CO">
                <a:solidFill>
                  <a:srgbClr val="C8CED8"/>
                </a:solidFill>
                <a:latin typeface="DM Sans"/>
              </a:rPr>
              <a:t>→  Layer 1 — Tool Inventory
→  Layer 2 — Data Rules
→  Layer 3 — Client Disclosure
→  Layer 4 — Quarterly Review</a:t>
            </a:r>
          </a:p>
        </p:txBody>
      </p:sp>
      <p:sp>
        <p:nvSpPr>
          <p:cNvPr id="5" name="CuadroTexto 4">
            <a:extLst>
              <a:ext uri="{FF2B5EF4-FFF2-40B4-BE49-F238E27FC236}">
                <a16:creationId xmlns:a16="http://schemas.microsoft.com/office/drawing/2014/main" id="{409F5168-6CD0-3942-95AA-4213FF492E15}"/>
              </a:ext>
            </a:extLst>
          </p:cNvPr>
          <p:cNvSpPr txBox="1"/>
          <p:nvPr/>
        </p:nvSpPr>
        <p:spPr>
          <a:xfrm>
            <a:off x="1079500" y="3937000"/>
            <a:ext cx="6350000" cy="635000"/>
          </a:xfrm>
          <a:prstGeom prst="rect">
            <a:avLst/>
          </a:prstGeom>
          <a:noFill/>
        </p:spPr>
        <p:txBody>
          <a:bodyPr vertOverflow="overflow" vert="horz" wrap="square" rtlCol="0" anchor="t">
            <a:spAutoFit/>
          </a:bodyPr>
          <a:lstStyle/>
          <a:p>
            <a:pPr algn="l"/>
            <a:r>
              <a:rPr lang="es-CO" sz="1700">
                <a:solidFill>
                  <a:srgbClr val="8A95A3"/>
                </a:solidFill>
                <a:latin typeface="DM Sans"/>
              </a:rPr>
              <a:t>Comment the layers you have.
I'll tell you what's missing.</a:t>
            </a:r>
          </a:p>
        </p:txBody>
      </p:sp>
      <p:sp>
        <p:nvSpPr>
          <p:cNvPr id="6" name="Rectángulo redondeado 5">
            <a:extLst>
              <a:ext uri="{FF2B5EF4-FFF2-40B4-BE49-F238E27FC236}">
                <a16:creationId xmlns:a16="http://schemas.microsoft.com/office/drawing/2014/main" id="{56BD2359-DF61-124A-80FD-4786CC930F7E}"/>
              </a:ext>
            </a:extLst>
          </p:cNvPr>
          <p:cNvSpPr/>
          <p:nvPr/>
        </p:nvSpPr>
        <p:spPr>
          <a:xfrm>
            <a:off x="1079500" y="5080000"/>
            <a:ext cx="6858000" cy="635000"/>
          </a:xfrm>
          <a:prstGeom prst="roundRect">
            <a:avLst/>
          </a:prstGeom>
          <a:solidFill>
            <a:srgbClr val="2F5D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600" b="1">
                <a:solidFill>
                  <a:srgbClr val="FFFFFF"/>
                </a:solidFill>
                <a:latin typeface="DM Sans"/>
              </a:rPr>
              <a:t>💬  Which layers do you already have? Comment below.</a:t>
            </a:r>
          </a:p>
        </p:txBody>
      </p:sp>
      <p:sp>
        <p:nvSpPr>
          <p:cNvPr id="7" name="CuadroTexto 6">
            <a:extLst>
              <a:ext uri="{FF2B5EF4-FFF2-40B4-BE49-F238E27FC236}">
                <a16:creationId xmlns:a16="http://schemas.microsoft.com/office/drawing/2014/main" id="{5999F4E0-7566-B54F-8306-79478E0984F6}"/>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08 / 08</a:t>
            </a:r>
          </a:p>
        </p:txBody>
      </p:sp>
    </p:spTree>
    <p:extLst>
      <p:ext uri="{BB962C8B-B14F-4D97-AF65-F5344CB8AC3E}">
        <p14:creationId xmlns:p14="http://schemas.microsoft.com/office/powerpoint/2010/main" val="667329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181CD3A-197B-FD4F-A6AE-10EFBF40DFC2}"/>
              </a:ext>
            </a:extLst>
          </p:cNvPr>
          <p:cNvSpPr txBox="1"/>
          <p:nvPr/>
        </p:nvSpPr>
        <p:spPr>
          <a:xfrm>
            <a:off x="1016000" y="1270000"/>
            <a:ext cx="3810000" cy="508000"/>
          </a:xfrm>
          <a:prstGeom prst="rect">
            <a:avLst/>
          </a:prstGeom>
          <a:noFill/>
        </p:spPr>
        <p:txBody>
          <a:bodyPr vertOverflow="overflow" vert="horz" wrap="square" rtlCol="0" anchor="t">
            <a:spAutoFit/>
          </a:bodyPr>
          <a:lstStyle/>
          <a:p>
            <a:pPr algn="l"/>
            <a:r>
              <a:rPr lang="es-CO" sz="1400" b="1">
                <a:solidFill>
                  <a:srgbClr val="2C8A87"/>
                </a:solidFill>
                <a:latin typeface="Inter"/>
              </a:rPr>
              <a:t>CAROUSEL 04</a:t>
            </a:r>
          </a:p>
        </p:txBody>
      </p:sp>
      <p:sp>
        <p:nvSpPr>
          <p:cNvPr id="3" name="Rectángulo 2">
            <a:extLst>
              <a:ext uri="{FF2B5EF4-FFF2-40B4-BE49-F238E27FC236}">
                <a16:creationId xmlns:a16="http://schemas.microsoft.com/office/drawing/2014/main" id="{F838BE1E-E40A-544F-B07A-0CA61C3C5782}"/>
              </a:ext>
            </a:extLst>
          </p:cNvPr>
          <p:cNvSpPr/>
          <p:nvPr/>
        </p:nvSpPr>
        <p:spPr>
          <a:xfrm>
            <a:off x="1016000" y="1905000"/>
            <a:ext cx="1016000" cy="63500"/>
          </a:xfrm>
          <a:prstGeom prst="rect">
            <a:avLst/>
          </a:prstGeom>
          <a:solidFill>
            <a:srgbClr val="2C8A87"/>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4" name="CuadroTexto 3">
            <a:extLst>
              <a:ext uri="{FF2B5EF4-FFF2-40B4-BE49-F238E27FC236}">
                <a16:creationId xmlns:a16="http://schemas.microsoft.com/office/drawing/2014/main" id="{40A68AC1-1A24-3C46-88CA-2BD728E0BF9F}"/>
              </a:ext>
            </a:extLst>
          </p:cNvPr>
          <p:cNvSpPr txBox="1"/>
          <p:nvPr/>
        </p:nvSpPr>
        <p:spPr>
          <a:xfrm>
            <a:off x="1016000" y="2159000"/>
            <a:ext cx="7620000" cy="1524000"/>
          </a:xfrm>
          <a:prstGeom prst="rect">
            <a:avLst/>
          </a:prstGeom>
          <a:noFill/>
        </p:spPr>
        <p:txBody>
          <a:bodyPr vertOverflow="overflow" vert="horz" wrap="square" rtlCol="0" anchor="t">
            <a:spAutoFit/>
          </a:bodyPr>
          <a:lstStyle/>
          <a:p>
            <a:pPr algn="l"/>
            <a:r>
              <a:rPr lang="es-CO" sz="3600" b="1">
                <a:solidFill>
                  <a:srgbClr val="F3F6FA"/>
                </a:solidFill>
                <a:latin typeface="Inter"/>
              </a:rPr>
              <a:t>What We Found in a
23-Person Agency</a:t>
            </a:r>
          </a:p>
        </p:txBody>
      </p:sp>
      <p:sp>
        <p:nvSpPr>
          <p:cNvPr id="5" name="CuadroTexto 4">
            <a:extLst>
              <a:ext uri="{FF2B5EF4-FFF2-40B4-BE49-F238E27FC236}">
                <a16:creationId xmlns:a16="http://schemas.microsoft.com/office/drawing/2014/main" id="{E46F53C6-D46C-BD45-9EBE-CA1BA0CCBFFB}"/>
              </a:ext>
            </a:extLst>
          </p:cNvPr>
          <p:cNvSpPr txBox="1"/>
          <p:nvPr/>
        </p:nvSpPr>
        <p:spPr>
          <a:xfrm>
            <a:off x="1016000" y="3937000"/>
            <a:ext cx="6350000" cy="381000"/>
          </a:xfrm>
          <a:prstGeom prst="rect">
            <a:avLst/>
          </a:prstGeom>
          <a:noFill/>
        </p:spPr>
        <p:txBody>
          <a:bodyPr vertOverflow="overflow" vert="horz" wrap="square" rtlCol="0" anchor="t">
            <a:spAutoFit/>
          </a:bodyPr>
          <a:lstStyle/>
          <a:p>
            <a:pPr algn="l"/>
            <a:r>
              <a:rPr lang="es-CO" sz="1400"/>
              <a:t>Day 7  •  8:00 AM EST  •  Social Proof  •  8 Slides</a:t>
            </a:r>
          </a:p>
        </p:txBody>
      </p:sp>
      <p:sp>
        <p:nvSpPr>
          <p:cNvPr id="6" name="Rectángulo redondeado 5">
            <a:extLst>
              <a:ext uri="{FF2B5EF4-FFF2-40B4-BE49-F238E27FC236}">
                <a16:creationId xmlns:a16="http://schemas.microsoft.com/office/drawing/2014/main" id="{FC32507D-8A3B-AA4D-90D1-7DB9414A24D3}"/>
              </a:ext>
            </a:extLst>
          </p:cNvPr>
          <p:cNvSpPr/>
          <p:nvPr/>
        </p:nvSpPr>
        <p:spPr>
          <a:xfrm>
            <a:off x="1016000" y="4699000"/>
            <a:ext cx="2286000" cy="508000"/>
          </a:xfrm>
          <a:prstGeom prst="roundRect">
            <a:avLst/>
          </a:prstGeom>
          <a:solidFill>
            <a:srgbClr val="2C8A8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400" b="1">
                <a:solidFill>
                  <a:srgbClr val="FFFFFF"/>
                </a:solidFill>
              </a:rPr>
              <a:t>Teal #2C8A87</a:t>
            </a:r>
          </a:p>
        </p:txBody>
      </p:sp>
      <p:sp>
        <p:nvSpPr>
          <p:cNvPr id="7" name="CuadroTexto 6">
            <a:extLst>
              <a:ext uri="{FF2B5EF4-FFF2-40B4-BE49-F238E27FC236}">
                <a16:creationId xmlns:a16="http://schemas.microsoft.com/office/drawing/2014/main" id="{88F6D329-AE5E-4649-847A-822FE7AB7B21}"/>
              </a:ext>
            </a:extLst>
          </p:cNvPr>
          <p:cNvSpPr txBox="1"/>
          <p:nvPr/>
        </p:nvSpPr>
        <p:spPr>
          <a:xfrm>
            <a:off x="9144000" y="1524000"/>
            <a:ext cx="2540000" cy="3810000"/>
          </a:xfrm>
          <a:prstGeom prst="rect">
            <a:avLst/>
          </a:prstGeom>
          <a:noFill/>
        </p:spPr>
        <p:txBody>
          <a:bodyPr vertOverflow="overflow" vert="horz" wrap="square" rtlCol="0" anchor="t">
            <a:spAutoFit/>
          </a:bodyPr>
          <a:lstStyle/>
          <a:p>
            <a:pPr algn="l"/>
            <a:r>
              <a:rPr lang="es-CO" sz="12000" b="1">
                <a:solidFill>
                  <a:srgbClr val="2C8A87"/>
                </a:solidFill>
                <a:latin typeface="Inter"/>
              </a:rPr>
              <a:t>04</a:t>
            </a:r>
          </a:p>
        </p:txBody>
      </p:sp>
    </p:spTree>
    <p:extLst>
      <p:ext uri="{BB962C8B-B14F-4D97-AF65-F5344CB8AC3E}">
        <p14:creationId xmlns:p14="http://schemas.microsoft.com/office/powerpoint/2010/main" val="663856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B8BACF0-C2C5-8B4B-8270-97FACF057CB4}"/>
              </a:ext>
            </a:extLst>
          </p:cNvPr>
          <p:cNvSpPr/>
          <p:nvPr/>
        </p:nvSpPr>
        <p:spPr>
          <a:xfrm>
            <a:off x="762000" y="1270000"/>
            <a:ext cx="63500" cy="3810000"/>
          </a:xfrm>
          <a:prstGeom prst="rect">
            <a:avLst/>
          </a:prstGeom>
          <a:solidFill>
            <a:srgbClr val="2C8A87"/>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FC298E95-336F-054F-944D-5CC2D38C4829}"/>
              </a:ext>
            </a:extLst>
          </p:cNvPr>
          <p:cNvSpPr txBox="1"/>
          <p:nvPr/>
        </p:nvSpPr>
        <p:spPr>
          <a:xfrm>
            <a:off x="1079500" y="1270000"/>
            <a:ext cx="8255000" cy="1397000"/>
          </a:xfrm>
          <a:prstGeom prst="rect">
            <a:avLst/>
          </a:prstGeom>
          <a:noFill/>
        </p:spPr>
        <p:txBody>
          <a:bodyPr vertOverflow="overflow" vert="horz" wrap="square" rtlCol="0" anchor="t">
            <a:spAutoFit/>
          </a:bodyPr>
          <a:lstStyle/>
          <a:p>
            <a:pPr algn="l"/>
            <a:r>
              <a:rPr lang="es-CO" sz="3000" b="1">
                <a:solidFill>
                  <a:srgbClr val="F3F6FA"/>
                </a:solidFill>
                <a:latin typeface="Inter"/>
              </a:rPr>
              <a:t>What an AI governance review
found in a 23-person agency.</a:t>
            </a:r>
          </a:p>
        </p:txBody>
      </p:sp>
      <p:sp>
        <p:nvSpPr>
          <p:cNvPr id="4" name="CuadroTexto 3">
            <a:extLst>
              <a:ext uri="{FF2B5EF4-FFF2-40B4-BE49-F238E27FC236}">
                <a16:creationId xmlns:a16="http://schemas.microsoft.com/office/drawing/2014/main" id="{832DAB0E-6360-3E41-8B7B-40AE8EAACA01}"/>
              </a:ext>
            </a:extLst>
          </p:cNvPr>
          <p:cNvSpPr txBox="1"/>
          <p:nvPr/>
        </p:nvSpPr>
        <p:spPr>
          <a:xfrm>
            <a:off x="1079500" y="3175000"/>
            <a:ext cx="7620000" cy="762000"/>
          </a:xfrm>
          <a:prstGeom prst="rect">
            <a:avLst/>
          </a:prstGeom>
          <a:noFill/>
        </p:spPr>
        <p:txBody>
          <a:bodyPr vertOverflow="overflow" vert="horz" wrap="square" rtlCol="0" anchor="t">
            <a:spAutoFit/>
          </a:bodyPr>
          <a:lstStyle/>
          <a:p>
            <a:pPr algn="l"/>
            <a:r>
              <a:rPr lang="es-CO" b="1">
                <a:solidFill>
                  <a:srgbClr val="2C8A87"/>
                </a:solidFill>
                <a:latin typeface="DM Sans"/>
              </a:rPr>
              <a:t>Illustrative sample.
Based on common patterns.</a:t>
            </a:r>
          </a:p>
        </p:txBody>
      </p:sp>
      <p:sp>
        <p:nvSpPr>
          <p:cNvPr id="5" name="CuadroTexto 4">
            <a:extLst>
              <a:ext uri="{FF2B5EF4-FFF2-40B4-BE49-F238E27FC236}">
                <a16:creationId xmlns:a16="http://schemas.microsoft.com/office/drawing/2014/main" id="{FCCB977C-D97B-2848-AB8F-8FDBA35314EF}"/>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01 / 08</a:t>
            </a:r>
          </a:p>
        </p:txBody>
      </p:sp>
    </p:spTree>
    <p:extLst>
      <p:ext uri="{BB962C8B-B14F-4D97-AF65-F5344CB8AC3E}">
        <p14:creationId xmlns:p14="http://schemas.microsoft.com/office/powerpoint/2010/main" val="4290464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15CEE754-D4B3-3A4A-972A-89AE1258CC3B}"/>
              </a:ext>
            </a:extLst>
          </p:cNvPr>
          <p:cNvSpPr/>
          <p:nvPr/>
        </p:nvSpPr>
        <p:spPr>
          <a:xfrm>
            <a:off x="762000" y="762000"/>
            <a:ext cx="63500" cy="762000"/>
          </a:xfrm>
          <a:prstGeom prst="rect">
            <a:avLst/>
          </a:prstGeom>
          <a:solidFill>
            <a:srgbClr val="2C8A87"/>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7C754CB1-5578-224A-B24E-92EF368B7ADF}"/>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2C8A87"/>
                </a:solidFill>
                <a:latin typeface="Inter"/>
              </a:rPr>
              <a:t>The Firm (Illustrative Profile)</a:t>
            </a:r>
          </a:p>
        </p:txBody>
      </p:sp>
      <p:sp>
        <p:nvSpPr>
          <p:cNvPr id="4" name="CuadroTexto 3">
            <a:extLst>
              <a:ext uri="{FF2B5EF4-FFF2-40B4-BE49-F238E27FC236}">
                <a16:creationId xmlns:a16="http://schemas.microsoft.com/office/drawing/2014/main" id="{CDF6C7F0-22D0-614C-BCA5-0594FDA84A62}"/>
              </a:ext>
            </a:extLst>
          </p:cNvPr>
          <p:cNvSpPr txBox="1"/>
          <p:nvPr/>
        </p:nvSpPr>
        <p:spPr>
          <a:xfrm>
            <a:off x="1079500" y="1524000"/>
            <a:ext cx="7620000" cy="3556000"/>
          </a:xfrm>
          <a:prstGeom prst="rect">
            <a:avLst/>
          </a:prstGeom>
          <a:noFill/>
        </p:spPr>
        <p:txBody>
          <a:bodyPr vertOverflow="overflow" vert="horz" wrap="square" rtlCol="0" anchor="t">
            <a:spAutoFit/>
          </a:bodyPr>
          <a:lstStyle/>
          <a:p>
            <a:pPr algn="l"/>
            <a:r>
              <a:rPr lang="es-CO">
                <a:solidFill>
                  <a:srgbClr val="1A2332"/>
                </a:solidFill>
                <a:latin typeface="DM Sans"/>
              </a:rPr>
              <a:t>→  Marketing &amp; Creative Agency
→  23 employees across 4 departments
→  $3.2M in annual revenue
→  AI tools: ChatGPT, Midjourney,
     HubSpot AI, Jasper, Grammarly
→  Internal AI policy: None</a:t>
            </a:r>
          </a:p>
        </p:txBody>
      </p:sp>
      <p:sp>
        <p:nvSpPr>
          <p:cNvPr id="5" name="CuadroTexto 4">
            <a:extLst>
              <a:ext uri="{FF2B5EF4-FFF2-40B4-BE49-F238E27FC236}">
                <a16:creationId xmlns:a16="http://schemas.microsoft.com/office/drawing/2014/main" id="{33EA6D95-33B3-1147-9FD6-4E3CAF0A1FCB}"/>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02 / 08</a:t>
            </a:r>
          </a:p>
        </p:txBody>
      </p:sp>
    </p:spTree>
    <p:extLst>
      <p:ext uri="{BB962C8B-B14F-4D97-AF65-F5344CB8AC3E}">
        <p14:creationId xmlns:p14="http://schemas.microsoft.com/office/powerpoint/2010/main" val="9532287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C7FA735-E93F-0241-AA29-2021F3DB674E}"/>
              </a:ext>
            </a:extLst>
          </p:cNvPr>
          <p:cNvSpPr/>
          <p:nvPr/>
        </p:nvSpPr>
        <p:spPr>
          <a:xfrm>
            <a:off x="762000" y="762000"/>
            <a:ext cx="63500" cy="762000"/>
          </a:xfrm>
          <a:prstGeom prst="rect">
            <a:avLst/>
          </a:prstGeom>
          <a:solidFill>
            <a:srgbClr val="2C8A87"/>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3F0276E3-C00B-E343-942F-BB3666724636}"/>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2C8A87"/>
                </a:solidFill>
                <a:latin typeface="Inter"/>
              </a:rPr>
              <a:t>Risk 1 — Client Data in Prompts</a:t>
            </a:r>
          </a:p>
        </p:txBody>
      </p:sp>
      <p:sp>
        <p:nvSpPr>
          <p:cNvPr id="4" name="CuadroTexto 3">
            <a:extLst>
              <a:ext uri="{FF2B5EF4-FFF2-40B4-BE49-F238E27FC236}">
                <a16:creationId xmlns:a16="http://schemas.microsoft.com/office/drawing/2014/main" id="{5EE7DF2E-802E-FE4D-A197-403BDFC881AC}"/>
              </a:ext>
            </a:extLst>
          </p:cNvPr>
          <p:cNvSpPr txBox="1"/>
          <p:nvPr/>
        </p:nvSpPr>
        <p:spPr>
          <a:xfrm>
            <a:off x="1079500" y="1524000"/>
            <a:ext cx="7620000" cy="3810000"/>
          </a:xfrm>
          <a:prstGeom prst="rect">
            <a:avLst/>
          </a:prstGeom>
          <a:noFill/>
        </p:spPr>
        <p:txBody>
          <a:bodyPr vertOverflow="overflow" vert="horz" wrap="square" rtlCol="0" anchor="t">
            <a:spAutoFit/>
          </a:bodyPr>
          <a:lstStyle/>
          <a:p>
            <a:pPr algn="l"/>
            <a:r>
              <a:rPr lang="es-CO">
                <a:solidFill>
                  <a:srgbClr val="1A2332"/>
                </a:solidFill>
                <a:latin typeface="DM Sans"/>
              </a:rPr>
              <a:t>Client briefs, campaign budgets,
and contact lists were being pasted
into ChatGPT prompts daily.
No rule existed on what was permitted.
Confidentiality exposure across
11 active client agreements.</a:t>
            </a:r>
          </a:p>
        </p:txBody>
      </p:sp>
      <p:sp>
        <p:nvSpPr>
          <p:cNvPr id="5" name="CuadroTexto 4">
            <a:extLst>
              <a:ext uri="{FF2B5EF4-FFF2-40B4-BE49-F238E27FC236}">
                <a16:creationId xmlns:a16="http://schemas.microsoft.com/office/drawing/2014/main" id="{36F5426C-9B48-9542-B8C4-BCB08C2CFF4F}"/>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03 / 08</a:t>
            </a:r>
          </a:p>
        </p:txBody>
      </p:sp>
    </p:spTree>
    <p:extLst>
      <p:ext uri="{BB962C8B-B14F-4D97-AF65-F5344CB8AC3E}">
        <p14:creationId xmlns:p14="http://schemas.microsoft.com/office/powerpoint/2010/main" val="34162546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C3AE788-5740-C44C-8D62-48A59BCDC46C}"/>
              </a:ext>
            </a:extLst>
          </p:cNvPr>
          <p:cNvSpPr/>
          <p:nvPr/>
        </p:nvSpPr>
        <p:spPr>
          <a:xfrm>
            <a:off x="762000" y="762000"/>
            <a:ext cx="63500" cy="762000"/>
          </a:xfrm>
          <a:prstGeom prst="rect">
            <a:avLst/>
          </a:prstGeom>
          <a:solidFill>
            <a:srgbClr val="2C8A87"/>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FA030E40-1729-1E46-A43A-3DE538A0202E}"/>
              </a:ext>
            </a:extLst>
          </p:cNvPr>
          <p:cNvSpPr txBox="1"/>
          <p:nvPr/>
        </p:nvSpPr>
        <p:spPr>
          <a:xfrm>
            <a:off x="1079500" y="762000"/>
            <a:ext cx="8890000" cy="508000"/>
          </a:xfrm>
          <a:prstGeom prst="rect">
            <a:avLst/>
          </a:prstGeom>
          <a:noFill/>
        </p:spPr>
        <p:txBody>
          <a:bodyPr vertOverflow="overflow" vert="horz" wrap="square" rtlCol="0" anchor="t">
            <a:spAutoFit/>
          </a:bodyPr>
          <a:lstStyle/>
          <a:p>
            <a:pPr algn="l"/>
            <a:r>
              <a:rPr lang="es-CO" sz="2200" b="1">
                <a:solidFill>
                  <a:srgbClr val="2C8A87"/>
                </a:solidFill>
                <a:latin typeface="Inter"/>
              </a:rPr>
              <a:t>Risk 2 — Two Clients with 'No AI' Clauses</a:t>
            </a:r>
          </a:p>
        </p:txBody>
      </p:sp>
      <p:sp>
        <p:nvSpPr>
          <p:cNvPr id="4" name="CuadroTexto 3">
            <a:extLst>
              <a:ext uri="{FF2B5EF4-FFF2-40B4-BE49-F238E27FC236}">
                <a16:creationId xmlns:a16="http://schemas.microsoft.com/office/drawing/2014/main" id="{342C490E-B731-724A-B59E-F757A1C47616}"/>
              </a:ext>
            </a:extLst>
          </p:cNvPr>
          <p:cNvSpPr txBox="1"/>
          <p:nvPr/>
        </p:nvSpPr>
        <p:spPr>
          <a:xfrm>
            <a:off x="1079500" y="1524000"/>
            <a:ext cx="7620000" cy="3810000"/>
          </a:xfrm>
          <a:prstGeom prst="rect">
            <a:avLst/>
          </a:prstGeom>
          <a:noFill/>
        </p:spPr>
        <p:txBody>
          <a:bodyPr vertOverflow="overflow" vert="horz" wrap="square" rtlCol="0" anchor="t">
            <a:spAutoFit/>
          </a:bodyPr>
          <a:lstStyle/>
          <a:p>
            <a:pPr algn="l"/>
            <a:r>
              <a:rPr lang="es-CO">
                <a:solidFill>
                  <a:srgbClr val="1A2332"/>
                </a:solidFill>
                <a:latin typeface="DM Sans"/>
              </a:rPr>
              <a:t>2 active MSAs had explicit 'original work'
clauses.
AI-generated content was being
delivered under those agreements.
Potential breach on $180K ARR.</a:t>
            </a:r>
          </a:p>
        </p:txBody>
      </p:sp>
      <p:sp>
        <p:nvSpPr>
          <p:cNvPr id="5" name="CuadroTexto 4">
            <a:extLst>
              <a:ext uri="{FF2B5EF4-FFF2-40B4-BE49-F238E27FC236}">
                <a16:creationId xmlns:a16="http://schemas.microsoft.com/office/drawing/2014/main" id="{D4FD0490-909A-1F48-AE35-A113F1C625A2}"/>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04 / 08</a:t>
            </a:r>
          </a:p>
        </p:txBody>
      </p:sp>
    </p:spTree>
    <p:extLst>
      <p:ext uri="{BB962C8B-B14F-4D97-AF65-F5344CB8AC3E}">
        <p14:creationId xmlns:p14="http://schemas.microsoft.com/office/powerpoint/2010/main" val="35428258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E6D6F0B-C6F3-504C-9976-7028599DDAF6}"/>
              </a:ext>
            </a:extLst>
          </p:cNvPr>
          <p:cNvSpPr/>
          <p:nvPr/>
        </p:nvSpPr>
        <p:spPr>
          <a:xfrm>
            <a:off x="762000" y="762000"/>
            <a:ext cx="63500" cy="762000"/>
          </a:xfrm>
          <a:prstGeom prst="rect">
            <a:avLst/>
          </a:prstGeom>
          <a:solidFill>
            <a:srgbClr val="2C8A87"/>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020DAFA2-CB5F-A447-9749-8139EE235227}"/>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What the sprint delivered:</a:t>
            </a:r>
          </a:p>
        </p:txBody>
      </p:sp>
      <p:sp>
        <p:nvSpPr>
          <p:cNvPr id="4" name="CuadroTexto 3">
            <a:extLst>
              <a:ext uri="{FF2B5EF4-FFF2-40B4-BE49-F238E27FC236}">
                <a16:creationId xmlns:a16="http://schemas.microsoft.com/office/drawing/2014/main" id="{DB1FF639-C0FE-5F41-81FD-06B3C298A82A}"/>
              </a:ext>
            </a:extLst>
          </p:cNvPr>
          <p:cNvSpPr txBox="1"/>
          <p:nvPr/>
        </p:nvSpPr>
        <p:spPr>
          <a:xfrm>
            <a:off x="1079500" y="1524000"/>
            <a:ext cx="7620000" cy="2540000"/>
          </a:xfrm>
          <a:prstGeom prst="rect">
            <a:avLst/>
          </a:prstGeom>
          <a:noFill/>
        </p:spPr>
        <p:txBody>
          <a:bodyPr vertOverflow="overflow" vert="horz" wrap="square" rtlCol="0" anchor="t">
            <a:spAutoFit/>
          </a:bodyPr>
          <a:lstStyle/>
          <a:p>
            <a:pPr algn="l"/>
            <a:r>
              <a:rPr lang="es-CO">
                <a:solidFill>
                  <a:srgbClr val="1A2332"/>
                </a:solidFill>
                <a:latin typeface="DM Sans"/>
              </a:rPr>
              <a:t>→  AI Use Guardrails v1 (1 page)
→  Restricted data categories defined
→  Human review standard set
→  AI disclosure clause for new MSAs
→  30-60-90 day action plan</a:t>
            </a:r>
          </a:p>
        </p:txBody>
      </p:sp>
      <p:sp>
        <p:nvSpPr>
          <p:cNvPr id="5" name="CuadroTexto 4">
            <a:extLst>
              <a:ext uri="{FF2B5EF4-FFF2-40B4-BE49-F238E27FC236}">
                <a16:creationId xmlns:a16="http://schemas.microsoft.com/office/drawing/2014/main" id="{32052A7D-5634-4341-860D-794C060239E9}"/>
              </a:ext>
            </a:extLst>
          </p:cNvPr>
          <p:cNvSpPr txBox="1"/>
          <p:nvPr/>
        </p:nvSpPr>
        <p:spPr>
          <a:xfrm>
            <a:off x="1079500" y="4572000"/>
            <a:ext cx="7620000" cy="762000"/>
          </a:xfrm>
          <a:prstGeom prst="rect">
            <a:avLst/>
          </a:prstGeom>
          <a:noFill/>
        </p:spPr>
        <p:txBody>
          <a:bodyPr vertOverflow="overflow" vert="horz" wrap="square" rtlCol="0" anchor="t">
            <a:spAutoFit/>
          </a:bodyPr>
          <a:lstStyle/>
          <a:p>
            <a:pPr algn="l"/>
            <a:r>
              <a:rPr lang="es-CO" b="1">
                <a:solidFill>
                  <a:srgbClr val="2C8A87"/>
                </a:solidFill>
                <a:latin typeface="DM Sans"/>
              </a:rPr>
              <a:t>Time to implement: 30 minutes.
Time to identify the problem: 24 hours.</a:t>
            </a:r>
          </a:p>
        </p:txBody>
      </p:sp>
      <p:sp>
        <p:nvSpPr>
          <p:cNvPr id="6" name="CuadroTexto 5">
            <a:extLst>
              <a:ext uri="{FF2B5EF4-FFF2-40B4-BE49-F238E27FC236}">
                <a16:creationId xmlns:a16="http://schemas.microsoft.com/office/drawing/2014/main" id="{8B389C69-C29A-434B-AE5F-32804221A90C}"/>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05 / 08</a:t>
            </a:r>
          </a:p>
        </p:txBody>
      </p:sp>
    </p:spTree>
    <p:extLst>
      <p:ext uri="{BB962C8B-B14F-4D97-AF65-F5344CB8AC3E}">
        <p14:creationId xmlns:p14="http://schemas.microsoft.com/office/powerpoint/2010/main" val="1104308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5D0A8E3-383C-6F4F-B81E-72346855F908}"/>
              </a:ext>
            </a:extLst>
          </p:cNvPr>
          <p:cNvSpPr/>
          <p:nvPr/>
        </p:nvSpPr>
        <p:spPr>
          <a:xfrm>
            <a:off x="762000" y="762000"/>
            <a:ext cx="63500" cy="762000"/>
          </a:xfrm>
          <a:prstGeom prst="rect">
            <a:avLst/>
          </a:prstGeom>
          <a:solidFill>
            <a:srgbClr val="2C8A87"/>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660889C5-62A7-1F4A-8540-8931B494C01F}"/>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Important note:</a:t>
            </a:r>
          </a:p>
        </p:txBody>
      </p:sp>
      <p:sp>
        <p:nvSpPr>
          <p:cNvPr id="4" name="Rectángulo redondeado 3">
            <a:extLst>
              <a:ext uri="{FF2B5EF4-FFF2-40B4-BE49-F238E27FC236}">
                <a16:creationId xmlns:a16="http://schemas.microsoft.com/office/drawing/2014/main" id="{6632B6AE-FA2D-D142-BA80-8FD1DF6CEBF7}"/>
              </a:ext>
            </a:extLst>
          </p:cNvPr>
          <p:cNvSpPr/>
          <p:nvPr/>
        </p:nvSpPr>
        <p:spPr>
          <a:xfrm>
            <a:off x="1079500" y="1524000"/>
            <a:ext cx="7620000" cy="2794000"/>
          </a:xfrm>
          <a:prstGeom prst="roundRect">
            <a:avLst/>
          </a:prstGeom>
          <a:solidFill>
            <a:srgbClr val="E8E3D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D0880F60-569A-5C42-99FC-D474CCF4E09A}"/>
              </a:ext>
            </a:extLst>
          </p:cNvPr>
          <p:cNvSpPr txBox="1"/>
          <p:nvPr/>
        </p:nvSpPr>
        <p:spPr>
          <a:xfrm>
            <a:off x="1333500" y="1714500"/>
            <a:ext cx="7112000" cy="2540000"/>
          </a:xfrm>
          <a:prstGeom prst="rect">
            <a:avLst/>
          </a:prstGeom>
          <a:noFill/>
        </p:spPr>
        <p:txBody>
          <a:bodyPr vertOverflow="overflow" vert="horz" wrap="square" rtlCol="0" anchor="t">
            <a:spAutoFit/>
          </a:bodyPr>
          <a:lstStyle/>
          <a:p>
            <a:pPr algn="l"/>
            <a:r>
              <a:rPr lang="es-CO" sz="1700">
                <a:solidFill>
                  <a:srgbClr val="1A2332"/>
                </a:solidFill>
                <a:latin typeface="DM Sans"/>
              </a:rPr>
              <a:t>This is an illustrative sample.
Not a real client file.
It's based on patterns observed
across small professional-service firms
using AI without formal controls.
The risks are real.
The scenario is illustrative.</a:t>
            </a:r>
          </a:p>
        </p:txBody>
      </p:sp>
      <p:sp>
        <p:nvSpPr>
          <p:cNvPr id="6" name="CuadroTexto 5">
            <a:extLst>
              <a:ext uri="{FF2B5EF4-FFF2-40B4-BE49-F238E27FC236}">
                <a16:creationId xmlns:a16="http://schemas.microsoft.com/office/drawing/2014/main" id="{9538C2E4-FCEE-8A42-9AF3-D9760E0FCD30}"/>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06 / 08</a:t>
            </a:r>
          </a:p>
        </p:txBody>
      </p:sp>
    </p:spTree>
    <p:extLst>
      <p:ext uri="{BB962C8B-B14F-4D97-AF65-F5344CB8AC3E}">
        <p14:creationId xmlns:p14="http://schemas.microsoft.com/office/powerpoint/2010/main" val="33977434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E11634A-06A2-0340-AB01-C10773E8A884}"/>
              </a:ext>
            </a:extLst>
          </p:cNvPr>
          <p:cNvSpPr/>
          <p:nvPr/>
        </p:nvSpPr>
        <p:spPr>
          <a:xfrm>
            <a:off x="762000" y="1270000"/>
            <a:ext cx="63500" cy="2540000"/>
          </a:xfrm>
          <a:prstGeom prst="rect">
            <a:avLst/>
          </a:prstGeom>
          <a:solidFill>
            <a:srgbClr val="2C8A87"/>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1D2E59F6-1C54-BA45-B547-E94B15B06CC1}"/>
              </a:ext>
            </a:extLst>
          </p:cNvPr>
          <p:cNvSpPr txBox="1"/>
          <p:nvPr/>
        </p:nvSpPr>
        <p:spPr>
          <a:xfrm>
            <a:off x="1079500" y="1270000"/>
            <a:ext cx="7620000" cy="508000"/>
          </a:xfrm>
          <a:prstGeom prst="rect">
            <a:avLst/>
          </a:prstGeom>
          <a:noFill/>
        </p:spPr>
        <p:txBody>
          <a:bodyPr vertOverflow="overflow" vert="horz" wrap="square" rtlCol="0" anchor="t">
            <a:spAutoFit/>
          </a:bodyPr>
          <a:lstStyle/>
          <a:p>
            <a:pPr algn="l"/>
            <a:r>
              <a:rPr lang="es-CO" sz="2400" b="1">
                <a:solidFill>
                  <a:srgbClr val="1A2332"/>
                </a:solidFill>
                <a:latin typeface="Inter"/>
              </a:rPr>
              <a:t>The problem wasn't the AI.</a:t>
            </a:r>
          </a:p>
        </p:txBody>
      </p:sp>
      <p:sp>
        <p:nvSpPr>
          <p:cNvPr id="4" name="CuadroTexto 3">
            <a:extLst>
              <a:ext uri="{FF2B5EF4-FFF2-40B4-BE49-F238E27FC236}">
                <a16:creationId xmlns:a16="http://schemas.microsoft.com/office/drawing/2014/main" id="{53B3A9AB-C074-C146-B5E0-9017655E9640}"/>
              </a:ext>
            </a:extLst>
          </p:cNvPr>
          <p:cNvSpPr txBox="1"/>
          <p:nvPr/>
        </p:nvSpPr>
        <p:spPr>
          <a:xfrm>
            <a:off x="1079500" y="2159000"/>
            <a:ext cx="7620000" cy="2794000"/>
          </a:xfrm>
          <a:prstGeom prst="rect">
            <a:avLst/>
          </a:prstGeom>
          <a:noFill/>
        </p:spPr>
        <p:txBody>
          <a:bodyPr vertOverflow="overflow" vert="horz" wrap="square" rtlCol="0" anchor="t">
            <a:spAutoFit/>
          </a:bodyPr>
          <a:lstStyle/>
          <a:p>
            <a:pPr algn="l"/>
            <a:r>
              <a:rPr lang="es-CO" sz="2200">
                <a:solidFill>
                  <a:srgbClr val="1A2332"/>
                </a:solidFill>
                <a:latin typeface="DM Sans"/>
              </a:rPr>
              <a:t>It was the absence of
a single written rule.
One document.
One team conversation.
Zero lawyers needed.</a:t>
            </a:r>
          </a:p>
        </p:txBody>
      </p:sp>
      <p:sp>
        <p:nvSpPr>
          <p:cNvPr id="5" name="CuadroTexto 4">
            <a:extLst>
              <a:ext uri="{FF2B5EF4-FFF2-40B4-BE49-F238E27FC236}">
                <a16:creationId xmlns:a16="http://schemas.microsoft.com/office/drawing/2014/main" id="{059C3F2E-22DB-7A40-9277-A3164A2D97B2}"/>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07 / 08</a:t>
            </a:r>
          </a:p>
        </p:txBody>
      </p:sp>
    </p:spTree>
    <p:extLst>
      <p:ext uri="{BB962C8B-B14F-4D97-AF65-F5344CB8AC3E}">
        <p14:creationId xmlns:p14="http://schemas.microsoft.com/office/powerpoint/2010/main" val="41916016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0183E02-7279-4840-BFBA-17AAB822BF39}"/>
              </a:ext>
            </a:extLst>
          </p:cNvPr>
          <p:cNvSpPr/>
          <p:nvPr/>
        </p:nvSpPr>
        <p:spPr>
          <a:xfrm>
            <a:off x="0" y="0"/>
            <a:ext cx="12192000" cy="76200"/>
          </a:xfrm>
          <a:prstGeom prst="rect">
            <a:avLst/>
          </a:prstGeom>
          <a:solidFill>
            <a:srgbClr val="2C8A87"/>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34BA81A4-13BB-F147-A560-B389DC9732C1}"/>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600" b="1">
                <a:solidFill>
                  <a:srgbClr val="F3F6FA"/>
                </a:solidFill>
                <a:latin typeface="Inter"/>
              </a:rPr>
              <a:t>Does this look familiar?</a:t>
            </a:r>
          </a:p>
        </p:txBody>
      </p:sp>
      <p:sp>
        <p:nvSpPr>
          <p:cNvPr id="4" name="CuadroTexto 3">
            <a:extLst>
              <a:ext uri="{FF2B5EF4-FFF2-40B4-BE49-F238E27FC236}">
                <a16:creationId xmlns:a16="http://schemas.microsoft.com/office/drawing/2014/main" id="{5AE0ADAE-7E0B-6041-A6AE-D0571332FF95}"/>
              </a:ext>
            </a:extLst>
          </p:cNvPr>
          <p:cNvSpPr txBox="1"/>
          <p:nvPr/>
        </p:nvSpPr>
        <p:spPr>
          <a:xfrm>
            <a:off x="1079500" y="1524000"/>
            <a:ext cx="7620000" cy="2794000"/>
          </a:xfrm>
          <a:prstGeom prst="rect">
            <a:avLst/>
          </a:prstGeom>
          <a:noFill/>
        </p:spPr>
        <p:txBody>
          <a:bodyPr vertOverflow="overflow" vert="horz" wrap="square" rtlCol="0" anchor="t">
            <a:spAutoFit/>
          </a:bodyPr>
          <a:lstStyle/>
          <a:p>
            <a:pPr algn="l"/>
            <a:r>
              <a:rPr lang="es-CO">
                <a:solidFill>
                  <a:srgbClr val="C8CED8"/>
                </a:solidFill>
                <a:latin typeface="DM Sans"/>
              </a:rPr>
              <a:t>If your firm uses AI without
a written usage rule —
the pattern is probably similar.
Drop a comment with your industry.
I'll tell you the most common risk
for firms like yours.</a:t>
            </a:r>
          </a:p>
        </p:txBody>
      </p:sp>
      <p:sp>
        <p:nvSpPr>
          <p:cNvPr id="5" name="Rectángulo redondeado 4">
            <a:extLst>
              <a:ext uri="{FF2B5EF4-FFF2-40B4-BE49-F238E27FC236}">
                <a16:creationId xmlns:a16="http://schemas.microsoft.com/office/drawing/2014/main" id="{7AF668E7-D3F3-B04D-A231-B4A27FB65B73}"/>
              </a:ext>
            </a:extLst>
          </p:cNvPr>
          <p:cNvSpPr/>
          <p:nvPr/>
        </p:nvSpPr>
        <p:spPr>
          <a:xfrm>
            <a:off x="1079500" y="5080000"/>
            <a:ext cx="6604000" cy="635000"/>
          </a:xfrm>
          <a:prstGeom prst="roundRect">
            <a:avLst/>
          </a:prstGeom>
          <a:solidFill>
            <a:srgbClr val="2C8A8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600" b="1">
                <a:solidFill>
                  <a:srgbClr val="FFFFFF"/>
                </a:solidFill>
                <a:latin typeface="DM Sans"/>
              </a:rPr>
              <a:t>💬  What industry are you in? Comment below.</a:t>
            </a:r>
          </a:p>
        </p:txBody>
      </p:sp>
      <p:sp>
        <p:nvSpPr>
          <p:cNvPr id="6" name="CuadroTexto 5">
            <a:extLst>
              <a:ext uri="{FF2B5EF4-FFF2-40B4-BE49-F238E27FC236}">
                <a16:creationId xmlns:a16="http://schemas.microsoft.com/office/drawing/2014/main" id="{6ECE848B-F26E-894E-92D5-C329B24E35A8}"/>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08 / 08</a:t>
            </a:r>
          </a:p>
        </p:txBody>
      </p:sp>
    </p:spTree>
    <p:extLst>
      <p:ext uri="{BB962C8B-B14F-4D97-AF65-F5344CB8AC3E}">
        <p14:creationId xmlns:p14="http://schemas.microsoft.com/office/powerpoint/2010/main" val="2395559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A8B444D-3841-514F-AC0B-365BE0363CEB}"/>
              </a:ext>
            </a:extLst>
          </p:cNvPr>
          <p:cNvSpPr txBox="1"/>
          <p:nvPr/>
        </p:nvSpPr>
        <p:spPr>
          <a:xfrm>
            <a:off x="1016000" y="1270000"/>
            <a:ext cx="3810000" cy="508000"/>
          </a:xfrm>
          <a:prstGeom prst="rect">
            <a:avLst/>
          </a:prstGeom>
          <a:noFill/>
        </p:spPr>
        <p:txBody>
          <a:bodyPr vertOverflow="overflow" vert="horz" wrap="square" rtlCol="0" anchor="t">
            <a:spAutoFit/>
          </a:bodyPr>
          <a:lstStyle/>
          <a:p>
            <a:pPr algn="l"/>
            <a:r>
              <a:rPr lang="es-CO" sz="1400"/>
              <a:t>CAROUSEL 05</a:t>
            </a:r>
          </a:p>
        </p:txBody>
      </p:sp>
      <p:sp>
        <p:nvSpPr>
          <p:cNvPr id="3" name="Rectángulo 2">
            <a:extLst>
              <a:ext uri="{FF2B5EF4-FFF2-40B4-BE49-F238E27FC236}">
                <a16:creationId xmlns:a16="http://schemas.microsoft.com/office/drawing/2014/main" id="{6D3CA7B3-FC60-E74B-A727-F82CACC340CA}"/>
              </a:ext>
            </a:extLst>
          </p:cNvPr>
          <p:cNvSpPr/>
          <p:nvPr/>
        </p:nvSpPr>
        <p:spPr>
          <a:xfrm>
            <a:off x="1016000" y="1905000"/>
            <a:ext cx="1016000" cy="63500"/>
          </a:xfrm>
          <a:prstGeom prst="rect">
            <a:avLst/>
          </a:prstGeom>
          <a:solidFill>
            <a:srgbClr val="7A4F78"/>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4" name="CuadroTexto 3">
            <a:extLst>
              <a:ext uri="{FF2B5EF4-FFF2-40B4-BE49-F238E27FC236}">
                <a16:creationId xmlns:a16="http://schemas.microsoft.com/office/drawing/2014/main" id="{C249EBE5-2009-7840-9276-E4D7BD340BF3}"/>
              </a:ext>
            </a:extLst>
          </p:cNvPr>
          <p:cNvSpPr txBox="1"/>
          <p:nvPr/>
        </p:nvSpPr>
        <p:spPr>
          <a:xfrm>
            <a:off x="1016000" y="2159000"/>
            <a:ext cx="7620000" cy="1524000"/>
          </a:xfrm>
          <a:prstGeom prst="rect">
            <a:avLst/>
          </a:prstGeom>
          <a:noFill/>
        </p:spPr>
        <p:txBody>
          <a:bodyPr vertOverflow="overflow" vert="horz" wrap="square" rtlCol="0" anchor="t">
            <a:spAutoFit/>
          </a:bodyPr>
          <a:lstStyle/>
          <a:p>
            <a:pPr algn="l"/>
            <a:r>
              <a:rPr lang="es-CO" sz="3600" b="1">
                <a:solidFill>
                  <a:srgbClr val="F3F6FA"/>
                </a:solidFill>
                <a:latin typeface="Inter"/>
              </a:rPr>
              <a:t>5 Things People Get Wrong
About AI Governance</a:t>
            </a:r>
          </a:p>
        </p:txBody>
      </p:sp>
      <p:sp>
        <p:nvSpPr>
          <p:cNvPr id="5" name="CuadroTexto 4">
            <a:extLst>
              <a:ext uri="{FF2B5EF4-FFF2-40B4-BE49-F238E27FC236}">
                <a16:creationId xmlns:a16="http://schemas.microsoft.com/office/drawing/2014/main" id="{B75A43EE-0EC4-C847-ADE5-35602C545314}"/>
              </a:ext>
            </a:extLst>
          </p:cNvPr>
          <p:cNvSpPr txBox="1"/>
          <p:nvPr/>
        </p:nvSpPr>
        <p:spPr>
          <a:xfrm>
            <a:off x="1016000" y="3937000"/>
            <a:ext cx="6350000" cy="381000"/>
          </a:xfrm>
          <a:prstGeom prst="rect">
            <a:avLst/>
          </a:prstGeom>
          <a:noFill/>
        </p:spPr>
        <p:txBody>
          <a:bodyPr vertOverflow="overflow" vert="horz" wrap="square" rtlCol="0" anchor="t">
            <a:spAutoFit/>
          </a:bodyPr>
          <a:lstStyle/>
          <a:p>
            <a:pPr algn="l"/>
            <a:r>
              <a:rPr lang="es-CO" sz="1400"/>
              <a:t>Day 9  •  8:00 AM EST  •  Objection Handling  •  7 Slides</a:t>
            </a:r>
          </a:p>
        </p:txBody>
      </p:sp>
      <p:sp>
        <p:nvSpPr>
          <p:cNvPr id="6" name="Rectángulo redondeado 5">
            <a:extLst>
              <a:ext uri="{FF2B5EF4-FFF2-40B4-BE49-F238E27FC236}">
                <a16:creationId xmlns:a16="http://schemas.microsoft.com/office/drawing/2014/main" id="{7BD294E4-F49E-CF4A-A962-0763C70ED307}"/>
              </a:ext>
            </a:extLst>
          </p:cNvPr>
          <p:cNvSpPr/>
          <p:nvPr/>
        </p:nvSpPr>
        <p:spPr>
          <a:xfrm>
            <a:off x="1016000" y="4699000"/>
            <a:ext cx="2286000" cy="508000"/>
          </a:xfrm>
          <a:prstGeom prst="roundRect">
            <a:avLst/>
          </a:prstGeom>
          <a:solidFill>
            <a:srgbClr val="7A4F7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400" b="1">
                <a:solidFill>
                  <a:srgbClr val="FFFFFF"/>
                </a:solidFill>
              </a:rPr>
              <a:t>Plum #7A4F78</a:t>
            </a:r>
          </a:p>
        </p:txBody>
      </p:sp>
      <p:sp>
        <p:nvSpPr>
          <p:cNvPr id="7" name="CuadroTexto 6">
            <a:extLst>
              <a:ext uri="{FF2B5EF4-FFF2-40B4-BE49-F238E27FC236}">
                <a16:creationId xmlns:a16="http://schemas.microsoft.com/office/drawing/2014/main" id="{54330920-D8B8-C143-8350-534A1EE85DC7}"/>
              </a:ext>
            </a:extLst>
          </p:cNvPr>
          <p:cNvSpPr txBox="1"/>
          <p:nvPr/>
        </p:nvSpPr>
        <p:spPr>
          <a:xfrm>
            <a:off x="9144000" y="1524000"/>
            <a:ext cx="2540000" cy="3810000"/>
          </a:xfrm>
          <a:prstGeom prst="rect">
            <a:avLst/>
          </a:prstGeom>
          <a:noFill/>
        </p:spPr>
        <p:txBody>
          <a:bodyPr vertOverflow="overflow" vert="horz" wrap="square" rtlCol="0" anchor="t">
            <a:spAutoFit/>
          </a:bodyPr>
          <a:lstStyle/>
          <a:p>
            <a:pPr algn="l"/>
            <a:r>
              <a:rPr lang="es-CO" sz="12000" b="1">
                <a:solidFill>
                  <a:srgbClr val="7A4F78"/>
                </a:solidFill>
                <a:latin typeface="Inter"/>
              </a:rPr>
              <a:t>05</a:t>
            </a:r>
          </a:p>
        </p:txBody>
      </p:sp>
    </p:spTree>
    <p:extLst>
      <p:ext uri="{BB962C8B-B14F-4D97-AF65-F5344CB8AC3E}">
        <p14:creationId xmlns:p14="http://schemas.microsoft.com/office/powerpoint/2010/main" val="32087349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3A99A3DC-A401-2947-AF3A-CECD203FD7D7}"/>
              </a:ext>
            </a:extLst>
          </p:cNvPr>
          <p:cNvSpPr/>
          <p:nvPr/>
        </p:nvSpPr>
        <p:spPr>
          <a:xfrm>
            <a:off x="762000" y="1270000"/>
            <a:ext cx="63500" cy="3810000"/>
          </a:xfrm>
          <a:prstGeom prst="rect">
            <a:avLst/>
          </a:prstGeom>
          <a:solidFill>
            <a:srgbClr val="7A4F78"/>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4C066E32-F046-7B49-93B5-0E72F295B8BB}"/>
              </a:ext>
            </a:extLst>
          </p:cNvPr>
          <p:cNvSpPr txBox="1"/>
          <p:nvPr/>
        </p:nvSpPr>
        <p:spPr>
          <a:xfrm>
            <a:off x="1079500" y="1270000"/>
            <a:ext cx="7620000" cy="1397000"/>
          </a:xfrm>
          <a:prstGeom prst="rect">
            <a:avLst/>
          </a:prstGeom>
          <a:noFill/>
        </p:spPr>
        <p:txBody>
          <a:bodyPr vertOverflow="overflow" vert="horz" wrap="square" rtlCol="0" anchor="t">
            <a:spAutoFit/>
          </a:bodyPr>
          <a:lstStyle/>
          <a:p>
            <a:pPr algn="l"/>
            <a:r>
              <a:rPr lang="es-CO" sz="3200" b="1">
                <a:solidFill>
                  <a:srgbClr val="F3F6FA"/>
                </a:solidFill>
                <a:latin typeface="Inter"/>
              </a:rPr>
              <a:t>5 things people get wrong
about AI governance.</a:t>
            </a:r>
          </a:p>
        </p:txBody>
      </p:sp>
      <p:sp>
        <p:nvSpPr>
          <p:cNvPr id="4" name="CuadroTexto 3">
            <a:extLst>
              <a:ext uri="{FF2B5EF4-FFF2-40B4-BE49-F238E27FC236}">
                <a16:creationId xmlns:a16="http://schemas.microsoft.com/office/drawing/2014/main" id="{4DFB3DCD-03E1-BE48-B28E-F25054EA4712}"/>
              </a:ext>
            </a:extLst>
          </p:cNvPr>
          <p:cNvSpPr txBox="1"/>
          <p:nvPr/>
        </p:nvSpPr>
        <p:spPr>
          <a:xfrm>
            <a:off x="1079500" y="3048000"/>
            <a:ext cx="7620000" cy="508000"/>
          </a:xfrm>
          <a:prstGeom prst="rect">
            <a:avLst/>
          </a:prstGeom>
          <a:noFill/>
        </p:spPr>
        <p:txBody>
          <a:bodyPr vertOverflow="overflow" vert="horz" wrap="square" rtlCol="0" anchor="t">
            <a:spAutoFit/>
          </a:bodyPr>
          <a:lstStyle/>
          <a:p>
            <a:pPr algn="l"/>
            <a:r>
              <a:rPr lang="es-CO" sz="2000" b="1">
                <a:solidFill>
                  <a:srgbClr val="7A4F78"/>
                </a:solidFill>
                <a:latin typeface="DM Sans"/>
              </a:rPr>
              <a:t>(And why each one costs them.)</a:t>
            </a:r>
          </a:p>
        </p:txBody>
      </p:sp>
      <p:sp>
        <p:nvSpPr>
          <p:cNvPr id="5" name="CuadroTexto 4">
            <a:extLst>
              <a:ext uri="{FF2B5EF4-FFF2-40B4-BE49-F238E27FC236}">
                <a16:creationId xmlns:a16="http://schemas.microsoft.com/office/drawing/2014/main" id="{BB08C5B1-D03E-6145-841C-5D6D087285EC}"/>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01 / 07</a:t>
            </a:r>
          </a:p>
        </p:txBody>
      </p:sp>
    </p:spTree>
    <p:extLst>
      <p:ext uri="{BB962C8B-B14F-4D97-AF65-F5344CB8AC3E}">
        <p14:creationId xmlns:p14="http://schemas.microsoft.com/office/powerpoint/2010/main" val="20540134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6A8A15B-705C-DE4F-A504-1D83061E4154}"/>
              </a:ext>
            </a:extLst>
          </p:cNvPr>
          <p:cNvSpPr/>
          <p:nvPr/>
        </p:nvSpPr>
        <p:spPr>
          <a:xfrm>
            <a:off x="762000" y="762000"/>
            <a:ext cx="63500" cy="762000"/>
          </a:xfrm>
          <a:prstGeom prst="rect">
            <a:avLst/>
          </a:prstGeom>
          <a:solidFill>
            <a:srgbClr val="7A4F78"/>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1C7D1640-1F73-D14A-A2E0-516BA275F857}"/>
              </a:ext>
            </a:extLst>
          </p:cNvPr>
          <p:cNvSpPr txBox="1"/>
          <p:nvPr/>
        </p:nvSpPr>
        <p:spPr>
          <a:xfrm>
            <a:off x="1079500" y="762000"/>
            <a:ext cx="8890000" cy="508000"/>
          </a:xfrm>
          <a:prstGeom prst="rect">
            <a:avLst/>
          </a:prstGeom>
          <a:noFill/>
        </p:spPr>
        <p:txBody>
          <a:bodyPr vertOverflow="overflow" vert="horz" wrap="square" rtlCol="0" anchor="t">
            <a:spAutoFit/>
          </a:bodyPr>
          <a:lstStyle/>
          <a:p>
            <a:pPr algn="l"/>
            <a:r>
              <a:rPr lang="es-CO" sz="2000" b="1">
                <a:solidFill>
                  <a:srgbClr val="7A4F78"/>
                </a:solidFill>
                <a:latin typeface="Inter"/>
              </a:rPr>
              <a:t>Myth 1: 'We're too small to need a policy.'</a:t>
            </a:r>
          </a:p>
        </p:txBody>
      </p:sp>
      <p:sp>
        <p:nvSpPr>
          <p:cNvPr id="4" name="CuadroTexto 3">
            <a:extLst>
              <a:ext uri="{FF2B5EF4-FFF2-40B4-BE49-F238E27FC236}">
                <a16:creationId xmlns:a16="http://schemas.microsoft.com/office/drawing/2014/main" id="{3CC9D9F7-E49B-9C42-82F5-F75ADCFC40FB}"/>
              </a:ext>
            </a:extLst>
          </p:cNvPr>
          <p:cNvSpPr txBox="1"/>
          <p:nvPr/>
        </p:nvSpPr>
        <p:spPr>
          <a:xfrm>
            <a:off x="1079500" y="1524000"/>
            <a:ext cx="7620000" cy="3810000"/>
          </a:xfrm>
          <a:prstGeom prst="rect">
            <a:avLst/>
          </a:prstGeom>
          <a:noFill/>
        </p:spPr>
        <p:txBody>
          <a:bodyPr vertOverflow="overflow" vert="horz" wrap="square" rtlCol="0" anchor="t">
            <a:spAutoFit/>
          </a:bodyPr>
          <a:lstStyle/>
          <a:p>
            <a:pPr algn="l"/>
            <a:r>
              <a:rPr lang="es-CO">
                <a:solidFill>
                  <a:srgbClr val="1A2332"/>
                </a:solidFill>
                <a:latin typeface="DM Sans"/>
              </a:rPr>
              <a:t>Reality:
The risk isn't size-dependent.
It's contract-dependent.
One client agreement with an 'original
work' clause is enough to create a problem —
regardless of how many employees you have.</a:t>
            </a:r>
          </a:p>
        </p:txBody>
      </p:sp>
      <p:sp>
        <p:nvSpPr>
          <p:cNvPr id="5" name="CuadroTexto 4">
            <a:extLst>
              <a:ext uri="{FF2B5EF4-FFF2-40B4-BE49-F238E27FC236}">
                <a16:creationId xmlns:a16="http://schemas.microsoft.com/office/drawing/2014/main" id="{6B05938D-CF12-0E4F-B2A0-9F64534F23EB}"/>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02 / 07</a:t>
            </a:r>
          </a:p>
        </p:txBody>
      </p:sp>
    </p:spTree>
    <p:extLst>
      <p:ext uri="{BB962C8B-B14F-4D97-AF65-F5344CB8AC3E}">
        <p14:creationId xmlns:p14="http://schemas.microsoft.com/office/powerpoint/2010/main" val="5458731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3CB2B413-328D-6246-A1CD-E96DF7B7C14C}"/>
              </a:ext>
            </a:extLst>
          </p:cNvPr>
          <p:cNvSpPr/>
          <p:nvPr/>
        </p:nvSpPr>
        <p:spPr>
          <a:xfrm>
            <a:off x="762000" y="762000"/>
            <a:ext cx="63500" cy="762000"/>
          </a:xfrm>
          <a:prstGeom prst="rect">
            <a:avLst/>
          </a:prstGeom>
          <a:solidFill>
            <a:srgbClr val="7A4F78"/>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69F48AC5-E264-974D-910E-86453961AF45}"/>
              </a:ext>
            </a:extLst>
          </p:cNvPr>
          <p:cNvSpPr txBox="1"/>
          <p:nvPr/>
        </p:nvSpPr>
        <p:spPr>
          <a:xfrm>
            <a:off x="1079500" y="762000"/>
            <a:ext cx="8890000" cy="508000"/>
          </a:xfrm>
          <a:prstGeom prst="rect">
            <a:avLst/>
          </a:prstGeom>
          <a:noFill/>
        </p:spPr>
        <p:txBody>
          <a:bodyPr vertOverflow="overflow" vert="horz" wrap="square" rtlCol="0" anchor="t">
            <a:spAutoFit/>
          </a:bodyPr>
          <a:lstStyle/>
          <a:p>
            <a:pPr algn="l"/>
            <a:r>
              <a:rPr lang="es-CO" sz="2000" b="1">
                <a:solidFill>
                  <a:srgbClr val="7A4F78"/>
                </a:solidFill>
                <a:latin typeface="Inter"/>
              </a:rPr>
              <a:t>Myth 2: 'The AI tools handle compliance.'</a:t>
            </a:r>
          </a:p>
        </p:txBody>
      </p:sp>
      <p:sp>
        <p:nvSpPr>
          <p:cNvPr id="4" name="CuadroTexto 3">
            <a:extLst>
              <a:ext uri="{FF2B5EF4-FFF2-40B4-BE49-F238E27FC236}">
                <a16:creationId xmlns:a16="http://schemas.microsoft.com/office/drawing/2014/main" id="{3EA36C71-6E08-5942-840C-3B25B4047115}"/>
              </a:ext>
            </a:extLst>
          </p:cNvPr>
          <p:cNvSpPr txBox="1"/>
          <p:nvPr/>
        </p:nvSpPr>
        <p:spPr>
          <a:xfrm>
            <a:off x="1079500" y="1524000"/>
            <a:ext cx="7620000" cy="3810000"/>
          </a:xfrm>
          <a:prstGeom prst="rect">
            <a:avLst/>
          </a:prstGeom>
          <a:noFill/>
        </p:spPr>
        <p:txBody>
          <a:bodyPr vertOverflow="overflow" vert="horz" wrap="square" rtlCol="0" anchor="t">
            <a:spAutoFit/>
          </a:bodyPr>
          <a:lstStyle/>
          <a:p>
            <a:pPr algn="l"/>
            <a:r>
              <a:rPr lang="es-CO">
                <a:solidFill>
                  <a:srgbClr val="1A2332"/>
                </a:solidFill>
                <a:latin typeface="DM Sans"/>
              </a:rPr>
              <a:t>Reality:
AI tools generate output.
They don't govern how you use them.
ChatGPT doesn't know your client
contracts. Claude doesn't know
your confidentiality obligations.
You do. Or you should.</a:t>
            </a:r>
          </a:p>
        </p:txBody>
      </p:sp>
      <p:sp>
        <p:nvSpPr>
          <p:cNvPr id="5" name="CuadroTexto 4">
            <a:extLst>
              <a:ext uri="{FF2B5EF4-FFF2-40B4-BE49-F238E27FC236}">
                <a16:creationId xmlns:a16="http://schemas.microsoft.com/office/drawing/2014/main" id="{F7262381-9E53-9441-ADD9-129AACEA6568}"/>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03 / 07</a:t>
            </a:r>
          </a:p>
        </p:txBody>
      </p:sp>
    </p:spTree>
    <p:extLst>
      <p:ext uri="{BB962C8B-B14F-4D97-AF65-F5344CB8AC3E}">
        <p14:creationId xmlns:p14="http://schemas.microsoft.com/office/powerpoint/2010/main" val="36339779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DDA8BA7-2702-7A49-B99D-2BA8F1ED981F}"/>
              </a:ext>
            </a:extLst>
          </p:cNvPr>
          <p:cNvSpPr/>
          <p:nvPr/>
        </p:nvSpPr>
        <p:spPr>
          <a:xfrm>
            <a:off x="762000" y="762000"/>
            <a:ext cx="63500" cy="762000"/>
          </a:xfrm>
          <a:prstGeom prst="rect">
            <a:avLst/>
          </a:prstGeom>
          <a:solidFill>
            <a:srgbClr val="7A4F78"/>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B084213D-0EAD-1F4D-BD9C-F1B863A81FE5}"/>
              </a:ext>
            </a:extLst>
          </p:cNvPr>
          <p:cNvSpPr txBox="1"/>
          <p:nvPr/>
        </p:nvSpPr>
        <p:spPr>
          <a:xfrm>
            <a:off x="1079500" y="762000"/>
            <a:ext cx="8890000" cy="508000"/>
          </a:xfrm>
          <a:prstGeom prst="rect">
            <a:avLst/>
          </a:prstGeom>
          <a:noFill/>
        </p:spPr>
        <p:txBody>
          <a:bodyPr vertOverflow="overflow" vert="horz" wrap="square" rtlCol="0" anchor="t">
            <a:spAutoFit/>
          </a:bodyPr>
          <a:lstStyle/>
          <a:p>
            <a:pPr algn="l"/>
            <a:r>
              <a:rPr lang="es-CO" sz="2000" b="1">
                <a:solidFill>
                  <a:srgbClr val="7A4F78"/>
                </a:solidFill>
                <a:latin typeface="Inter"/>
              </a:rPr>
              <a:t>Myth 3: 'We'll deal with it when there's a law.'</a:t>
            </a:r>
          </a:p>
        </p:txBody>
      </p:sp>
      <p:sp>
        <p:nvSpPr>
          <p:cNvPr id="4" name="CuadroTexto 3">
            <a:extLst>
              <a:ext uri="{FF2B5EF4-FFF2-40B4-BE49-F238E27FC236}">
                <a16:creationId xmlns:a16="http://schemas.microsoft.com/office/drawing/2014/main" id="{57A3A708-308E-A645-9CAD-E16C0A8F9FCF}"/>
              </a:ext>
            </a:extLst>
          </p:cNvPr>
          <p:cNvSpPr txBox="1"/>
          <p:nvPr/>
        </p:nvSpPr>
        <p:spPr>
          <a:xfrm>
            <a:off x="1079500" y="1524000"/>
            <a:ext cx="7620000" cy="3810000"/>
          </a:xfrm>
          <a:prstGeom prst="rect">
            <a:avLst/>
          </a:prstGeom>
          <a:noFill/>
        </p:spPr>
        <p:txBody>
          <a:bodyPr vertOverflow="overflow" vert="horz" wrap="square" rtlCol="0" anchor="t">
            <a:spAutoFit/>
          </a:bodyPr>
          <a:lstStyle/>
          <a:p>
            <a:pPr algn="l"/>
            <a:r>
              <a:rPr lang="es-CO">
                <a:solidFill>
                  <a:srgbClr val="1A2332"/>
                </a:solidFill>
                <a:latin typeface="DM Sans"/>
              </a:rPr>
              <a:t>Reality:
The risk isn't regulatory.
It's contractual.
Your existing client agreements
are already the law.
No new regulation needed.</a:t>
            </a:r>
          </a:p>
        </p:txBody>
      </p:sp>
      <p:sp>
        <p:nvSpPr>
          <p:cNvPr id="5" name="CuadroTexto 4">
            <a:extLst>
              <a:ext uri="{FF2B5EF4-FFF2-40B4-BE49-F238E27FC236}">
                <a16:creationId xmlns:a16="http://schemas.microsoft.com/office/drawing/2014/main" id="{C10C1812-66A0-2B41-AE8D-717FDBA15559}"/>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04 / 07</a:t>
            </a:r>
          </a:p>
        </p:txBody>
      </p:sp>
    </p:spTree>
    <p:extLst>
      <p:ext uri="{BB962C8B-B14F-4D97-AF65-F5344CB8AC3E}">
        <p14:creationId xmlns:p14="http://schemas.microsoft.com/office/powerpoint/2010/main" val="38425978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B94C775-1C18-4341-BDF2-8D37C4E7E50B}"/>
              </a:ext>
            </a:extLst>
          </p:cNvPr>
          <p:cNvSpPr/>
          <p:nvPr/>
        </p:nvSpPr>
        <p:spPr>
          <a:xfrm>
            <a:off x="762000" y="762000"/>
            <a:ext cx="63500" cy="762000"/>
          </a:xfrm>
          <a:prstGeom prst="rect">
            <a:avLst/>
          </a:prstGeom>
          <a:solidFill>
            <a:srgbClr val="7A4F78"/>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6548F36D-748E-F74C-BDF7-44CAC716C633}"/>
              </a:ext>
            </a:extLst>
          </p:cNvPr>
          <p:cNvSpPr txBox="1"/>
          <p:nvPr/>
        </p:nvSpPr>
        <p:spPr>
          <a:xfrm>
            <a:off x="1079500" y="762000"/>
            <a:ext cx="8890000" cy="508000"/>
          </a:xfrm>
          <a:prstGeom prst="rect">
            <a:avLst/>
          </a:prstGeom>
          <a:noFill/>
        </p:spPr>
        <p:txBody>
          <a:bodyPr vertOverflow="overflow" vert="horz" wrap="square" rtlCol="0" anchor="t">
            <a:spAutoFit/>
          </a:bodyPr>
          <a:lstStyle/>
          <a:p>
            <a:pPr algn="l"/>
            <a:r>
              <a:rPr lang="es-CO" sz="2000" b="1">
                <a:solidFill>
                  <a:srgbClr val="7A4F78"/>
                </a:solidFill>
                <a:latin typeface="Inter"/>
              </a:rPr>
              <a:t>Myth 4: 'It would take months to implement.'</a:t>
            </a:r>
          </a:p>
        </p:txBody>
      </p:sp>
      <p:sp>
        <p:nvSpPr>
          <p:cNvPr id="4" name="CuadroTexto 3">
            <a:extLst>
              <a:ext uri="{FF2B5EF4-FFF2-40B4-BE49-F238E27FC236}">
                <a16:creationId xmlns:a16="http://schemas.microsoft.com/office/drawing/2014/main" id="{9DCD67C0-5A9E-7E47-930D-6FEC0968C4CB}"/>
              </a:ext>
            </a:extLst>
          </p:cNvPr>
          <p:cNvSpPr txBox="1"/>
          <p:nvPr/>
        </p:nvSpPr>
        <p:spPr>
          <a:xfrm>
            <a:off x="1079500" y="1524000"/>
            <a:ext cx="7620000" cy="3810000"/>
          </a:xfrm>
          <a:prstGeom prst="rect">
            <a:avLst/>
          </a:prstGeom>
          <a:noFill/>
        </p:spPr>
        <p:txBody>
          <a:bodyPr vertOverflow="overflow" vert="horz" wrap="square" rtlCol="0" anchor="t">
            <a:spAutoFit/>
          </a:bodyPr>
          <a:lstStyle/>
          <a:p>
            <a:pPr algn="l"/>
            <a:r>
              <a:rPr lang="es-CO">
                <a:solidFill>
                  <a:srgbClr val="1A2332"/>
                </a:solidFill>
                <a:latin typeface="DM Sans"/>
              </a:rPr>
              <a:t>Reality:
A starter AI policy is a 1-page document.
10–12 rules. Written in plain English.
Implementation:
One team meeting. One Slack message.
Done in an afternoon.</a:t>
            </a:r>
          </a:p>
        </p:txBody>
      </p:sp>
      <p:sp>
        <p:nvSpPr>
          <p:cNvPr id="5" name="CuadroTexto 4">
            <a:extLst>
              <a:ext uri="{FF2B5EF4-FFF2-40B4-BE49-F238E27FC236}">
                <a16:creationId xmlns:a16="http://schemas.microsoft.com/office/drawing/2014/main" id="{E1F11243-A50A-EE40-8B89-E18A7BDA82BC}"/>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05 / 07</a:t>
            </a:r>
          </a:p>
        </p:txBody>
      </p:sp>
    </p:spTree>
    <p:extLst>
      <p:ext uri="{BB962C8B-B14F-4D97-AF65-F5344CB8AC3E}">
        <p14:creationId xmlns:p14="http://schemas.microsoft.com/office/powerpoint/2010/main" val="5467564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77BD4D20-B1A7-4C48-B628-071862052246}"/>
              </a:ext>
            </a:extLst>
          </p:cNvPr>
          <p:cNvSpPr/>
          <p:nvPr/>
        </p:nvSpPr>
        <p:spPr>
          <a:xfrm>
            <a:off x="762000" y="762000"/>
            <a:ext cx="63500" cy="762000"/>
          </a:xfrm>
          <a:prstGeom prst="rect">
            <a:avLst/>
          </a:prstGeom>
          <a:solidFill>
            <a:srgbClr val="7A4F78"/>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0FD3A5AA-F919-514E-A216-35B3F898604E}"/>
              </a:ext>
            </a:extLst>
          </p:cNvPr>
          <p:cNvSpPr txBox="1"/>
          <p:nvPr/>
        </p:nvSpPr>
        <p:spPr>
          <a:xfrm>
            <a:off x="1079500" y="762000"/>
            <a:ext cx="8890000" cy="508000"/>
          </a:xfrm>
          <a:prstGeom prst="rect">
            <a:avLst/>
          </a:prstGeom>
          <a:noFill/>
        </p:spPr>
        <p:txBody>
          <a:bodyPr vertOverflow="overflow" vert="horz" wrap="square" rtlCol="0" anchor="t">
            <a:spAutoFit/>
          </a:bodyPr>
          <a:lstStyle/>
          <a:p>
            <a:pPr algn="l"/>
            <a:r>
              <a:rPr lang="es-CO" sz="2000" b="1">
                <a:solidFill>
                  <a:srgbClr val="7A4F78"/>
                </a:solidFill>
                <a:latin typeface="Inter"/>
              </a:rPr>
              <a:t>Myth 5: 'We'd need a lawyer to do this.'</a:t>
            </a:r>
          </a:p>
        </p:txBody>
      </p:sp>
      <p:sp>
        <p:nvSpPr>
          <p:cNvPr id="4" name="CuadroTexto 3">
            <a:extLst>
              <a:ext uri="{FF2B5EF4-FFF2-40B4-BE49-F238E27FC236}">
                <a16:creationId xmlns:a16="http://schemas.microsoft.com/office/drawing/2014/main" id="{850754BD-38F0-CA49-9683-EC92EF169ECE}"/>
              </a:ext>
            </a:extLst>
          </p:cNvPr>
          <p:cNvSpPr txBox="1"/>
          <p:nvPr/>
        </p:nvSpPr>
        <p:spPr>
          <a:xfrm>
            <a:off x="1079500" y="1524000"/>
            <a:ext cx="7620000" cy="3810000"/>
          </a:xfrm>
          <a:prstGeom prst="rect">
            <a:avLst/>
          </a:prstGeom>
          <a:noFill/>
        </p:spPr>
        <p:txBody>
          <a:bodyPr vertOverflow="overflow" vert="horz" wrap="square" rtlCol="0" anchor="t">
            <a:spAutoFit/>
          </a:bodyPr>
          <a:lstStyle/>
          <a:p>
            <a:pPr algn="l"/>
            <a:r>
              <a:rPr lang="es-CO">
                <a:solidFill>
                  <a:srgbClr val="1A2332"/>
                </a:solidFill>
                <a:latin typeface="DM Sans"/>
              </a:rPr>
              <a:t>Reality:
A lawyer is needed for legal opinions.
Not for internal operating rules.
Defining what data enters your AI tools
is an operational decision —
not a legal one.</a:t>
            </a:r>
          </a:p>
        </p:txBody>
      </p:sp>
      <p:sp>
        <p:nvSpPr>
          <p:cNvPr id="5" name="CuadroTexto 4">
            <a:extLst>
              <a:ext uri="{FF2B5EF4-FFF2-40B4-BE49-F238E27FC236}">
                <a16:creationId xmlns:a16="http://schemas.microsoft.com/office/drawing/2014/main" id="{D811ABAB-11F9-C24B-A60E-575E20FC5F78}"/>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06 / 07</a:t>
            </a:r>
          </a:p>
        </p:txBody>
      </p:sp>
    </p:spTree>
    <p:extLst>
      <p:ext uri="{BB962C8B-B14F-4D97-AF65-F5344CB8AC3E}">
        <p14:creationId xmlns:p14="http://schemas.microsoft.com/office/powerpoint/2010/main" val="17113253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BBB996F-877D-0C49-85D0-F9DDF1C81A7B}"/>
              </a:ext>
            </a:extLst>
          </p:cNvPr>
          <p:cNvSpPr/>
          <p:nvPr/>
        </p:nvSpPr>
        <p:spPr>
          <a:xfrm>
            <a:off x="0" y="0"/>
            <a:ext cx="12192000" cy="76200"/>
          </a:xfrm>
          <a:prstGeom prst="rect">
            <a:avLst/>
          </a:prstGeom>
          <a:solidFill>
            <a:srgbClr val="7A4F78"/>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58E887E9-9DC3-674C-9744-4A7947624E7F}"/>
              </a:ext>
            </a:extLst>
          </p:cNvPr>
          <p:cNvSpPr txBox="1"/>
          <p:nvPr/>
        </p:nvSpPr>
        <p:spPr>
          <a:xfrm>
            <a:off x="1079500" y="762000"/>
            <a:ext cx="7620000" cy="889000"/>
          </a:xfrm>
          <a:prstGeom prst="rect">
            <a:avLst/>
          </a:prstGeom>
          <a:noFill/>
        </p:spPr>
        <p:txBody>
          <a:bodyPr vertOverflow="overflow" vert="horz" wrap="square" rtlCol="0" anchor="t">
            <a:spAutoFit/>
          </a:bodyPr>
          <a:lstStyle/>
          <a:p>
            <a:pPr algn="l"/>
            <a:r>
              <a:rPr lang="es-CO" sz="2600" b="1">
                <a:solidFill>
                  <a:srgbClr val="F3F6FA"/>
                </a:solidFill>
                <a:latin typeface="Inter"/>
              </a:rPr>
              <a:t>Which myth did you
believe before this?</a:t>
            </a:r>
          </a:p>
        </p:txBody>
      </p:sp>
      <p:sp>
        <p:nvSpPr>
          <p:cNvPr id="4" name="CuadroTexto 3">
            <a:extLst>
              <a:ext uri="{FF2B5EF4-FFF2-40B4-BE49-F238E27FC236}">
                <a16:creationId xmlns:a16="http://schemas.microsoft.com/office/drawing/2014/main" id="{F4E96C30-7DDB-FA45-A53E-E45D868FF701}"/>
              </a:ext>
            </a:extLst>
          </p:cNvPr>
          <p:cNvSpPr txBox="1"/>
          <p:nvPr/>
        </p:nvSpPr>
        <p:spPr>
          <a:xfrm>
            <a:off x="1079500" y="1968500"/>
            <a:ext cx="5080000" cy="2032000"/>
          </a:xfrm>
          <a:prstGeom prst="rect">
            <a:avLst/>
          </a:prstGeom>
          <a:noFill/>
        </p:spPr>
        <p:txBody>
          <a:bodyPr vertOverflow="overflow" vert="horz" wrap="square" rtlCol="0" anchor="t">
            <a:spAutoFit/>
          </a:bodyPr>
          <a:lstStyle/>
          <a:p>
            <a:pPr algn="l"/>
            <a:r>
              <a:rPr lang="es-CO">
                <a:solidFill>
                  <a:srgbClr val="C8CED8"/>
                </a:solidFill>
                <a:latin typeface="DM Sans"/>
              </a:rPr>
              <a:t>1 — Too small
2 — Tool handles it
3 — Wait for a law
4 — Takes too long
5 — Need a lawyer</a:t>
            </a:r>
          </a:p>
        </p:txBody>
      </p:sp>
      <p:sp>
        <p:nvSpPr>
          <p:cNvPr id="5" name="CuadroTexto 4">
            <a:extLst>
              <a:ext uri="{FF2B5EF4-FFF2-40B4-BE49-F238E27FC236}">
                <a16:creationId xmlns:a16="http://schemas.microsoft.com/office/drawing/2014/main" id="{1A06FE35-B76B-B74F-92EF-2784EA672289}"/>
              </a:ext>
            </a:extLst>
          </p:cNvPr>
          <p:cNvSpPr txBox="1"/>
          <p:nvPr/>
        </p:nvSpPr>
        <p:spPr>
          <a:xfrm>
            <a:off x="1079500" y="4191000"/>
            <a:ext cx="3810000" cy="381000"/>
          </a:xfrm>
          <a:prstGeom prst="rect">
            <a:avLst/>
          </a:prstGeom>
          <a:noFill/>
        </p:spPr>
        <p:txBody>
          <a:bodyPr vertOverflow="overflow" vert="horz" wrap="square" rtlCol="0" anchor="t">
            <a:spAutoFit/>
          </a:bodyPr>
          <a:lstStyle/>
          <a:p>
            <a:pPr algn="l"/>
            <a:r>
              <a:rPr lang="es-CO" sz="1700">
                <a:solidFill>
                  <a:srgbClr val="8A95A3"/>
                </a:solidFill>
                <a:latin typeface="DM Sans"/>
              </a:rPr>
              <a:t>Comment the number.</a:t>
            </a:r>
          </a:p>
        </p:txBody>
      </p:sp>
      <p:sp>
        <p:nvSpPr>
          <p:cNvPr id="6" name="Rectángulo redondeado 5">
            <a:extLst>
              <a:ext uri="{FF2B5EF4-FFF2-40B4-BE49-F238E27FC236}">
                <a16:creationId xmlns:a16="http://schemas.microsoft.com/office/drawing/2014/main" id="{3B7B1DF1-F42E-F94A-B20E-9CCBC8172D9E}"/>
              </a:ext>
            </a:extLst>
          </p:cNvPr>
          <p:cNvSpPr/>
          <p:nvPr/>
        </p:nvSpPr>
        <p:spPr>
          <a:xfrm>
            <a:off x="1079500" y="5080000"/>
            <a:ext cx="6350000" cy="635000"/>
          </a:xfrm>
          <a:prstGeom prst="roundRect">
            <a:avLst/>
          </a:prstGeom>
          <a:solidFill>
            <a:srgbClr val="7A4F7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600" b="1">
                <a:solidFill>
                  <a:srgbClr val="FFFFFF"/>
                </a:solidFill>
                <a:latin typeface="DM Sans"/>
              </a:rPr>
              <a:t>💬  Which myth? Comment 1, 2, 3, 4, or 5.</a:t>
            </a:r>
          </a:p>
        </p:txBody>
      </p:sp>
      <p:sp>
        <p:nvSpPr>
          <p:cNvPr id="7" name="CuadroTexto 6">
            <a:extLst>
              <a:ext uri="{FF2B5EF4-FFF2-40B4-BE49-F238E27FC236}">
                <a16:creationId xmlns:a16="http://schemas.microsoft.com/office/drawing/2014/main" id="{4384F068-3C58-594A-A502-A31BC1A8A4DA}"/>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07 / 07</a:t>
            </a:r>
          </a:p>
        </p:txBody>
      </p:sp>
    </p:spTree>
    <p:extLst>
      <p:ext uri="{BB962C8B-B14F-4D97-AF65-F5344CB8AC3E}">
        <p14:creationId xmlns:p14="http://schemas.microsoft.com/office/powerpoint/2010/main" val="28594753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10870D9-4914-C849-A4AC-6FCDDB87B609}"/>
              </a:ext>
            </a:extLst>
          </p:cNvPr>
          <p:cNvSpPr txBox="1"/>
          <p:nvPr/>
        </p:nvSpPr>
        <p:spPr>
          <a:xfrm>
            <a:off x="1016000" y="1270000"/>
            <a:ext cx="3810000" cy="508000"/>
          </a:xfrm>
          <a:prstGeom prst="rect">
            <a:avLst/>
          </a:prstGeom>
          <a:noFill/>
        </p:spPr>
        <p:txBody>
          <a:bodyPr vertOverflow="overflow" vert="horz" wrap="square" rtlCol="0" anchor="t">
            <a:spAutoFit/>
          </a:bodyPr>
          <a:lstStyle/>
          <a:p>
            <a:pPr algn="l"/>
            <a:r>
              <a:rPr lang="es-CO" sz="1400"/>
              <a:t>CAROUSEL 06</a:t>
            </a:r>
          </a:p>
        </p:txBody>
      </p:sp>
      <p:sp>
        <p:nvSpPr>
          <p:cNvPr id="3" name="Rectángulo 2">
            <a:extLst>
              <a:ext uri="{FF2B5EF4-FFF2-40B4-BE49-F238E27FC236}">
                <a16:creationId xmlns:a16="http://schemas.microsoft.com/office/drawing/2014/main" id="{AAEEF5BF-3E74-2D4F-A6BE-84322CC1EC7C}"/>
              </a:ext>
            </a:extLst>
          </p:cNvPr>
          <p:cNvSpPr/>
          <p:nvPr/>
        </p:nvSpPr>
        <p:spPr>
          <a:xfrm>
            <a:off x="1016000" y="1905000"/>
            <a:ext cx="1016000" cy="63500"/>
          </a:xfrm>
          <a:prstGeom prst="rect">
            <a:avLst/>
          </a:prstGeom>
          <a:solidFill>
            <a:srgbClr val="2D8C62"/>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4" name="CuadroTexto 3">
            <a:extLst>
              <a:ext uri="{FF2B5EF4-FFF2-40B4-BE49-F238E27FC236}">
                <a16:creationId xmlns:a16="http://schemas.microsoft.com/office/drawing/2014/main" id="{C542CA84-0A22-2843-965E-B254AFF4C171}"/>
              </a:ext>
            </a:extLst>
          </p:cNvPr>
          <p:cNvSpPr txBox="1"/>
          <p:nvPr/>
        </p:nvSpPr>
        <p:spPr>
          <a:xfrm>
            <a:off x="1016000" y="2159000"/>
            <a:ext cx="7620000" cy="1524000"/>
          </a:xfrm>
          <a:prstGeom prst="rect">
            <a:avLst/>
          </a:prstGeom>
          <a:noFill/>
        </p:spPr>
        <p:txBody>
          <a:bodyPr vertOverflow="overflow" vert="horz" wrap="square" rtlCol="0" anchor="t">
            <a:spAutoFit/>
          </a:bodyPr>
          <a:lstStyle/>
          <a:p>
            <a:pPr algn="l"/>
            <a:r>
              <a:rPr lang="es-CO" sz="3600" b="1">
                <a:solidFill>
                  <a:srgbClr val="F3F6FA"/>
                </a:solidFill>
                <a:latin typeface="Inter"/>
              </a:rPr>
              <a:t>Before vs. After:
One Week With Guardrails</a:t>
            </a:r>
          </a:p>
        </p:txBody>
      </p:sp>
      <p:sp>
        <p:nvSpPr>
          <p:cNvPr id="5" name="CuadroTexto 4">
            <a:extLst>
              <a:ext uri="{FF2B5EF4-FFF2-40B4-BE49-F238E27FC236}">
                <a16:creationId xmlns:a16="http://schemas.microsoft.com/office/drawing/2014/main" id="{31B21EB9-E6C0-814B-A40C-C8B45AC9362F}"/>
              </a:ext>
            </a:extLst>
          </p:cNvPr>
          <p:cNvSpPr txBox="1"/>
          <p:nvPr/>
        </p:nvSpPr>
        <p:spPr>
          <a:xfrm>
            <a:off x="1016000" y="3937000"/>
            <a:ext cx="6350000" cy="381000"/>
          </a:xfrm>
          <a:prstGeom prst="rect">
            <a:avLst/>
          </a:prstGeom>
          <a:noFill/>
        </p:spPr>
        <p:txBody>
          <a:bodyPr vertOverflow="overflow" vert="horz" wrap="square" rtlCol="0" anchor="t">
            <a:spAutoFit/>
          </a:bodyPr>
          <a:lstStyle/>
          <a:p>
            <a:pPr algn="l"/>
            <a:r>
              <a:rPr lang="es-CO" sz="1400"/>
              <a:t>Day 11  •  8:00 AM EST  •  Transformation  •  9 Slides</a:t>
            </a:r>
          </a:p>
        </p:txBody>
      </p:sp>
      <p:sp>
        <p:nvSpPr>
          <p:cNvPr id="6" name="Rectángulo redondeado 5">
            <a:extLst>
              <a:ext uri="{FF2B5EF4-FFF2-40B4-BE49-F238E27FC236}">
                <a16:creationId xmlns:a16="http://schemas.microsoft.com/office/drawing/2014/main" id="{DEDD1292-2BEF-904A-8D96-15E5EF138B25}"/>
              </a:ext>
            </a:extLst>
          </p:cNvPr>
          <p:cNvSpPr/>
          <p:nvPr/>
        </p:nvSpPr>
        <p:spPr>
          <a:xfrm>
            <a:off x="1016000" y="4699000"/>
            <a:ext cx="2540000" cy="508000"/>
          </a:xfrm>
          <a:prstGeom prst="roundRect">
            <a:avLst/>
          </a:prstGeom>
          <a:solidFill>
            <a:srgbClr val="2D8C6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400" b="1">
                <a:solidFill>
                  <a:srgbClr val="FFFFFF"/>
                </a:solidFill>
              </a:rPr>
              <a:t>Emerald #2D8C62</a:t>
            </a:r>
          </a:p>
        </p:txBody>
      </p:sp>
      <p:sp>
        <p:nvSpPr>
          <p:cNvPr id="7" name="CuadroTexto 6">
            <a:extLst>
              <a:ext uri="{FF2B5EF4-FFF2-40B4-BE49-F238E27FC236}">
                <a16:creationId xmlns:a16="http://schemas.microsoft.com/office/drawing/2014/main" id="{2F3F2325-BD43-6B43-B265-7B29B4B82818}"/>
              </a:ext>
            </a:extLst>
          </p:cNvPr>
          <p:cNvSpPr txBox="1"/>
          <p:nvPr/>
        </p:nvSpPr>
        <p:spPr>
          <a:xfrm>
            <a:off x="9144000" y="1524000"/>
            <a:ext cx="2540000" cy="3810000"/>
          </a:xfrm>
          <a:prstGeom prst="rect">
            <a:avLst/>
          </a:prstGeom>
          <a:noFill/>
        </p:spPr>
        <p:txBody>
          <a:bodyPr vertOverflow="overflow" vert="horz" wrap="square" rtlCol="0" anchor="t">
            <a:spAutoFit/>
          </a:bodyPr>
          <a:lstStyle/>
          <a:p>
            <a:pPr algn="l"/>
            <a:r>
              <a:rPr lang="es-CO" sz="12000" b="1">
                <a:solidFill>
                  <a:srgbClr val="2D8C62"/>
                </a:solidFill>
                <a:latin typeface="Inter"/>
              </a:rPr>
              <a:t>06</a:t>
            </a:r>
          </a:p>
        </p:txBody>
      </p:sp>
    </p:spTree>
    <p:extLst>
      <p:ext uri="{BB962C8B-B14F-4D97-AF65-F5344CB8AC3E}">
        <p14:creationId xmlns:p14="http://schemas.microsoft.com/office/powerpoint/2010/main" val="39144410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624CB7DA-4F08-2144-A60F-EF33AB822AF8}"/>
              </a:ext>
            </a:extLst>
          </p:cNvPr>
          <p:cNvSpPr/>
          <p:nvPr/>
        </p:nvSpPr>
        <p:spPr>
          <a:xfrm>
            <a:off x="762000" y="1270000"/>
            <a:ext cx="63500" cy="3810000"/>
          </a:xfrm>
          <a:prstGeom prst="rect">
            <a:avLst/>
          </a:prstGeom>
          <a:solidFill>
            <a:srgbClr val="2D8C62"/>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A465F7F6-42FD-5F47-9F29-C45840CBBE0B}"/>
              </a:ext>
            </a:extLst>
          </p:cNvPr>
          <p:cNvSpPr txBox="1"/>
          <p:nvPr/>
        </p:nvSpPr>
        <p:spPr>
          <a:xfrm>
            <a:off x="1079500" y="1270000"/>
            <a:ext cx="8255000" cy="1397000"/>
          </a:xfrm>
          <a:prstGeom prst="rect">
            <a:avLst/>
          </a:prstGeom>
          <a:noFill/>
        </p:spPr>
        <p:txBody>
          <a:bodyPr vertOverflow="overflow" vert="horz" wrap="square" rtlCol="0" anchor="t">
            <a:spAutoFit/>
          </a:bodyPr>
          <a:lstStyle/>
          <a:p>
            <a:pPr algn="l"/>
            <a:r>
              <a:rPr lang="es-CO" sz="3200" b="1">
                <a:solidFill>
                  <a:srgbClr val="F3F6FA"/>
                </a:solidFill>
                <a:latin typeface="Inter"/>
              </a:rPr>
              <a:t>What changes when your firm
has written AI rules.</a:t>
            </a:r>
          </a:p>
        </p:txBody>
      </p:sp>
      <p:sp>
        <p:nvSpPr>
          <p:cNvPr id="4" name="CuadroTexto 3">
            <a:extLst>
              <a:ext uri="{FF2B5EF4-FFF2-40B4-BE49-F238E27FC236}">
                <a16:creationId xmlns:a16="http://schemas.microsoft.com/office/drawing/2014/main" id="{94BC8D25-294C-6149-97AB-D523BE618E39}"/>
              </a:ext>
            </a:extLst>
          </p:cNvPr>
          <p:cNvSpPr txBox="1"/>
          <p:nvPr/>
        </p:nvSpPr>
        <p:spPr>
          <a:xfrm>
            <a:off x="1079500" y="3048000"/>
            <a:ext cx="7620000" cy="508000"/>
          </a:xfrm>
          <a:prstGeom prst="rect">
            <a:avLst/>
          </a:prstGeom>
          <a:noFill/>
        </p:spPr>
        <p:txBody>
          <a:bodyPr vertOverflow="overflow" vert="horz" wrap="square" rtlCol="0" anchor="t">
            <a:spAutoFit/>
          </a:bodyPr>
          <a:lstStyle/>
          <a:p>
            <a:pPr algn="l"/>
            <a:r>
              <a:rPr lang="es-CO" sz="2000"/>
              <a:t>Before and after. One week.</a:t>
            </a:r>
          </a:p>
        </p:txBody>
      </p:sp>
      <p:sp>
        <p:nvSpPr>
          <p:cNvPr id="5" name="CuadroTexto 4">
            <a:extLst>
              <a:ext uri="{FF2B5EF4-FFF2-40B4-BE49-F238E27FC236}">
                <a16:creationId xmlns:a16="http://schemas.microsoft.com/office/drawing/2014/main" id="{575EB201-22DA-1C44-8780-7A7301FB1FF4}"/>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01 / 09</a:t>
            </a:r>
          </a:p>
        </p:txBody>
      </p:sp>
    </p:spTree>
    <p:extLst>
      <p:ext uri="{BB962C8B-B14F-4D97-AF65-F5344CB8AC3E}">
        <p14:creationId xmlns:p14="http://schemas.microsoft.com/office/powerpoint/2010/main" val="8838029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A1015">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569478F-2A70-7740-99A9-FB083B2F8963}"/>
              </a:ext>
            </a:extLst>
          </p:cNvPr>
          <p:cNvSpPr txBox="1"/>
          <p:nvPr/>
        </p:nvSpPr>
        <p:spPr>
          <a:xfrm>
            <a:off x="1079500" y="635000"/>
            <a:ext cx="1905000" cy="381000"/>
          </a:xfrm>
          <a:prstGeom prst="rect">
            <a:avLst/>
          </a:prstGeom>
          <a:noFill/>
        </p:spPr>
        <p:txBody>
          <a:bodyPr vertOverflow="overflow" vert="horz" wrap="square" rtlCol="0" anchor="t">
            <a:spAutoFit/>
          </a:bodyPr>
          <a:lstStyle/>
          <a:p>
            <a:pPr algn="l"/>
            <a:r>
              <a:rPr lang="es-CO" sz="1400" b="1">
                <a:solidFill>
                  <a:srgbClr val="C4513E"/>
                </a:solidFill>
                <a:latin typeface="Inter"/>
              </a:rPr>
              <a:t>BEFORE</a:t>
            </a:r>
          </a:p>
        </p:txBody>
      </p:sp>
      <p:sp>
        <p:nvSpPr>
          <p:cNvPr id="3" name="CuadroTexto 2">
            <a:extLst>
              <a:ext uri="{FF2B5EF4-FFF2-40B4-BE49-F238E27FC236}">
                <a16:creationId xmlns:a16="http://schemas.microsoft.com/office/drawing/2014/main" id="{2A824487-A603-994A-9B61-FABABB695C80}"/>
              </a:ext>
            </a:extLst>
          </p:cNvPr>
          <p:cNvSpPr txBox="1"/>
          <p:nvPr/>
        </p:nvSpPr>
        <p:spPr>
          <a:xfrm>
            <a:off x="1079500" y="1270000"/>
            <a:ext cx="8255000" cy="3810000"/>
          </a:xfrm>
          <a:prstGeom prst="rect">
            <a:avLst/>
          </a:prstGeom>
          <a:noFill/>
        </p:spPr>
        <p:txBody>
          <a:bodyPr vertOverflow="overflow" vert="horz" wrap="square" rtlCol="0" anchor="t">
            <a:spAutoFit/>
          </a:bodyPr>
          <a:lstStyle/>
          <a:p>
            <a:pPr algn="l"/>
            <a:r>
              <a:rPr lang="es-CO" sz="2000">
                <a:solidFill>
                  <a:srgbClr val="D4C8C8"/>
                </a:solidFill>
                <a:latin typeface="DM Sans"/>
              </a:rPr>
              <a:t>Client asks: 'Do you use AI in our work?'
You: 'Uh... sometimes. It depends.
Let me check with the team.'
The client loses confidence.
The deal gets complicated.</a:t>
            </a:r>
          </a:p>
        </p:txBody>
      </p:sp>
      <p:sp>
        <p:nvSpPr>
          <p:cNvPr id="4" name="CuadroTexto 3">
            <a:extLst>
              <a:ext uri="{FF2B5EF4-FFF2-40B4-BE49-F238E27FC236}">
                <a16:creationId xmlns:a16="http://schemas.microsoft.com/office/drawing/2014/main" id="{050EECB7-1B69-7D43-BDB4-2D24D13C7163}"/>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02 / 09</a:t>
            </a:r>
          </a:p>
        </p:txBody>
      </p:sp>
    </p:spTree>
    <p:extLst>
      <p:ext uri="{BB962C8B-B14F-4D97-AF65-F5344CB8AC3E}">
        <p14:creationId xmlns:p14="http://schemas.microsoft.com/office/powerpoint/2010/main" val="16243534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4B83848-6E59-DE4C-BBC1-0E10F83172B9}"/>
              </a:ext>
            </a:extLst>
          </p:cNvPr>
          <p:cNvSpPr txBox="1"/>
          <p:nvPr/>
        </p:nvSpPr>
        <p:spPr>
          <a:xfrm>
            <a:off x="1079500" y="635000"/>
            <a:ext cx="1905000" cy="381000"/>
          </a:xfrm>
          <a:prstGeom prst="rect">
            <a:avLst/>
          </a:prstGeom>
          <a:noFill/>
        </p:spPr>
        <p:txBody>
          <a:bodyPr vertOverflow="overflow" vert="horz" wrap="square" rtlCol="0" anchor="t">
            <a:spAutoFit/>
          </a:bodyPr>
          <a:lstStyle/>
          <a:p>
            <a:pPr algn="l"/>
            <a:r>
              <a:rPr lang="es-CO" sz="1400" b="1">
                <a:solidFill>
                  <a:srgbClr val="2D8C62"/>
                </a:solidFill>
                <a:latin typeface="Inter"/>
              </a:rPr>
              <a:t>AFTER</a:t>
            </a:r>
          </a:p>
        </p:txBody>
      </p:sp>
      <p:sp>
        <p:nvSpPr>
          <p:cNvPr id="3" name="CuadroTexto 2">
            <a:extLst>
              <a:ext uri="{FF2B5EF4-FFF2-40B4-BE49-F238E27FC236}">
                <a16:creationId xmlns:a16="http://schemas.microsoft.com/office/drawing/2014/main" id="{2B5EBEF3-44E5-334B-A4F2-EA642A8CA378}"/>
              </a:ext>
            </a:extLst>
          </p:cNvPr>
          <p:cNvSpPr txBox="1"/>
          <p:nvPr/>
        </p:nvSpPr>
        <p:spPr>
          <a:xfrm>
            <a:off x="1079500" y="1270000"/>
            <a:ext cx="8255000" cy="4445000"/>
          </a:xfrm>
          <a:prstGeom prst="rect">
            <a:avLst/>
          </a:prstGeom>
          <a:noFill/>
        </p:spPr>
        <p:txBody>
          <a:bodyPr vertOverflow="overflow" vert="horz" wrap="square" rtlCol="0" anchor="t">
            <a:spAutoFit/>
          </a:bodyPr>
          <a:lstStyle/>
          <a:p>
            <a:pPr algn="l"/>
            <a:r>
              <a:rPr lang="es-CO" sz="2000">
                <a:solidFill>
                  <a:srgbClr val="1A2332"/>
                </a:solidFill>
                <a:latin typeface="DM Sans"/>
              </a:rPr>
              <a:t>Client asks: 'Do you use AI in our work?'
You: 'Yes — here's our policy.
All AI-assisted work is reviewed
before delivery. Here's the clause
in your agreement.'
The client gains confidence.
The deal moves forward.</a:t>
            </a:r>
          </a:p>
        </p:txBody>
      </p:sp>
      <p:sp>
        <p:nvSpPr>
          <p:cNvPr id="4" name="CuadroTexto 3">
            <a:extLst>
              <a:ext uri="{FF2B5EF4-FFF2-40B4-BE49-F238E27FC236}">
                <a16:creationId xmlns:a16="http://schemas.microsoft.com/office/drawing/2014/main" id="{9A7E1F51-3F4E-1C43-B507-D1B11089D89E}"/>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03 / 09</a:t>
            </a:r>
          </a:p>
        </p:txBody>
      </p:sp>
    </p:spTree>
    <p:extLst>
      <p:ext uri="{BB962C8B-B14F-4D97-AF65-F5344CB8AC3E}">
        <p14:creationId xmlns:p14="http://schemas.microsoft.com/office/powerpoint/2010/main" val="36627032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A1015">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5625678-6B8F-B24A-8500-28CAAF44C5CA}"/>
              </a:ext>
            </a:extLst>
          </p:cNvPr>
          <p:cNvSpPr txBox="1"/>
          <p:nvPr/>
        </p:nvSpPr>
        <p:spPr>
          <a:xfrm>
            <a:off x="1079500" y="635000"/>
            <a:ext cx="1905000" cy="381000"/>
          </a:xfrm>
          <a:prstGeom prst="rect">
            <a:avLst/>
          </a:prstGeom>
          <a:noFill/>
        </p:spPr>
        <p:txBody>
          <a:bodyPr vertOverflow="overflow" vert="horz" wrap="square" rtlCol="0" anchor="t">
            <a:spAutoFit/>
          </a:bodyPr>
          <a:lstStyle/>
          <a:p>
            <a:pPr algn="l"/>
            <a:r>
              <a:rPr lang="es-CO" sz="1400"/>
              <a:t>BEFORE</a:t>
            </a:r>
          </a:p>
        </p:txBody>
      </p:sp>
      <p:sp>
        <p:nvSpPr>
          <p:cNvPr id="3" name="CuadroTexto 2">
            <a:extLst>
              <a:ext uri="{FF2B5EF4-FFF2-40B4-BE49-F238E27FC236}">
                <a16:creationId xmlns:a16="http://schemas.microsoft.com/office/drawing/2014/main" id="{7E096E3D-11FE-BE45-9ED6-BF1BAA75E52C}"/>
              </a:ext>
            </a:extLst>
          </p:cNvPr>
          <p:cNvSpPr txBox="1"/>
          <p:nvPr/>
        </p:nvSpPr>
        <p:spPr>
          <a:xfrm>
            <a:off x="1079500" y="1270000"/>
            <a:ext cx="8255000" cy="4064000"/>
          </a:xfrm>
          <a:prstGeom prst="rect">
            <a:avLst/>
          </a:prstGeom>
          <a:noFill/>
        </p:spPr>
        <p:txBody>
          <a:bodyPr vertOverflow="overflow" vert="horz" wrap="square" rtlCol="0" anchor="t">
            <a:spAutoFit/>
          </a:bodyPr>
          <a:lstStyle/>
          <a:p>
            <a:pPr algn="l"/>
            <a:r>
              <a:rPr lang="es-CO" sz="2000">
                <a:solidFill>
                  <a:srgbClr val="D4C8C8"/>
                </a:solidFill>
                <a:latin typeface="DM Sans"/>
              </a:rPr>
              <a:t>→  Each person uses different tools
→  Nobody knows what data is OK
→  Quality varies by employee
→  'I think it's fine' is the policy
One informal decision per day.
Multiplied by the whole team.</a:t>
            </a:r>
          </a:p>
        </p:txBody>
      </p:sp>
      <p:sp>
        <p:nvSpPr>
          <p:cNvPr id="4" name="CuadroTexto 3">
            <a:extLst>
              <a:ext uri="{FF2B5EF4-FFF2-40B4-BE49-F238E27FC236}">
                <a16:creationId xmlns:a16="http://schemas.microsoft.com/office/drawing/2014/main" id="{43D4D453-B51A-5A42-BC58-77412E41A4DB}"/>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04 / 09</a:t>
            </a:r>
          </a:p>
        </p:txBody>
      </p:sp>
    </p:spTree>
    <p:extLst>
      <p:ext uri="{BB962C8B-B14F-4D97-AF65-F5344CB8AC3E}">
        <p14:creationId xmlns:p14="http://schemas.microsoft.com/office/powerpoint/2010/main" val="19944289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9AE0837-51A5-4B46-8AB6-9CD0D0D726E8}"/>
              </a:ext>
            </a:extLst>
          </p:cNvPr>
          <p:cNvSpPr txBox="1"/>
          <p:nvPr/>
        </p:nvSpPr>
        <p:spPr>
          <a:xfrm>
            <a:off x="1079500" y="635000"/>
            <a:ext cx="1905000" cy="381000"/>
          </a:xfrm>
          <a:prstGeom prst="rect">
            <a:avLst/>
          </a:prstGeom>
          <a:noFill/>
        </p:spPr>
        <p:txBody>
          <a:bodyPr vertOverflow="overflow" vert="horz" wrap="square" rtlCol="0" anchor="t">
            <a:spAutoFit/>
          </a:bodyPr>
          <a:lstStyle/>
          <a:p>
            <a:pPr algn="l"/>
            <a:r>
              <a:rPr lang="es-CO" sz="1400" b="1">
                <a:solidFill>
                  <a:srgbClr val="2D8C62"/>
                </a:solidFill>
                <a:latin typeface="Inter"/>
              </a:rPr>
              <a:t>AFTER</a:t>
            </a:r>
          </a:p>
        </p:txBody>
      </p:sp>
      <p:sp>
        <p:nvSpPr>
          <p:cNvPr id="3" name="CuadroTexto 2">
            <a:extLst>
              <a:ext uri="{FF2B5EF4-FFF2-40B4-BE49-F238E27FC236}">
                <a16:creationId xmlns:a16="http://schemas.microsoft.com/office/drawing/2014/main" id="{A224C756-4746-424B-990F-B68C571D84B7}"/>
              </a:ext>
            </a:extLst>
          </p:cNvPr>
          <p:cNvSpPr txBox="1"/>
          <p:nvPr/>
        </p:nvSpPr>
        <p:spPr>
          <a:xfrm>
            <a:off x="1079500" y="1270000"/>
            <a:ext cx="8255000" cy="3810000"/>
          </a:xfrm>
          <a:prstGeom prst="rect">
            <a:avLst/>
          </a:prstGeom>
          <a:noFill/>
        </p:spPr>
        <p:txBody>
          <a:bodyPr vertOverflow="overflow" vert="horz" wrap="square" rtlCol="0" anchor="t">
            <a:spAutoFit/>
          </a:bodyPr>
          <a:lstStyle/>
          <a:p>
            <a:pPr algn="l"/>
            <a:r>
              <a:rPr lang="es-CO" sz="2000">
                <a:solidFill>
                  <a:srgbClr val="1A2332"/>
                </a:solidFill>
                <a:latin typeface="DM Sans"/>
              </a:rPr>
              <a:t>→  Approved tools list on Slack
→  Clear rule on restricted data
→  Defined review requirement
→  One decision. For everyone.
Consistency replaces guesswork.</a:t>
            </a:r>
          </a:p>
        </p:txBody>
      </p:sp>
      <p:sp>
        <p:nvSpPr>
          <p:cNvPr id="4" name="CuadroTexto 3">
            <a:extLst>
              <a:ext uri="{FF2B5EF4-FFF2-40B4-BE49-F238E27FC236}">
                <a16:creationId xmlns:a16="http://schemas.microsoft.com/office/drawing/2014/main" id="{34631424-B154-894E-8722-D9E8DCBDAFB7}"/>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05 / 09</a:t>
            </a:r>
          </a:p>
        </p:txBody>
      </p:sp>
    </p:spTree>
    <p:extLst>
      <p:ext uri="{BB962C8B-B14F-4D97-AF65-F5344CB8AC3E}">
        <p14:creationId xmlns:p14="http://schemas.microsoft.com/office/powerpoint/2010/main" val="18408945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1A1015">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94F27D5-ED53-E54C-80C7-5F5A2AB50F2F}"/>
              </a:ext>
            </a:extLst>
          </p:cNvPr>
          <p:cNvSpPr txBox="1"/>
          <p:nvPr/>
        </p:nvSpPr>
        <p:spPr>
          <a:xfrm>
            <a:off x="1079500" y="635000"/>
            <a:ext cx="1905000" cy="381000"/>
          </a:xfrm>
          <a:prstGeom prst="rect">
            <a:avLst/>
          </a:prstGeom>
          <a:noFill/>
        </p:spPr>
        <p:txBody>
          <a:bodyPr vertOverflow="overflow" vert="horz" wrap="square" rtlCol="0" anchor="t">
            <a:spAutoFit/>
          </a:bodyPr>
          <a:lstStyle/>
          <a:p>
            <a:pPr algn="l"/>
            <a:r>
              <a:rPr lang="es-CO" sz="1400"/>
              <a:t>BEFORE</a:t>
            </a:r>
          </a:p>
        </p:txBody>
      </p:sp>
      <p:sp>
        <p:nvSpPr>
          <p:cNvPr id="3" name="CuadroTexto 2">
            <a:extLst>
              <a:ext uri="{FF2B5EF4-FFF2-40B4-BE49-F238E27FC236}">
                <a16:creationId xmlns:a16="http://schemas.microsoft.com/office/drawing/2014/main" id="{70184C3A-F6B8-CC4B-B506-6909A71952A5}"/>
              </a:ext>
            </a:extLst>
          </p:cNvPr>
          <p:cNvSpPr txBox="1"/>
          <p:nvPr/>
        </p:nvSpPr>
        <p:spPr>
          <a:xfrm>
            <a:off x="1079500" y="1270000"/>
            <a:ext cx="8255000" cy="3556000"/>
          </a:xfrm>
          <a:prstGeom prst="rect">
            <a:avLst/>
          </a:prstGeom>
          <a:noFill/>
        </p:spPr>
        <p:txBody>
          <a:bodyPr vertOverflow="overflow" vert="horz" wrap="square" rtlCol="0" anchor="t">
            <a:spAutoFit/>
          </a:bodyPr>
          <a:lstStyle/>
          <a:p>
            <a:pPr algn="l"/>
            <a:r>
              <a:rPr lang="es-CO" sz="2200">
                <a:solidFill>
                  <a:srgbClr val="D4C8C8"/>
                </a:solidFill>
                <a:latin typeface="DM Sans"/>
              </a:rPr>
              <a:t>Enterprise client asks for your
AI governance documentation.
You have nothing to send.
The deal stalls.</a:t>
            </a:r>
          </a:p>
        </p:txBody>
      </p:sp>
      <p:sp>
        <p:nvSpPr>
          <p:cNvPr id="4" name="CuadroTexto 3">
            <a:extLst>
              <a:ext uri="{FF2B5EF4-FFF2-40B4-BE49-F238E27FC236}">
                <a16:creationId xmlns:a16="http://schemas.microsoft.com/office/drawing/2014/main" id="{592CE8F8-D3B7-664D-ACE4-371AA2FC6E41}"/>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06 / 09</a:t>
            </a:r>
          </a:p>
        </p:txBody>
      </p:sp>
    </p:spTree>
    <p:extLst>
      <p:ext uri="{BB962C8B-B14F-4D97-AF65-F5344CB8AC3E}">
        <p14:creationId xmlns:p14="http://schemas.microsoft.com/office/powerpoint/2010/main" val="9378217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56E4A6A-AB71-8345-92FF-24A84368F537}"/>
              </a:ext>
            </a:extLst>
          </p:cNvPr>
          <p:cNvSpPr txBox="1"/>
          <p:nvPr/>
        </p:nvSpPr>
        <p:spPr>
          <a:xfrm>
            <a:off x="1079500" y="635000"/>
            <a:ext cx="1905000" cy="381000"/>
          </a:xfrm>
          <a:prstGeom prst="rect">
            <a:avLst/>
          </a:prstGeom>
          <a:noFill/>
        </p:spPr>
        <p:txBody>
          <a:bodyPr vertOverflow="overflow" vert="horz" wrap="square" rtlCol="0" anchor="t">
            <a:spAutoFit/>
          </a:bodyPr>
          <a:lstStyle/>
          <a:p>
            <a:pPr algn="l"/>
            <a:r>
              <a:rPr lang="es-CO" sz="1400" b="1">
                <a:solidFill>
                  <a:srgbClr val="2D8C62"/>
                </a:solidFill>
                <a:latin typeface="Inter"/>
              </a:rPr>
              <a:t>AFTER</a:t>
            </a:r>
          </a:p>
        </p:txBody>
      </p:sp>
      <p:sp>
        <p:nvSpPr>
          <p:cNvPr id="3" name="CuadroTexto 2">
            <a:extLst>
              <a:ext uri="{FF2B5EF4-FFF2-40B4-BE49-F238E27FC236}">
                <a16:creationId xmlns:a16="http://schemas.microsoft.com/office/drawing/2014/main" id="{145CC607-98CA-6A41-AA6A-D264482B2AB7}"/>
              </a:ext>
            </a:extLst>
          </p:cNvPr>
          <p:cNvSpPr txBox="1"/>
          <p:nvPr/>
        </p:nvSpPr>
        <p:spPr>
          <a:xfrm>
            <a:off x="1079500" y="1270000"/>
            <a:ext cx="8255000" cy="3810000"/>
          </a:xfrm>
          <a:prstGeom prst="rect">
            <a:avLst/>
          </a:prstGeom>
          <a:noFill/>
        </p:spPr>
        <p:txBody>
          <a:bodyPr vertOverflow="overflow" vert="horz" wrap="square" rtlCol="0" anchor="t">
            <a:spAutoFit/>
          </a:bodyPr>
          <a:lstStyle/>
          <a:p>
            <a:pPr algn="l"/>
            <a:r>
              <a:rPr lang="es-CO" sz="2200">
                <a:solidFill>
                  <a:srgbClr val="1A2332"/>
                </a:solidFill>
                <a:latin typeface="DM Sans"/>
              </a:rPr>
              <a:t>Enterprise client asks for your
AI governance documentation.
You send a 1-page policy
and a 5-page executive summary.
The deal moves forward.</a:t>
            </a:r>
          </a:p>
        </p:txBody>
      </p:sp>
      <p:sp>
        <p:nvSpPr>
          <p:cNvPr id="4" name="CuadroTexto 3">
            <a:extLst>
              <a:ext uri="{FF2B5EF4-FFF2-40B4-BE49-F238E27FC236}">
                <a16:creationId xmlns:a16="http://schemas.microsoft.com/office/drawing/2014/main" id="{857C7808-F64C-2446-9A23-AA524DE932FD}"/>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07 / 09</a:t>
            </a:r>
          </a:p>
        </p:txBody>
      </p:sp>
    </p:spTree>
    <p:extLst>
      <p:ext uri="{BB962C8B-B14F-4D97-AF65-F5344CB8AC3E}">
        <p14:creationId xmlns:p14="http://schemas.microsoft.com/office/powerpoint/2010/main" val="41731927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1DAC6047-8B8B-C34B-A34B-2D6C1CAF9CA3}"/>
              </a:ext>
            </a:extLst>
          </p:cNvPr>
          <p:cNvSpPr/>
          <p:nvPr/>
        </p:nvSpPr>
        <p:spPr>
          <a:xfrm>
            <a:off x="762000" y="1270000"/>
            <a:ext cx="63500" cy="2540000"/>
          </a:xfrm>
          <a:prstGeom prst="rect">
            <a:avLst/>
          </a:prstGeom>
          <a:solidFill>
            <a:srgbClr val="2D8C62"/>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76B8EB83-8100-C84A-90B7-8CABAC6F3A54}"/>
              </a:ext>
            </a:extLst>
          </p:cNvPr>
          <p:cNvSpPr txBox="1"/>
          <p:nvPr/>
        </p:nvSpPr>
        <p:spPr>
          <a:xfrm>
            <a:off x="1079500" y="1270000"/>
            <a:ext cx="7620000" cy="762000"/>
          </a:xfrm>
          <a:prstGeom prst="rect">
            <a:avLst/>
          </a:prstGeom>
          <a:noFill/>
        </p:spPr>
        <p:txBody>
          <a:bodyPr vertOverflow="overflow" vert="horz" wrap="square" rtlCol="0" anchor="t">
            <a:spAutoFit/>
          </a:bodyPr>
          <a:lstStyle/>
          <a:p>
            <a:pPr algn="l"/>
            <a:r>
              <a:rPr lang="es-CO" sz="2400" b="1">
                <a:solidFill>
                  <a:srgbClr val="1A2332"/>
                </a:solidFill>
                <a:latin typeface="Inter"/>
              </a:rPr>
              <a:t>The difference between
before and after:</a:t>
            </a:r>
          </a:p>
        </p:txBody>
      </p:sp>
      <p:sp>
        <p:nvSpPr>
          <p:cNvPr id="4" name="CuadroTexto 3">
            <a:extLst>
              <a:ext uri="{FF2B5EF4-FFF2-40B4-BE49-F238E27FC236}">
                <a16:creationId xmlns:a16="http://schemas.microsoft.com/office/drawing/2014/main" id="{0C719614-85B3-214A-ABB8-10341B66C9C7}"/>
              </a:ext>
            </a:extLst>
          </p:cNvPr>
          <p:cNvSpPr txBox="1"/>
          <p:nvPr/>
        </p:nvSpPr>
        <p:spPr>
          <a:xfrm>
            <a:off x="1079500" y="2540000"/>
            <a:ext cx="7620000" cy="2540000"/>
          </a:xfrm>
          <a:prstGeom prst="rect">
            <a:avLst/>
          </a:prstGeom>
          <a:noFill/>
        </p:spPr>
        <p:txBody>
          <a:bodyPr vertOverflow="overflow" vert="horz" wrap="square" rtlCol="0" anchor="t">
            <a:spAutoFit/>
          </a:bodyPr>
          <a:lstStyle/>
          <a:p>
            <a:pPr algn="l"/>
            <a:r>
              <a:rPr lang="es-CO" sz="2200">
                <a:solidFill>
                  <a:srgbClr val="1A2332"/>
                </a:solidFill>
                <a:latin typeface="DM Sans"/>
              </a:rPr>
              <a:t>One written document.
One team conversation.
One afternoon.
That's the entire delta.</a:t>
            </a:r>
          </a:p>
        </p:txBody>
      </p:sp>
      <p:sp>
        <p:nvSpPr>
          <p:cNvPr id="5" name="CuadroTexto 4">
            <a:extLst>
              <a:ext uri="{FF2B5EF4-FFF2-40B4-BE49-F238E27FC236}">
                <a16:creationId xmlns:a16="http://schemas.microsoft.com/office/drawing/2014/main" id="{716699F9-A049-5944-BA3A-F246F5D8DDEB}"/>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08 / 09</a:t>
            </a:r>
          </a:p>
        </p:txBody>
      </p:sp>
    </p:spTree>
    <p:extLst>
      <p:ext uri="{BB962C8B-B14F-4D97-AF65-F5344CB8AC3E}">
        <p14:creationId xmlns:p14="http://schemas.microsoft.com/office/powerpoint/2010/main" val="22026868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7F90FBED-011F-9843-BF32-D69C1312DB69}"/>
              </a:ext>
            </a:extLst>
          </p:cNvPr>
          <p:cNvSpPr/>
          <p:nvPr/>
        </p:nvSpPr>
        <p:spPr>
          <a:xfrm>
            <a:off x="0" y="0"/>
            <a:ext cx="12192000" cy="76200"/>
          </a:xfrm>
          <a:prstGeom prst="rect">
            <a:avLst/>
          </a:prstGeom>
          <a:solidFill>
            <a:srgbClr val="2D8C62"/>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F622E24C-D1DB-4949-8ECE-39382B995F5D}"/>
              </a:ext>
            </a:extLst>
          </p:cNvPr>
          <p:cNvSpPr txBox="1"/>
          <p:nvPr/>
        </p:nvSpPr>
        <p:spPr>
          <a:xfrm>
            <a:off x="1079500" y="762000"/>
            <a:ext cx="7620000" cy="889000"/>
          </a:xfrm>
          <a:prstGeom prst="rect">
            <a:avLst/>
          </a:prstGeom>
          <a:noFill/>
        </p:spPr>
        <p:txBody>
          <a:bodyPr vertOverflow="overflow" vert="horz" wrap="square" rtlCol="0" anchor="t">
            <a:spAutoFit/>
          </a:bodyPr>
          <a:lstStyle/>
          <a:p>
            <a:pPr algn="l"/>
            <a:r>
              <a:rPr lang="es-CO" sz="2600" b="1">
                <a:solidFill>
                  <a:srgbClr val="F3F6FA"/>
                </a:solidFill>
                <a:latin typeface="Inter"/>
              </a:rPr>
              <a:t>Which 'before' scenario
have you lived?</a:t>
            </a:r>
          </a:p>
        </p:txBody>
      </p:sp>
      <p:sp>
        <p:nvSpPr>
          <p:cNvPr id="4" name="CuadroTexto 3">
            <a:extLst>
              <a:ext uri="{FF2B5EF4-FFF2-40B4-BE49-F238E27FC236}">
                <a16:creationId xmlns:a16="http://schemas.microsoft.com/office/drawing/2014/main" id="{C20A4401-8D8A-3F4C-A783-FE88B6FD5BFE}"/>
              </a:ext>
            </a:extLst>
          </p:cNvPr>
          <p:cNvSpPr txBox="1"/>
          <p:nvPr/>
        </p:nvSpPr>
        <p:spPr>
          <a:xfrm>
            <a:off x="1079500" y="1968500"/>
            <a:ext cx="5080000" cy="1778000"/>
          </a:xfrm>
          <a:prstGeom prst="rect">
            <a:avLst/>
          </a:prstGeom>
          <a:noFill/>
        </p:spPr>
        <p:txBody>
          <a:bodyPr vertOverflow="overflow" vert="horz" wrap="square" rtlCol="0" anchor="t">
            <a:spAutoFit/>
          </a:bodyPr>
          <a:lstStyle/>
          <a:p>
            <a:pPr algn="l"/>
            <a:r>
              <a:rPr lang="es-CO">
                <a:solidFill>
                  <a:srgbClr val="C8CED8"/>
                </a:solidFill>
                <a:latin typeface="DM Sans"/>
              </a:rPr>
              <a:t>A — The client meeting
B — The team behavior
C — The due diligence ask
D — All of the above</a:t>
            </a:r>
          </a:p>
        </p:txBody>
      </p:sp>
      <p:sp>
        <p:nvSpPr>
          <p:cNvPr id="5" name="CuadroTexto 4">
            <a:extLst>
              <a:ext uri="{FF2B5EF4-FFF2-40B4-BE49-F238E27FC236}">
                <a16:creationId xmlns:a16="http://schemas.microsoft.com/office/drawing/2014/main" id="{4B26D0CC-A35B-D046-A933-CD4529DB0687}"/>
              </a:ext>
            </a:extLst>
          </p:cNvPr>
          <p:cNvSpPr txBox="1"/>
          <p:nvPr/>
        </p:nvSpPr>
        <p:spPr>
          <a:xfrm>
            <a:off x="1079500" y="3937000"/>
            <a:ext cx="3810000" cy="381000"/>
          </a:xfrm>
          <a:prstGeom prst="rect">
            <a:avLst/>
          </a:prstGeom>
          <a:noFill/>
        </p:spPr>
        <p:txBody>
          <a:bodyPr vertOverflow="overflow" vert="horz" wrap="square" rtlCol="0" anchor="t">
            <a:spAutoFit/>
          </a:bodyPr>
          <a:lstStyle/>
          <a:p>
            <a:pPr algn="l"/>
            <a:r>
              <a:rPr lang="es-CO" sz="1700"/>
              <a:t>Comment A, B, C, or D.</a:t>
            </a:r>
          </a:p>
        </p:txBody>
      </p:sp>
      <p:sp>
        <p:nvSpPr>
          <p:cNvPr id="6" name="Rectángulo redondeado 5">
            <a:extLst>
              <a:ext uri="{FF2B5EF4-FFF2-40B4-BE49-F238E27FC236}">
                <a16:creationId xmlns:a16="http://schemas.microsoft.com/office/drawing/2014/main" id="{68776B2A-F1E4-734F-ADC2-FABE77F0C430}"/>
              </a:ext>
            </a:extLst>
          </p:cNvPr>
          <p:cNvSpPr/>
          <p:nvPr/>
        </p:nvSpPr>
        <p:spPr>
          <a:xfrm>
            <a:off x="1079500" y="5080000"/>
            <a:ext cx="6858000" cy="635000"/>
          </a:xfrm>
          <a:prstGeom prst="roundRect">
            <a:avLst/>
          </a:prstGeom>
          <a:solidFill>
            <a:srgbClr val="2D8C6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600" b="1">
                <a:solidFill>
                  <a:srgbClr val="FFFFFF"/>
                </a:solidFill>
                <a:latin typeface="DM Sans"/>
              </a:rPr>
              <a:t>💬  Comment A, B, C, or D — which before have you lived?</a:t>
            </a:r>
          </a:p>
        </p:txBody>
      </p:sp>
      <p:sp>
        <p:nvSpPr>
          <p:cNvPr id="7" name="CuadroTexto 6">
            <a:extLst>
              <a:ext uri="{FF2B5EF4-FFF2-40B4-BE49-F238E27FC236}">
                <a16:creationId xmlns:a16="http://schemas.microsoft.com/office/drawing/2014/main" id="{F4160884-2E94-0143-8515-892FEFC845EF}"/>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09 / 09</a:t>
            </a:r>
          </a:p>
        </p:txBody>
      </p:sp>
    </p:spTree>
    <p:extLst>
      <p:ext uri="{BB962C8B-B14F-4D97-AF65-F5344CB8AC3E}">
        <p14:creationId xmlns:p14="http://schemas.microsoft.com/office/powerpoint/2010/main" val="6981717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FC66779-C1C4-3545-B665-9B61FA8932E8}"/>
              </a:ext>
            </a:extLst>
          </p:cNvPr>
          <p:cNvSpPr txBox="1"/>
          <p:nvPr/>
        </p:nvSpPr>
        <p:spPr>
          <a:xfrm>
            <a:off x="1016000" y="1270000"/>
            <a:ext cx="3810000" cy="508000"/>
          </a:xfrm>
          <a:prstGeom prst="rect">
            <a:avLst/>
          </a:prstGeom>
          <a:noFill/>
        </p:spPr>
        <p:txBody>
          <a:bodyPr vertOverflow="overflow" vert="horz" wrap="square" rtlCol="0" anchor="t">
            <a:spAutoFit/>
          </a:bodyPr>
          <a:lstStyle/>
          <a:p>
            <a:pPr algn="l"/>
            <a:r>
              <a:rPr lang="es-CO" sz="1400"/>
              <a:t>CAROUSEL 07</a:t>
            </a:r>
          </a:p>
        </p:txBody>
      </p:sp>
      <p:sp>
        <p:nvSpPr>
          <p:cNvPr id="3" name="Rectángulo 2">
            <a:extLst>
              <a:ext uri="{FF2B5EF4-FFF2-40B4-BE49-F238E27FC236}">
                <a16:creationId xmlns:a16="http://schemas.microsoft.com/office/drawing/2014/main" id="{1D3EB165-5794-BE42-B4A9-772EA2084B6C}"/>
              </a:ext>
            </a:extLst>
          </p:cNvPr>
          <p:cNvSpPr/>
          <p:nvPr/>
        </p:nvSpPr>
        <p:spPr>
          <a:xfrm>
            <a:off x="1016000" y="1905000"/>
            <a:ext cx="1016000" cy="63500"/>
          </a:xfrm>
          <a:prstGeom prst="rect">
            <a:avLst/>
          </a:prstGeom>
          <a:solidFill>
            <a:srgbClr val="4B58A6"/>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4" name="CuadroTexto 3">
            <a:extLst>
              <a:ext uri="{FF2B5EF4-FFF2-40B4-BE49-F238E27FC236}">
                <a16:creationId xmlns:a16="http://schemas.microsoft.com/office/drawing/2014/main" id="{5689A5A4-2C68-9D4A-B3D9-BA51B4B8AFD6}"/>
              </a:ext>
            </a:extLst>
          </p:cNvPr>
          <p:cNvSpPr txBox="1"/>
          <p:nvPr/>
        </p:nvSpPr>
        <p:spPr>
          <a:xfrm>
            <a:off x="1016000" y="2159000"/>
            <a:ext cx="7620000" cy="1524000"/>
          </a:xfrm>
          <a:prstGeom prst="rect">
            <a:avLst/>
          </a:prstGeom>
          <a:noFill/>
        </p:spPr>
        <p:txBody>
          <a:bodyPr vertOverflow="overflow" vert="horz" wrap="square" rtlCol="0" anchor="t">
            <a:spAutoFit/>
          </a:bodyPr>
          <a:lstStyle/>
          <a:p>
            <a:pPr algn="l"/>
            <a:r>
              <a:rPr lang="es-CO" sz="3600" b="1">
                <a:solidFill>
                  <a:srgbClr val="F3F6FA"/>
                </a:solidFill>
                <a:latin typeface="Inter"/>
              </a:rPr>
              <a:t>The 5-Minute AI Governance
Self-Audit</a:t>
            </a:r>
          </a:p>
        </p:txBody>
      </p:sp>
      <p:sp>
        <p:nvSpPr>
          <p:cNvPr id="5" name="CuadroTexto 4">
            <a:extLst>
              <a:ext uri="{FF2B5EF4-FFF2-40B4-BE49-F238E27FC236}">
                <a16:creationId xmlns:a16="http://schemas.microsoft.com/office/drawing/2014/main" id="{86C59D96-10E0-AA4C-943A-B9FF352D7A24}"/>
              </a:ext>
            </a:extLst>
          </p:cNvPr>
          <p:cNvSpPr txBox="1"/>
          <p:nvPr/>
        </p:nvSpPr>
        <p:spPr>
          <a:xfrm>
            <a:off x="1016000" y="3937000"/>
            <a:ext cx="6350000" cy="381000"/>
          </a:xfrm>
          <a:prstGeom prst="rect">
            <a:avLst/>
          </a:prstGeom>
          <a:noFill/>
        </p:spPr>
        <p:txBody>
          <a:bodyPr vertOverflow="overflow" vert="horz" wrap="square" rtlCol="0" anchor="t">
            <a:spAutoFit/>
          </a:bodyPr>
          <a:lstStyle/>
          <a:p>
            <a:pPr algn="l"/>
            <a:r>
              <a:rPr lang="es-CO" sz="1400"/>
              <a:t>Day 13  •  8:00 AM EST  •  Utility  •  8 Slides</a:t>
            </a:r>
          </a:p>
        </p:txBody>
      </p:sp>
      <p:sp>
        <p:nvSpPr>
          <p:cNvPr id="6" name="Rectángulo redondeado 5">
            <a:extLst>
              <a:ext uri="{FF2B5EF4-FFF2-40B4-BE49-F238E27FC236}">
                <a16:creationId xmlns:a16="http://schemas.microsoft.com/office/drawing/2014/main" id="{DF082BE6-1836-0F45-B9E9-00B54D4BDE4F}"/>
              </a:ext>
            </a:extLst>
          </p:cNvPr>
          <p:cNvSpPr/>
          <p:nvPr/>
        </p:nvSpPr>
        <p:spPr>
          <a:xfrm>
            <a:off x="1016000" y="4699000"/>
            <a:ext cx="2413000" cy="508000"/>
          </a:xfrm>
          <a:prstGeom prst="roundRect">
            <a:avLst/>
          </a:prstGeom>
          <a:solidFill>
            <a:srgbClr val="4B58A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400" b="1">
                <a:solidFill>
                  <a:srgbClr val="FFFFFF"/>
                </a:solidFill>
              </a:rPr>
              <a:t>Indigo #4B58A6</a:t>
            </a:r>
          </a:p>
        </p:txBody>
      </p:sp>
      <p:sp>
        <p:nvSpPr>
          <p:cNvPr id="7" name="CuadroTexto 6">
            <a:extLst>
              <a:ext uri="{FF2B5EF4-FFF2-40B4-BE49-F238E27FC236}">
                <a16:creationId xmlns:a16="http://schemas.microsoft.com/office/drawing/2014/main" id="{A6B42CD8-0267-6C4D-BBA1-70BCD1FA6F64}"/>
              </a:ext>
            </a:extLst>
          </p:cNvPr>
          <p:cNvSpPr txBox="1"/>
          <p:nvPr/>
        </p:nvSpPr>
        <p:spPr>
          <a:xfrm>
            <a:off x="9144000" y="1524000"/>
            <a:ext cx="2540000" cy="3810000"/>
          </a:xfrm>
          <a:prstGeom prst="rect">
            <a:avLst/>
          </a:prstGeom>
          <a:noFill/>
        </p:spPr>
        <p:txBody>
          <a:bodyPr vertOverflow="overflow" vert="horz" wrap="square" rtlCol="0" anchor="t">
            <a:spAutoFit/>
          </a:bodyPr>
          <a:lstStyle/>
          <a:p>
            <a:pPr algn="l"/>
            <a:r>
              <a:rPr lang="es-CO" sz="12000" b="1">
                <a:solidFill>
                  <a:srgbClr val="4B58A6"/>
                </a:solidFill>
                <a:latin typeface="Inter"/>
              </a:rPr>
              <a:t>07</a:t>
            </a:r>
          </a:p>
        </p:txBody>
      </p:sp>
    </p:spTree>
    <p:extLst>
      <p:ext uri="{BB962C8B-B14F-4D97-AF65-F5344CB8AC3E}">
        <p14:creationId xmlns:p14="http://schemas.microsoft.com/office/powerpoint/2010/main" val="13165366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D26B08C-ECE5-9E43-9B6C-74E70B2C040A}"/>
              </a:ext>
            </a:extLst>
          </p:cNvPr>
          <p:cNvSpPr/>
          <p:nvPr/>
        </p:nvSpPr>
        <p:spPr>
          <a:xfrm>
            <a:off x="762000" y="1270000"/>
            <a:ext cx="63500" cy="3810000"/>
          </a:xfrm>
          <a:prstGeom prst="rect">
            <a:avLst/>
          </a:prstGeom>
          <a:solidFill>
            <a:srgbClr val="4B58A6"/>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8BFDB5DF-6A1D-C04F-9C4B-1670A5AE9FFC}"/>
              </a:ext>
            </a:extLst>
          </p:cNvPr>
          <p:cNvSpPr txBox="1"/>
          <p:nvPr/>
        </p:nvSpPr>
        <p:spPr>
          <a:xfrm>
            <a:off x="1079500" y="1270000"/>
            <a:ext cx="8255000" cy="1397000"/>
          </a:xfrm>
          <a:prstGeom prst="rect">
            <a:avLst/>
          </a:prstGeom>
          <a:noFill/>
        </p:spPr>
        <p:txBody>
          <a:bodyPr vertOverflow="overflow" vert="horz" wrap="square" rtlCol="0" anchor="t">
            <a:spAutoFit/>
          </a:bodyPr>
          <a:lstStyle/>
          <a:p>
            <a:pPr algn="l"/>
            <a:r>
              <a:rPr lang="es-CO" sz="3200" b="1">
                <a:solidFill>
                  <a:srgbClr val="F3F6FA"/>
                </a:solidFill>
                <a:latin typeface="Inter"/>
              </a:rPr>
              <a:t>The 5-minute AI governance
self-audit for small firms.</a:t>
            </a:r>
          </a:p>
        </p:txBody>
      </p:sp>
      <p:sp>
        <p:nvSpPr>
          <p:cNvPr id="4" name="CuadroTexto 3">
            <a:extLst>
              <a:ext uri="{FF2B5EF4-FFF2-40B4-BE49-F238E27FC236}">
                <a16:creationId xmlns:a16="http://schemas.microsoft.com/office/drawing/2014/main" id="{146F7889-EC90-9749-A450-09EAF699B2FB}"/>
              </a:ext>
            </a:extLst>
          </p:cNvPr>
          <p:cNvSpPr txBox="1"/>
          <p:nvPr/>
        </p:nvSpPr>
        <p:spPr>
          <a:xfrm>
            <a:off x="1079500" y="3048000"/>
            <a:ext cx="7620000" cy="508000"/>
          </a:xfrm>
          <a:prstGeom prst="rect">
            <a:avLst/>
          </a:prstGeom>
          <a:noFill/>
        </p:spPr>
        <p:txBody>
          <a:bodyPr vertOverflow="overflow" vert="horz" wrap="square" rtlCol="0" anchor="t">
            <a:spAutoFit/>
          </a:bodyPr>
          <a:lstStyle/>
          <a:p>
            <a:pPr algn="l"/>
            <a:r>
              <a:rPr lang="es-CO" sz="2000"/>
              <a:t>Answer honestly. No judgment.</a:t>
            </a:r>
          </a:p>
        </p:txBody>
      </p:sp>
      <p:sp>
        <p:nvSpPr>
          <p:cNvPr id="5" name="CuadroTexto 4">
            <a:extLst>
              <a:ext uri="{FF2B5EF4-FFF2-40B4-BE49-F238E27FC236}">
                <a16:creationId xmlns:a16="http://schemas.microsoft.com/office/drawing/2014/main" id="{C2047A8F-9791-E740-B308-05114298FD72}"/>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01 / 08</a:t>
            </a:r>
          </a:p>
        </p:txBody>
      </p:sp>
    </p:spTree>
    <p:extLst>
      <p:ext uri="{BB962C8B-B14F-4D97-AF65-F5344CB8AC3E}">
        <p14:creationId xmlns:p14="http://schemas.microsoft.com/office/powerpoint/2010/main" val="18113829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DC62B5A-88A7-D742-B2C8-380F635A52E5}"/>
              </a:ext>
            </a:extLst>
          </p:cNvPr>
          <p:cNvSpPr/>
          <p:nvPr/>
        </p:nvSpPr>
        <p:spPr>
          <a:xfrm>
            <a:off x="762000" y="762000"/>
            <a:ext cx="63500" cy="762000"/>
          </a:xfrm>
          <a:prstGeom prst="rect">
            <a:avLst/>
          </a:prstGeom>
          <a:solidFill>
            <a:srgbClr val="4B58A6"/>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9D5A0D09-E6EE-7340-A490-30920812034D}"/>
              </a:ext>
            </a:extLst>
          </p:cNvPr>
          <p:cNvSpPr txBox="1"/>
          <p:nvPr/>
        </p:nvSpPr>
        <p:spPr>
          <a:xfrm>
            <a:off x="1079500" y="762000"/>
            <a:ext cx="8890000" cy="508000"/>
          </a:xfrm>
          <a:prstGeom prst="rect">
            <a:avLst/>
          </a:prstGeom>
          <a:noFill/>
        </p:spPr>
        <p:txBody>
          <a:bodyPr vertOverflow="overflow" vert="horz" wrap="square" rtlCol="0" anchor="t">
            <a:spAutoFit/>
          </a:bodyPr>
          <a:lstStyle/>
          <a:p>
            <a:pPr algn="l"/>
            <a:r>
              <a:rPr lang="es-CO" sz="2200" b="1">
                <a:solidFill>
                  <a:srgbClr val="4B58A6"/>
                </a:solidFill>
                <a:latin typeface="Inter"/>
              </a:rPr>
              <a:t>Check 1 — Tool Inventory</a:t>
            </a:r>
          </a:p>
        </p:txBody>
      </p:sp>
      <p:sp>
        <p:nvSpPr>
          <p:cNvPr id="4" name="CuadroTexto 3">
            <a:extLst>
              <a:ext uri="{FF2B5EF4-FFF2-40B4-BE49-F238E27FC236}">
                <a16:creationId xmlns:a16="http://schemas.microsoft.com/office/drawing/2014/main" id="{1245947D-15C0-CD42-9331-04C5AD08CB60}"/>
              </a:ext>
            </a:extLst>
          </p:cNvPr>
          <p:cNvSpPr txBox="1"/>
          <p:nvPr/>
        </p:nvSpPr>
        <p:spPr>
          <a:xfrm>
            <a:off x="1079500" y="1524000"/>
            <a:ext cx="8255000" cy="4318000"/>
          </a:xfrm>
          <a:prstGeom prst="rect">
            <a:avLst/>
          </a:prstGeom>
          <a:noFill/>
        </p:spPr>
        <p:txBody>
          <a:bodyPr vertOverflow="overflow" vert="horz" wrap="square" rtlCol="0" anchor="t">
            <a:spAutoFit/>
          </a:bodyPr>
          <a:lstStyle/>
          <a:p>
            <a:pPr algn="l"/>
            <a:r>
              <a:rPr lang="es-CO" sz="1700">
                <a:solidFill>
                  <a:srgbClr val="1A2332"/>
                </a:solidFill>
                <a:latin typeface="DM Sans"/>
              </a:rPr>
              <a:t>Can you list every AI tool your
team uses right now?
→  Including personal tools?
→  Including free-tier accounts?
→  Including browser extensions?
If you hesitated: you have a gap.</a:t>
            </a:r>
          </a:p>
        </p:txBody>
      </p:sp>
      <p:sp>
        <p:nvSpPr>
          <p:cNvPr id="5" name="CuadroTexto 4">
            <a:extLst>
              <a:ext uri="{FF2B5EF4-FFF2-40B4-BE49-F238E27FC236}">
                <a16:creationId xmlns:a16="http://schemas.microsoft.com/office/drawing/2014/main" id="{B298F3E2-D99E-5E4B-8B1A-277ED0F63A78}"/>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02 / 08</a:t>
            </a:r>
          </a:p>
        </p:txBody>
      </p:sp>
    </p:spTree>
    <p:extLst>
      <p:ext uri="{BB962C8B-B14F-4D97-AF65-F5344CB8AC3E}">
        <p14:creationId xmlns:p14="http://schemas.microsoft.com/office/powerpoint/2010/main" val="8385068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71CF7BD-A8B2-6C4A-AD3F-5EC8C6E8605F}"/>
              </a:ext>
            </a:extLst>
          </p:cNvPr>
          <p:cNvSpPr/>
          <p:nvPr/>
        </p:nvSpPr>
        <p:spPr>
          <a:xfrm>
            <a:off x="762000" y="762000"/>
            <a:ext cx="63500" cy="762000"/>
          </a:xfrm>
          <a:prstGeom prst="rect">
            <a:avLst/>
          </a:prstGeom>
          <a:solidFill>
            <a:srgbClr val="4B58A6"/>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5FE7D689-88ED-CE44-A0A3-590B5CC9CD48}"/>
              </a:ext>
            </a:extLst>
          </p:cNvPr>
          <p:cNvSpPr txBox="1"/>
          <p:nvPr/>
        </p:nvSpPr>
        <p:spPr>
          <a:xfrm>
            <a:off x="1079500" y="762000"/>
            <a:ext cx="8890000" cy="508000"/>
          </a:xfrm>
          <a:prstGeom prst="rect">
            <a:avLst/>
          </a:prstGeom>
          <a:noFill/>
        </p:spPr>
        <p:txBody>
          <a:bodyPr vertOverflow="overflow" vert="horz" wrap="square" rtlCol="0" anchor="t">
            <a:spAutoFit/>
          </a:bodyPr>
          <a:lstStyle/>
          <a:p>
            <a:pPr algn="l"/>
            <a:r>
              <a:rPr lang="es-CO" sz="2200" b="1">
                <a:solidFill>
                  <a:srgbClr val="4B58A6"/>
                </a:solidFill>
                <a:latin typeface="Inter"/>
              </a:rPr>
              <a:t>Check 2 — Data Rule</a:t>
            </a:r>
          </a:p>
        </p:txBody>
      </p:sp>
      <p:sp>
        <p:nvSpPr>
          <p:cNvPr id="4" name="CuadroTexto 3">
            <a:extLst>
              <a:ext uri="{FF2B5EF4-FFF2-40B4-BE49-F238E27FC236}">
                <a16:creationId xmlns:a16="http://schemas.microsoft.com/office/drawing/2014/main" id="{21FA8204-16CC-C44F-94D1-E7362F9CD426}"/>
              </a:ext>
            </a:extLst>
          </p:cNvPr>
          <p:cNvSpPr txBox="1"/>
          <p:nvPr/>
        </p:nvSpPr>
        <p:spPr>
          <a:xfrm>
            <a:off x="1079500" y="1524000"/>
            <a:ext cx="8255000" cy="4318000"/>
          </a:xfrm>
          <a:prstGeom prst="rect">
            <a:avLst/>
          </a:prstGeom>
          <a:noFill/>
        </p:spPr>
        <p:txBody>
          <a:bodyPr vertOverflow="overflow" vert="horz" wrap="square" rtlCol="0" anchor="t">
            <a:spAutoFit/>
          </a:bodyPr>
          <a:lstStyle/>
          <a:p>
            <a:pPr algn="l"/>
            <a:r>
              <a:rPr lang="es-CO" sz="1700">
                <a:solidFill>
                  <a:srgbClr val="1A2332"/>
                </a:solidFill>
                <a:latin typeface="DM Sans"/>
              </a:rPr>
              <a:t>Is there a written rule — anywhere —
on what data cannot go into AI tools?
A Slack message counts.
An email counts.
Nothing in anyone's head counts.
If it's not written, it's not a rule.</a:t>
            </a:r>
          </a:p>
        </p:txBody>
      </p:sp>
      <p:sp>
        <p:nvSpPr>
          <p:cNvPr id="5" name="CuadroTexto 4">
            <a:extLst>
              <a:ext uri="{FF2B5EF4-FFF2-40B4-BE49-F238E27FC236}">
                <a16:creationId xmlns:a16="http://schemas.microsoft.com/office/drawing/2014/main" id="{863507A1-8670-7B43-8121-1A3AAB31991C}"/>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03 / 08</a:t>
            </a:r>
          </a:p>
        </p:txBody>
      </p:sp>
    </p:spTree>
    <p:extLst>
      <p:ext uri="{BB962C8B-B14F-4D97-AF65-F5344CB8AC3E}">
        <p14:creationId xmlns:p14="http://schemas.microsoft.com/office/powerpoint/2010/main" val="2919765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21E57AC-ED28-F94A-9EFB-997A29E0C85C}"/>
              </a:ext>
            </a:extLst>
          </p:cNvPr>
          <p:cNvSpPr/>
          <p:nvPr/>
        </p:nvSpPr>
        <p:spPr>
          <a:xfrm>
            <a:off x="762000" y="762000"/>
            <a:ext cx="63500" cy="762000"/>
          </a:xfrm>
          <a:prstGeom prst="rect">
            <a:avLst/>
          </a:prstGeom>
          <a:solidFill>
            <a:srgbClr val="4B58A6"/>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9CDB8476-BEA5-9944-AAC9-C9A4D84F1AC7}"/>
              </a:ext>
            </a:extLst>
          </p:cNvPr>
          <p:cNvSpPr txBox="1"/>
          <p:nvPr/>
        </p:nvSpPr>
        <p:spPr>
          <a:xfrm>
            <a:off x="1079500" y="762000"/>
            <a:ext cx="8890000" cy="508000"/>
          </a:xfrm>
          <a:prstGeom prst="rect">
            <a:avLst/>
          </a:prstGeom>
          <a:noFill/>
        </p:spPr>
        <p:txBody>
          <a:bodyPr vertOverflow="overflow" vert="horz" wrap="square" rtlCol="0" anchor="t">
            <a:spAutoFit/>
          </a:bodyPr>
          <a:lstStyle/>
          <a:p>
            <a:pPr algn="l"/>
            <a:r>
              <a:rPr lang="es-CO" sz="2200" b="1">
                <a:solidFill>
                  <a:srgbClr val="4B58A6"/>
                </a:solidFill>
                <a:latin typeface="Inter"/>
              </a:rPr>
              <a:t>Check 3 — Contract Scan</a:t>
            </a:r>
          </a:p>
        </p:txBody>
      </p:sp>
      <p:sp>
        <p:nvSpPr>
          <p:cNvPr id="4" name="CuadroTexto 3">
            <a:extLst>
              <a:ext uri="{FF2B5EF4-FFF2-40B4-BE49-F238E27FC236}">
                <a16:creationId xmlns:a16="http://schemas.microsoft.com/office/drawing/2014/main" id="{BF6BF97B-AD60-5646-AA3C-8DC5E228DE1D}"/>
              </a:ext>
            </a:extLst>
          </p:cNvPr>
          <p:cNvSpPr txBox="1"/>
          <p:nvPr/>
        </p:nvSpPr>
        <p:spPr>
          <a:xfrm>
            <a:off x="1079500" y="1524000"/>
            <a:ext cx="8255000" cy="4318000"/>
          </a:xfrm>
          <a:prstGeom prst="rect">
            <a:avLst/>
          </a:prstGeom>
          <a:noFill/>
        </p:spPr>
        <p:txBody>
          <a:bodyPr vertOverflow="overflow" vert="horz" wrap="square" rtlCol="0" anchor="t">
            <a:spAutoFit/>
          </a:bodyPr>
          <a:lstStyle/>
          <a:p>
            <a:pPr algn="l"/>
            <a:r>
              <a:rPr lang="es-CO" sz="1700">
                <a:solidFill>
                  <a:srgbClr val="1A2332"/>
                </a:solidFill>
                <a:latin typeface="DM Sans"/>
              </a:rPr>
              <a:t>Have you read your top 5 active
client agreements in the last 6 months?
Specifically looking for:
→  'Original work' clauses
→  'No AI' or 'human-produced' clauses
→  Confidentiality scope
If no: you have 3 hours of work
that could prevent a real problem.</a:t>
            </a:r>
          </a:p>
        </p:txBody>
      </p:sp>
      <p:sp>
        <p:nvSpPr>
          <p:cNvPr id="5" name="CuadroTexto 4">
            <a:extLst>
              <a:ext uri="{FF2B5EF4-FFF2-40B4-BE49-F238E27FC236}">
                <a16:creationId xmlns:a16="http://schemas.microsoft.com/office/drawing/2014/main" id="{ED539BF1-7AF6-BD4C-9FA1-354B4DCDE4FE}"/>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04 / 08</a:t>
            </a:r>
          </a:p>
        </p:txBody>
      </p:sp>
    </p:spTree>
    <p:extLst>
      <p:ext uri="{BB962C8B-B14F-4D97-AF65-F5344CB8AC3E}">
        <p14:creationId xmlns:p14="http://schemas.microsoft.com/office/powerpoint/2010/main" val="5187361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45BE365-B328-8D41-AAD1-7C52767936F4}"/>
              </a:ext>
            </a:extLst>
          </p:cNvPr>
          <p:cNvSpPr/>
          <p:nvPr/>
        </p:nvSpPr>
        <p:spPr>
          <a:xfrm>
            <a:off x="762000" y="762000"/>
            <a:ext cx="63500" cy="762000"/>
          </a:xfrm>
          <a:prstGeom prst="rect">
            <a:avLst/>
          </a:prstGeom>
          <a:solidFill>
            <a:srgbClr val="4B58A6"/>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DBBD6010-F814-E844-B79C-45E096547B58}"/>
              </a:ext>
            </a:extLst>
          </p:cNvPr>
          <p:cNvSpPr txBox="1"/>
          <p:nvPr/>
        </p:nvSpPr>
        <p:spPr>
          <a:xfrm>
            <a:off x="1079500" y="762000"/>
            <a:ext cx="8890000" cy="508000"/>
          </a:xfrm>
          <a:prstGeom prst="rect">
            <a:avLst/>
          </a:prstGeom>
          <a:noFill/>
        </p:spPr>
        <p:txBody>
          <a:bodyPr vertOverflow="overflow" vert="horz" wrap="square" rtlCol="0" anchor="t">
            <a:spAutoFit/>
          </a:bodyPr>
          <a:lstStyle/>
          <a:p>
            <a:pPr algn="l"/>
            <a:r>
              <a:rPr lang="es-CO" sz="2200" b="1">
                <a:solidFill>
                  <a:srgbClr val="4B58A6"/>
                </a:solidFill>
                <a:latin typeface="Inter"/>
              </a:rPr>
              <a:t>Check 4 — Review Standard</a:t>
            </a:r>
          </a:p>
        </p:txBody>
      </p:sp>
      <p:sp>
        <p:nvSpPr>
          <p:cNvPr id="4" name="CuadroTexto 3">
            <a:extLst>
              <a:ext uri="{FF2B5EF4-FFF2-40B4-BE49-F238E27FC236}">
                <a16:creationId xmlns:a16="http://schemas.microsoft.com/office/drawing/2014/main" id="{459F42E3-2E76-A643-9BDA-9931A02DE717}"/>
              </a:ext>
            </a:extLst>
          </p:cNvPr>
          <p:cNvSpPr txBox="1"/>
          <p:nvPr/>
        </p:nvSpPr>
        <p:spPr>
          <a:xfrm>
            <a:off x="1079500" y="1524000"/>
            <a:ext cx="8255000" cy="4318000"/>
          </a:xfrm>
          <a:prstGeom prst="rect">
            <a:avLst/>
          </a:prstGeom>
          <a:noFill/>
        </p:spPr>
        <p:txBody>
          <a:bodyPr vertOverflow="overflow" vert="horz" wrap="square" rtlCol="0" anchor="t">
            <a:spAutoFit/>
          </a:bodyPr>
          <a:lstStyle/>
          <a:p>
            <a:pPr algn="l"/>
            <a:r>
              <a:rPr lang="es-CO" sz="1700">
                <a:solidFill>
                  <a:srgbClr val="1A2332"/>
                </a:solidFill>
                <a:latin typeface="DM Sans"/>
              </a:rPr>
              <a:t>Who reviews AI output before
it reaches a client?
→  Is it written down?
→  Is it consistent across the team?
→  Or does each person decide alone?
If the answer depends on the person:
you have no standard.</a:t>
            </a:r>
          </a:p>
        </p:txBody>
      </p:sp>
      <p:sp>
        <p:nvSpPr>
          <p:cNvPr id="5" name="CuadroTexto 4">
            <a:extLst>
              <a:ext uri="{FF2B5EF4-FFF2-40B4-BE49-F238E27FC236}">
                <a16:creationId xmlns:a16="http://schemas.microsoft.com/office/drawing/2014/main" id="{5147BCAF-3FB6-474D-BFDF-733D45B30029}"/>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05 / 08</a:t>
            </a:r>
          </a:p>
        </p:txBody>
      </p:sp>
    </p:spTree>
    <p:extLst>
      <p:ext uri="{BB962C8B-B14F-4D97-AF65-F5344CB8AC3E}">
        <p14:creationId xmlns:p14="http://schemas.microsoft.com/office/powerpoint/2010/main" val="30937602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3EDE2654-57BA-404F-B88D-90EB7A293DA8}"/>
              </a:ext>
            </a:extLst>
          </p:cNvPr>
          <p:cNvSpPr/>
          <p:nvPr/>
        </p:nvSpPr>
        <p:spPr>
          <a:xfrm>
            <a:off x="762000" y="762000"/>
            <a:ext cx="63500" cy="762000"/>
          </a:xfrm>
          <a:prstGeom prst="rect">
            <a:avLst/>
          </a:prstGeom>
          <a:solidFill>
            <a:srgbClr val="4B58A6"/>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8BDE5713-2CCA-ED41-BC47-A4AC299FDC67}"/>
              </a:ext>
            </a:extLst>
          </p:cNvPr>
          <p:cNvSpPr txBox="1"/>
          <p:nvPr/>
        </p:nvSpPr>
        <p:spPr>
          <a:xfrm>
            <a:off x="1079500" y="762000"/>
            <a:ext cx="8890000" cy="508000"/>
          </a:xfrm>
          <a:prstGeom prst="rect">
            <a:avLst/>
          </a:prstGeom>
          <a:noFill/>
        </p:spPr>
        <p:txBody>
          <a:bodyPr vertOverflow="overflow" vert="horz" wrap="square" rtlCol="0" anchor="t">
            <a:spAutoFit/>
          </a:bodyPr>
          <a:lstStyle/>
          <a:p>
            <a:pPr algn="l"/>
            <a:r>
              <a:rPr lang="es-CO" sz="2200" b="1">
                <a:solidFill>
                  <a:srgbClr val="4B58A6"/>
                </a:solidFill>
                <a:latin typeface="Inter"/>
              </a:rPr>
              <a:t>Check 5 — Disclosure Trigger</a:t>
            </a:r>
          </a:p>
        </p:txBody>
      </p:sp>
      <p:sp>
        <p:nvSpPr>
          <p:cNvPr id="4" name="CuadroTexto 3">
            <a:extLst>
              <a:ext uri="{FF2B5EF4-FFF2-40B4-BE49-F238E27FC236}">
                <a16:creationId xmlns:a16="http://schemas.microsoft.com/office/drawing/2014/main" id="{204CD947-386D-6A44-8089-49F46E312132}"/>
              </a:ext>
            </a:extLst>
          </p:cNvPr>
          <p:cNvSpPr txBox="1"/>
          <p:nvPr/>
        </p:nvSpPr>
        <p:spPr>
          <a:xfrm>
            <a:off x="1079500" y="1524000"/>
            <a:ext cx="8255000" cy="4318000"/>
          </a:xfrm>
          <a:prstGeom prst="rect">
            <a:avLst/>
          </a:prstGeom>
          <a:noFill/>
        </p:spPr>
        <p:txBody>
          <a:bodyPr vertOverflow="overflow" vert="horz" wrap="square" rtlCol="0" anchor="t">
            <a:spAutoFit/>
          </a:bodyPr>
          <a:lstStyle/>
          <a:p>
            <a:pPr algn="l"/>
            <a:r>
              <a:rPr lang="es-CO" sz="1700">
                <a:solidFill>
                  <a:srgbClr val="1A2332"/>
                </a:solidFill>
                <a:latin typeface="DM Sans"/>
              </a:rPr>
              <a:t>If a client asks tomorrow:
'Do you use AI in our work?'
Can you answer in 30 seconds
with a consistent, documented response?
If you need to check with someone first:
you don't have an answer.</a:t>
            </a:r>
          </a:p>
        </p:txBody>
      </p:sp>
      <p:sp>
        <p:nvSpPr>
          <p:cNvPr id="5" name="CuadroTexto 4">
            <a:extLst>
              <a:ext uri="{FF2B5EF4-FFF2-40B4-BE49-F238E27FC236}">
                <a16:creationId xmlns:a16="http://schemas.microsoft.com/office/drawing/2014/main" id="{2D6DA59F-231C-3847-9255-A510C9896039}"/>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06 / 08</a:t>
            </a:r>
          </a:p>
        </p:txBody>
      </p:sp>
    </p:spTree>
    <p:extLst>
      <p:ext uri="{BB962C8B-B14F-4D97-AF65-F5344CB8AC3E}">
        <p14:creationId xmlns:p14="http://schemas.microsoft.com/office/powerpoint/2010/main" val="4632081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18CE6F2A-41E1-F949-A8F3-242DDC5144A2}"/>
              </a:ext>
            </a:extLst>
          </p:cNvPr>
          <p:cNvSpPr/>
          <p:nvPr/>
        </p:nvSpPr>
        <p:spPr>
          <a:xfrm>
            <a:off x="762000" y="762000"/>
            <a:ext cx="63500" cy="762000"/>
          </a:xfrm>
          <a:prstGeom prst="rect">
            <a:avLst/>
          </a:prstGeom>
          <a:solidFill>
            <a:srgbClr val="4B58A6"/>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CFDE32A8-B2C8-D745-AD56-D5540DA2876C}"/>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Score yourself:</a:t>
            </a:r>
          </a:p>
        </p:txBody>
      </p:sp>
      <p:sp>
        <p:nvSpPr>
          <p:cNvPr id="4" name="CuadroTexto 3">
            <a:extLst>
              <a:ext uri="{FF2B5EF4-FFF2-40B4-BE49-F238E27FC236}">
                <a16:creationId xmlns:a16="http://schemas.microsoft.com/office/drawing/2014/main" id="{6A187C23-C9EB-8F48-98EC-031FCF94BB2B}"/>
              </a:ext>
            </a:extLst>
          </p:cNvPr>
          <p:cNvSpPr txBox="1"/>
          <p:nvPr/>
        </p:nvSpPr>
        <p:spPr>
          <a:xfrm>
            <a:off x="1079500" y="1524000"/>
            <a:ext cx="7620000" cy="2286000"/>
          </a:xfrm>
          <a:prstGeom prst="rect">
            <a:avLst/>
          </a:prstGeom>
          <a:noFill/>
        </p:spPr>
        <p:txBody>
          <a:bodyPr vertOverflow="overflow" vert="horz" wrap="square" rtlCol="0" anchor="t">
            <a:spAutoFit/>
          </a:bodyPr>
          <a:lstStyle/>
          <a:p>
            <a:pPr algn="l"/>
            <a:r>
              <a:rPr lang="es-CO">
                <a:solidFill>
                  <a:srgbClr val="1A2332"/>
                </a:solidFill>
                <a:latin typeface="DM Sans"/>
              </a:rPr>
              <a:t>5 Yes → You're in good shape.
3–4 Yes → You have 1–2 fixes to make.
1–2 Yes → You have a real gap.
0 Yes → This is urgent.</a:t>
            </a:r>
          </a:p>
        </p:txBody>
      </p:sp>
      <p:sp>
        <p:nvSpPr>
          <p:cNvPr id="5" name="CuadroTexto 4">
            <a:extLst>
              <a:ext uri="{FF2B5EF4-FFF2-40B4-BE49-F238E27FC236}">
                <a16:creationId xmlns:a16="http://schemas.microsoft.com/office/drawing/2014/main" id="{2EDC32B1-C17C-B64C-B52B-49340ED1459D}"/>
              </a:ext>
            </a:extLst>
          </p:cNvPr>
          <p:cNvSpPr txBox="1"/>
          <p:nvPr/>
        </p:nvSpPr>
        <p:spPr>
          <a:xfrm>
            <a:off x="1079500" y="4318000"/>
            <a:ext cx="7620000" cy="762000"/>
          </a:xfrm>
          <a:prstGeom prst="rect">
            <a:avLst/>
          </a:prstGeom>
          <a:noFill/>
        </p:spPr>
        <p:txBody>
          <a:bodyPr vertOverflow="overflow" vert="horz" wrap="square" rtlCol="0" anchor="t">
            <a:spAutoFit/>
          </a:bodyPr>
          <a:lstStyle/>
          <a:p>
            <a:pPr algn="l"/>
            <a:r>
              <a:rPr lang="es-CO" b="1">
                <a:solidFill>
                  <a:srgbClr val="4B58A6"/>
                </a:solidFill>
                <a:latin typeface="DM Sans"/>
              </a:rPr>
              <a:t>Most small firms score 1–2.
That's not a judgment. It's a starting point.</a:t>
            </a:r>
          </a:p>
        </p:txBody>
      </p:sp>
      <p:sp>
        <p:nvSpPr>
          <p:cNvPr id="6" name="CuadroTexto 5">
            <a:extLst>
              <a:ext uri="{FF2B5EF4-FFF2-40B4-BE49-F238E27FC236}">
                <a16:creationId xmlns:a16="http://schemas.microsoft.com/office/drawing/2014/main" id="{2B0D8998-BC1E-3A47-A21E-2DC5F7605603}"/>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07 / 08</a:t>
            </a:r>
          </a:p>
        </p:txBody>
      </p:sp>
    </p:spTree>
    <p:extLst>
      <p:ext uri="{BB962C8B-B14F-4D97-AF65-F5344CB8AC3E}">
        <p14:creationId xmlns:p14="http://schemas.microsoft.com/office/powerpoint/2010/main" val="26868300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A59961A-DA19-1B42-98A5-31468FFAE715}"/>
              </a:ext>
            </a:extLst>
          </p:cNvPr>
          <p:cNvSpPr/>
          <p:nvPr/>
        </p:nvSpPr>
        <p:spPr>
          <a:xfrm>
            <a:off x="0" y="0"/>
            <a:ext cx="12192000" cy="76200"/>
          </a:xfrm>
          <a:prstGeom prst="rect">
            <a:avLst/>
          </a:prstGeom>
          <a:solidFill>
            <a:srgbClr val="4B58A6"/>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89218FFE-EBC7-034F-B180-18423728ABDE}"/>
              </a:ext>
            </a:extLst>
          </p:cNvPr>
          <p:cNvSpPr txBox="1"/>
          <p:nvPr/>
        </p:nvSpPr>
        <p:spPr>
          <a:xfrm>
            <a:off x="1079500" y="1016000"/>
            <a:ext cx="7620000" cy="508000"/>
          </a:xfrm>
          <a:prstGeom prst="rect">
            <a:avLst/>
          </a:prstGeom>
          <a:noFill/>
        </p:spPr>
        <p:txBody>
          <a:bodyPr vertOverflow="overflow" vert="horz" wrap="square" rtlCol="0" anchor="t">
            <a:spAutoFit/>
          </a:bodyPr>
          <a:lstStyle/>
          <a:p>
            <a:pPr algn="l"/>
            <a:r>
              <a:rPr lang="es-CO" sz="2600" b="1">
                <a:solidFill>
                  <a:srgbClr val="F3F6FA"/>
                </a:solidFill>
                <a:latin typeface="Inter"/>
              </a:rPr>
              <a:t>What was your score?</a:t>
            </a:r>
          </a:p>
        </p:txBody>
      </p:sp>
      <p:sp>
        <p:nvSpPr>
          <p:cNvPr id="4" name="CuadroTexto 3">
            <a:extLst>
              <a:ext uri="{FF2B5EF4-FFF2-40B4-BE49-F238E27FC236}">
                <a16:creationId xmlns:a16="http://schemas.microsoft.com/office/drawing/2014/main" id="{4964308F-56D6-5F48-9C7E-F4BEFF3D9C0C}"/>
              </a:ext>
            </a:extLst>
          </p:cNvPr>
          <p:cNvSpPr txBox="1"/>
          <p:nvPr/>
        </p:nvSpPr>
        <p:spPr>
          <a:xfrm>
            <a:off x="1079500" y="1778000"/>
            <a:ext cx="7620000" cy="2540000"/>
          </a:xfrm>
          <a:prstGeom prst="rect">
            <a:avLst/>
          </a:prstGeom>
          <a:noFill/>
        </p:spPr>
        <p:txBody>
          <a:bodyPr vertOverflow="overflow" vert="horz" wrap="square" rtlCol="0" anchor="t">
            <a:spAutoFit/>
          </a:bodyPr>
          <a:lstStyle/>
          <a:p>
            <a:pPr algn="l"/>
            <a:r>
              <a:rPr lang="es-CO">
                <a:solidFill>
                  <a:srgbClr val="C8CED8"/>
                </a:solidFill>
                <a:latin typeface="DM Sans"/>
              </a:rPr>
              <a:t>Comment the number: 0 / 1 / 2 / 3 / 4 / 5
I'll reply with the specific fix
for your biggest gap.
(Free. No pitch.)</a:t>
            </a:r>
          </a:p>
        </p:txBody>
      </p:sp>
      <p:sp>
        <p:nvSpPr>
          <p:cNvPr id="5" name="Rectángulo redondeado 4">
            <a:extLst>
              <a:ext uri="{FF2B5EF4-FFF2-40B4-BE49-F238E27FC236}">
                <a16:creationId xmlns:a16="http://schemas.microsoft.com/office/drawing/2014/main" id="{C75AB806-A376-344A-B05A-7D549971723D}"/>
              </a:ext>
            </a:extLst>
          </p:cNvPr>
          <p:cNvSpPr/>
          <p:nvPr/>
        </p:nvSpPr>
        <p:spPr>
          <a:xfrm>
            <a:off x="1079500" y="5080000"/>
            <a:ext cx="6604000" cy="635000"/>
          </a:xfrm>
          <a:prstGeom prst="roundRect">
            <a:avLst/>
          </a:prstGeom>
          <a:solidFill>
            <a:srgbClr val="4B58A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600" b="1">
                <a:solidFill>
                  <a:srgbClr val="FFFFFF"/>
                </a:solidFill>
                <a:latin typeface="DM Sans"/>
              </a:rPr>
              <a:t>💬  Comment your score — I'll reply with the fix</a:t>
            </a:r>
          </a:p>
        </p:txBody>
      </p:sp>
      <p:sp>
        <p:nvSpPr>
          <p:cNvPr id="6" name="CuadroTexto 5">
            <a:extLst>
              <a:ext uri="{FF2B5EF4-FFF2-40B4-BE49-F238E27FC236}">
                <a16:creationId xmlns:a16="http://schemas.microsoft.com/office/drawing/2014/main" id="{D9FCA037-B729-0541-B08F-2F926D145535}"/>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08 / 08</a:t>
            </a:r>
          </a:p>
        </p:txBody>
      </p:sp>
    </p:spTree>
    <p:extLst>
      <p:ext uri="{BB962C8B-B14F-4D97-AF65-F5344CB8AC3E}">
        <p14:creationId xmlns:p14="http://schemas.microsoft.com/office/powerpoint/2010/main" val="30470269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364DCDF-7D90-5842-B16C-17921E07823D}"/>
              </a:ext>
            </a:extLst>
          </p:cNvPr>
          <p:cNvSpPr txBox="1"/>
          <p:nvPr/>
        </p:nvSpPr>
        <p:spPr>
          <a:xfrm>
            <a:off x="1016000" y="1270000"/>
            <a:ext cx="3810000" cy="508000"/>
          </a:xfrm>
          <a:prstGeom prst="rect">
            <a:avLst/>
          </a:prstGeom>
          <a:noFill/>
        </p:spPr>
        <p:txBody>
          <a:bodyPr vertOverflow="overflow" vert="horz" wrap="square" rtlCol="0" anchor="t">
            <a:spAutoFit/>
          </a:bodyPr>
          <a:lstStyle/>
          <a:p>
            <a:pPr algn="l"/>
            <a:r>
              <a:rPr lang="es-CO" sz="1400"/>
              <a:t>CAROUSEL 08</a:t>
            </a:r>
          </a:p>
        </p:txBody>
      </p:sp>
      <p:sp>
        <p:nvSpPr>
          <p:cNvPr id="3" name="Rectángulo 2">
            <a:extLst>
              <a:ext uri="{FF2B5EF4-FFF2-40B4-BE49-F238E27FC236}">
                <a16:creationId xmlns:a16="http://schemas.microsoft.com/office/drawing/2014/main" id="{2FE3BE04-78B5-8049-B656-E76B39BD7474}"/>
              </a:ext>
            </a:extLst>
          </p:cNvPr>
          <p:cNvSpPr/>
          <p:nvPr/>
        </p:nvSpPr>
        <p:spPr>
          <a:xfrm>
            <a:off x="1016000" y="1905000"/>
            <a:ext cx="1016000" cy="63500"/>
          </a:xfrm>
          <a:prstGeom prst="rect">
            <a:avLst/>
          </a:prstGeom>
          <a:solidFill>
            <a:srgbClr val="B56A3E"/>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4" name="CuadroTexto 3">
            <a:extLst>
              <a:ext uri="{FF2B5EF4-FFF2-40B4-BE49-F238E27FC236}">
                <a16:creationId xmlns:a16="http://schemas.microsoft.com/office/drawing/2014/main" id="{2695F2D5-4BC5-6D41-9F80-C869C16F6851}"/>
              </a:ext>
            </a:extLst>
          </p:cNvPr>
          <p:cNvSpPr txBox="1"/>
          <p:nvPr/>
        </p:nvSpPr>
        <p:spPr>
          <a:xfrm>
            <a:off x="1016000" y="2159000"/>
            <a:ext cx="7620000" cy="1524000"/>
          </a:xfrm>
          <a:prstGeom prst="rect">
            <a:avLst/>
          </a:prstGeom>
          <a:noFill/>
        </p:spPr>
        <p:txBody>
          <a:bodyPr vertOverflow="overflow" vert="horz" wrap="square" rtlCol="0" anchor="t">
            <a:spAutoFit/>
          </a:bodyPr>
          <a:lstStyle/>
          <a:p>
            <a:pPr algn="l"/>
            <a:r>
              <a:rPr lang="es-CO" sz="3600" b="1">
                <a:solidFill>
                  <a:srgbClr val="F3F6FA"/>
                </a:solidFill>
                <a:latin typeface="Inter"/>
              </a:rPr>
              <a:t>The AI Risk That's Specific
to Your Industry</a:t>
            </a:r>
          </a:p>
        </p:txBody>
      </p:sp>
      <p:sp>
        <p:nvSpPr>
          <p:cNvPr id="5" name="CuadroTexto 4">
            <a:extLst>
              <a:ext uri="{FF2B5EF4-FFF2-40B4-BE49-F238E27FC236}">
                <a16:creationId xmlns:a16="http://schemas.microsoft.com/office/drawing/2014/main" id="{04C73938-919A-D442-A718-C8F20D97CC08}"/>
              </a:ext>
            </a:extLst>
          </p:cNvPr>
          <p:cNvSpPr txBox="1"/>
          <p:nvPr/>
        </p:nvSpPr>
        <p:spPr>
          <a:xfrm>
            <a:off x="1016000" y="3937000"/>
            <a:ext cx="6350000" cy="381000"/>
          </a:xfrm>
          <a:prstGeom prst="rect">
            <a:avLst/>
          </a:prstGeom>
          <a:noFill/>
        </p:spPr>
        <p:txBody>
          <a:bodyPr vertOverflow="overflow" vert="horz" wrap="square" rtlCol="0" anchor="t">
            <a:spAutoFit/>
          </a:bodyPr>
          <a:lstStyle/>
          <a:p>
            <a:pPr algn="l"/>
            <a:r>
              <a:rPr lang="es-CO" sz="1400"/>
              <a:t>Day 15  •  8:00 AM EST  •  Niche Relevance  •  7 Slides</a:t>
            </a:r>
          </a:p>
        </p:txBody>
      </p:sp>
      <p:sp>
        <p:nvSpPr>
          <p:cNvPr id="6" name="Rectángulo redondeado 5">
            <a:extLst>
              <a:ext uri="{FF2B5EF4-FFF2-40B4-BE49-F238E27FC236}">
                <a16:creationId xmlns:a16="http://schemas.microsoft.com/office/drawing/2014/main" id="{0EBCA6B5-DB5D-7A47-9AFF-503EC3DF19BD}"/>
              </a:ext>
            </a:extLst>
          </p:cNvPr>
          <p:cNvSpPr/>
          <p:nvPr/>
        </p:nvSpPr>
        <p:spPr>
          <a:xfrm>
            <a:off x="1016000" y="4699000"/>
            <a:ext cx="2286000" cy="508000"/>
          </a:xfrm>
          <a:prstGeom prst="roundRect">
            <a:avLst/>
          </a:prstGeom>
          <a:solidFill>
            <a:srgbClr val="B56A3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400" b="1">
                <a:solidFill>
                  <a:srgbClr val="FFFFFF"/>
                </a:solidFill>
              </a:rPr>
              <a:t>Rust #B56A3E</a:t>
            </a:r>
          </a:p>
        </p:txBody>
      </p:sp>
      <p:sp>
        <p:nvSpPr>
          <p:cNvPr id="7" name="CuadroTexto 6">
            <a:extLst>
              <a:ext uri="{FF2B5EF4-FFF2-40B4-BE49-F238E27FC236}">
                <a16:creationId xmlns:a16="http://schemas.microsoft.com/office/drawing/2014/main" id="{0CCCFEF6-4D25-5B46-896F-9EA46A732CFE}"/>
              </a:ext>
            </a:extLst>
          </p:cNvPr>
          <p:cNvSpPr txBox="1"/>
          <p:nvPr/>
        </p:nvSpPr>
        <p:spPr>
          <a:xfrm>
            <a:off x="9144000" y="1524000"/>
            <a:ext cx="2540000" cy="3810000"/>
          </a:xfrm>
          <a:prstGeom prst="rect">
            <a:avLst/>
          </a:prstGeom>
          <a:noFill/>
        </p:spPr>
        <p:txBody>
          <a:bodyPr vertOverflow="overflow" vert="horz" wrap="square" rtlCol="0" anchor="t">
            <a:spAutoFit/>
          </a:bodyPr>
          <a:lstStyle/>
          <a:p>
            <a:pPr algn="l"/>
            <a:r>
              <a:rPr lang="es-CO" sz="12000" b="1">
                <a:solidFill>
                  <a:srgbClr val="B56A3E"/>
                </a:solidFill>
                <a:latin typeface="Inter"/>
              </a:rPr>
              <a:t>08</a:t>
            </a:r>
          </a:p>
        </p:txBody>
      </p:sp>
    </p:spTree>
    <p:extLst>
      <p:ext uri="{BB962C8B-B14F-4D97-AF65-F5344CB8AC3E}">
        <p14:creationId xmlns:p14="http://schemas.microsoft.com/office/powerpoint/2010/main" val="29676536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00EEF75D-415D-1C40-A675-5FD7C462A63F}"/>
              </a:ext>
            </a:extLst>
          </p:cNvPr>
          <p:cNvSpPr/>
          <p:nvPr/>
        </p:nvSpPr>
        <p:spPr>
          <a:xfrm>
            <a:off x="762000" y="1270000"/>
            <a:ext cx="63500" cy="3810000"/>
          </a:xfrm>
          <a:prstGeom prst="rect">
            <a:avLst/>
          </a:prstGeom>
          <a:solidFill>
            <a:srgbClr val="B56A3E"/>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3A20E144-F5F9-A846-860E-7649D52D2065}"/>
              </a:ext>
            </a:extLst>
          </p:cNvPr>
          <p:cNvSpPr txBox="1"/>
          <p:nvPr/>
        </p:nvSpPr>
        <p:spPr>
          <a:xfrm>
            <a:off x="1079500" y="1270000"/>
            <a:ext cx="8255000" cy="1397000"/>
          </a:xfrm>
          <a:prstGeom prst="rect">
            <a:avLst/>
          </a:prstGeom>
          <a:noFill/>
        </p:spPr>
        <p:txBody>
          <a:bodyPr vertOverflow="overflow" vert="horz" wrap="square" rtlCol="0" anchor="t">
            <a:spAutoFit/>
          </a:bodyPr>
          <a:lstStyle/>
          <a:p>
            <a:pPr algn="l"/>
            <a:r>
              <a:rPr lang="es-CO" sz="3200" b="1">
                <a:solidFill>
                  <a:srgbClr val="F3F6FA"/>
                </a:solidFill>
                <a:latin typeface="Inter"/>
              </a:rPr>
              <a:t>The AI risk that hits hardest
depends on your industry.</a:t>
            </a:r>
          </a:p>
        </p:txBody>
      </p:sp>
      <p:sp>
        <p:nvSpPr>
          <p:cNvPr id="4" name="CuadroTexto 3">
            <a:extLst>
              <a:ext uri="{FF2B5EF4-FFF2-40B4-BE49-F238E27FC236}">
                <a16:creationId xmlns:a16="http://schemas.microsoft.com/office/drawing/2014/main" id="{06F8B583-2BB4-9A42-9A73-692347114D51}"/>
              </a:ext>
            </a:extLst>
          </p:cNvPr>
          <p:cNvSpPr txBox="1"/>
          <p:nvPr/>
        </p:nvSpPr>
        <p:spPr>
          <a:xfrm>
            <a:off x="1079500" y="3048000"/>
            <a:ext cx="7620000" cy="762000"/>
          </a:xfrm>
          <a:prstGeom prst="rect">
            <a:avLst/>
          </a:prstGeom>
          <a:noFill/>
        </p:spPr>
        <p:txBody>
          <a:bodyPr vertOverflow="overflow" vert="horz" wrap="square" rtlCol="0" anchor="t">
            <a:spAutoFit/>
          </a:bodyPr>
          <a:lstStyle/>
          <a:p>
            <a:pPr algn="l"/>
            <a:r>
              <a:rPr lang="es-CO" sz="2000"/>
              <a:t>5 industries. 5 different risks.
Same root cause.</a:t>
            </a:r>
          </a:p>
        </p:txBody>
      </p:sp>
      <p:sp>
        <p:nvSpPr>
          <p:cNvPr id="5" name="CuadroTexto 4">
            <a:extLst>
              <a:ext uri="{FF2B5EF4-FFF2-40B4-BE49-F238E27FC236}">
                <a16:creationId xmlns:a16="http://schemas.microsoft.com/office/drawing/2014/main" id="{E01AC593-4670-F84E-A21A-4B97E74EA11D}"/>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01 / 07</a:t>
            </a:r>
          </a:p>
        </p:txBody>
      </p:sp>
    </p:spTree>
    <p:extLst>
      <p:ext uri="{BB962C8B-B14F-4D97-AF65-F5344CB8AC3E}">
        <p14:creationId xmlns:p14="http://schemas.microsoft.com/office/powerpoint/2010/main" val="26865373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77D4218-930C-C04D-A1E5-58A3E2992613}"/>
              </a:ext>
            </a:extLst>
          </p:cNvPr>
          <p:cNvSpPr/>
          <p:nvPr/>
        </p:nvSpPr>
        <p:spPr>
          <a:xfrm>
            <a:off x="762000" y="762000"/>
            <a:ext cx="63500" cy="762000"/>
          </a:xfrm>
          <a:prstGeom prst="rect">
            <a:avLst/>
          </a:prstGeom>
          <a:solidFill>
            <a:srgbClr val="B56A3E"/>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6D70AA25-2695-C644-9BB6-3B900987FBF9}"/>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B56A3E"/>
                </a:solidFill>
                <a:latin typeface="Inter"/>
              </a:rPr>
              <a:t>Law Firms</a:t>
            </a:r>
          </a:p>
        </p:txBody>
      </p:sp>
      <p:sp>
        <p:nvSpPr>
          <p:cNvPr id="4" name="CuadroTexto 3">
            <a:extLst>
              <a:ext uri="{FF2B5EF4-FFF2-40B4-BE49-F238E27FC236}">
                <a16:creationId xmlns:a16="http://schemas.microsoft.com/office/drawing/2014/main" id="{84DD135D-709E-F846-B9D7-AE5721420EE2}"/>
              </a:ext>
            </a:extLst>
          </p:cNvPr>
          <p:cNvSpPr txBox="1"/>
          <p:nvPr/>
        </p:nvSpPr>
        <p:spPr>
          <a:xfrm>
            <a:off x="1079500" y="1397000"/>
            <a:ext cx="7620000" cy="381000"/>
          </a:xfrm>
          <a:prstGeom prst="rect">
            <a:avLst/>
          </a:prstGeom>
          <a:noFill/>
        </p:spPr>
        <p:txBody>
          <a:bodyPr vertOverflow="overflow" vert="horz" wrap="square" rtlCol="0" anchor="t">
            <a:spAutoFit/>
          </a:bodyPr>
          <a:lstStyle/>
          <a:p>
            <a:pPr algn="l"/>
            <a:r>
              <a:rPr lang="es-CO" sz="1700" b="1">
                <a:solidFill>
                  <a:srgbClr val="1A2332"/>
                </a:solidFill>
                <a:latin typeface="DM Sans"/>
              </a:rPr>
              <a:t>The risk: Privilege exposure.</a:t>
            </a:r>
          </a:p>
        </p:txBody>
      </p:sp>
      <p:sp>
        <p:nvSpPr>
          <p:cNvPr id="5" name="CuadroTexto 4">
            <a:extLst>
              <a:ext uri="{FF2B5EF4-FFF2-40B4-BE49-F238E27FC236}">
                <a16:creationId xmlns:a16="http://schemas.microsoft.com/office/drawing/2014/main" id="{FF7B65FE-5D8D-3245-A3F4-DBE55609371B}"/>
              </a:ext>
            </a:extLst>
          </p:cNvPr>
          <p:cNvSpPr txBox="1"/>
          <p:nvPr/>
        </p:nvSpPr>
        <p:spPr>
          <a:xfrm>
            <a:off x="1079500" y="1968500"/>
            <a:ext cx="8255000" cy="2413000"/>
          </a:xfrm>
          <a:prstGeom prst="rect">
            <a:avLst/>
          </a:prstGeom>
          <a:noFill/>
        </p:spPr>
        <p:txBody>
          <a:bodyPr vertOverflow="overflow" vert="horz" wrap="square" rtlCol="0" anchor="t">
            <a:spAutoFit/>
          </a:bodyPr>
          <a:lstStyle/>
          <a:p>
            <a:pPr algn="l"/>
            <a:r>
              <a:rPr lang="es-CO" sz="1700">
                <a:solidFill>
                  <a:srgbClr val="1A2332"/>
                </a:solidFill>
                <a:latin typeface="DM Sans"/>
              </a:rPr>
              <a:t>Attorneys input client matter details
into AI tools using personal accounts.
Third-party AI vendors process that data
outside attorney-client privilege scope.</a:t>
            </a:r>
          </a:p>
        </p:txBody>
      </p:sp>
      <p:sp>
        <p:nvSpPr>
          <p:cNvPr id="6" name="CuadroTexto 5">
            <a:extLst>
              <a:ext uri="{FF2B5EF4-FFF2-40B4-BE49-F238E27FC236}">
                <a16:creationId xmlns:a16="http://schemas.microsoft.com/office/drawing/2014/main" id="{F4948E43-7ED9-974C-B4E7-80C29C3F7390}"/>
              </a:ext>
            </a:extLst>
          </p:cNvPr>
          <p:cNvSpPr txBox="1"/>
          <p:nvPr/>
        </p:nvSpPr>
        <p:spPr>
          <a:xfrm>
            <a:off x="1079500" y="4699000"/>
            <a:ext cx="7620000" cy="762000"/>
          </a:xfrm>
          <a:prstGeom prst="rect">
            <a:avLst/>
          </a:prstGeom>
          <a:noFill/>
        </p:spPr>
        <p:txBody>
          <a:bodyPr vertOverflow="overflow" vert="horz" wrap="square" rtlCol="0" anchor="t">
            <a:spAutoFit/>
          </a:bodyPr>
          <a:lstStyle/>
          <a:p>
            <a:pPr algn="l"/>
            <a:r>
              <a:rPr lang="es-CO" sz="1700" b="1">
                <a:solidFill>
                  <a:srgbClr val="B56A3E"/>
                </a:solidFill>
                <a:latin typeface="DM Sans"/>
              </a:rPr>
              <a:t>The fix: Firm-managed AI accounts only
+ defined matter data rules.</a:t>
            </a:r>
          </a:p>
        </p:txBody>
      </p:sp>
      <p:sp>
        <p:nvSpPr>
          <p:cNvPr id="7" name="CuadroTexto 6">
            <a:extLst>
              <a:ext uri="{FF2B5EF4-FFF2-40B4-BE49-F238E27FC236}">
                <a16:creationId xmlns:a16="http://schemas.microsoft.com/office/drawing/2014/main" id="{98A87C7E-2AA0-5E43-93B3-C434D813E30E}"/>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02 / 07</a:t>
            </a:r>
          </a:p>
        </p:txBody>
      </p:sp>
    </p:spTree>
    <p:extLst>
      <p:ext uri="{BB962C8B-B14F-4D97-AF65-F5344CB8AC3E}">
        <p14:creationId xmlns:p14="http://schemas.microsoft.com/office/powerpoint/2010/main" val="15322172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757EE0AF-69D0-3F45-97CA-E0E8E179367A}"/>
              </a:ext>
            </a:extLst>
          </p:cNvPr>
          <p:cNvSpPr/>
          <p:nvPr/>
        </p:nvSpPr>
        <p:spPr>
          <a:xfrm>
            <a:off x="762000" y="762000"/>
            <a:ext cx="63500" cy="762000"/>
          </a:xfrm>
          <a:prstGeom prst="rect">
            <a:avLst/>
          </a:prstGeom>
          <a:solidFill>
            <a:srgbClr val="B56A3E"/>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E0B202A4-A715-E340-A0D1-F52D2C8CC20B}"/>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B56A3E"/>
                </a:solidFill>
                <a:latin typeface="Inter"/>
              </a:rPr>
              <a:t>Marketing &amp; Creative Agencies</a:t>
            </a:r>
          </a:p>
        </p:txBody>
      </p:sp>
      <p:sp>
        <p:nvSpPr>
          <p:cNvPr id="4" name="CuadroTexto 3">
            <a:extLst>
              <a:ext uri="{FF2B5EF4-FFF2-40B4-BE49-F238E27FC236}">
                <a16:creationId xmlns:a16="http://schemas.microsoft.com/office/drawing/2014/main" id="{57C4FFF9-E3D6-C343-844C-A54E14F93663}"/>
              </a:ext>
            </a:extLst>
          </p:cNvPr>
          <p:cNvSpPr txBox="1"/>
          <p:nvPr/>
        </p:nvSpPr>
        <p:spPr>
          <a:xfrm>
            <a:off x="1079500" y="1397000"/>
            <a:ext cx="7620000" cy="381000"/>
          </a:xfrm>
          <a:prstGeom prst="rect">
            <a:avLst/>
          </a:prstGeom>
          <a:noFill/>
        </p:spPr>
        <p:txBody>
          <a:bodyPr vertOverflow="overflow" vert="horz" wrap="square" rtlCol="0" anchor="t">
            <a:spAutoFit/>
          </a:bodyPr>
          <a:lstStyle/>
          <a:p>
            <a:pPr algn="l"/>
            <a:r>
              <a:rPr lang="es-CO" sz="1700" b="1">
                <a:solidFill>
                  <a:srgbClr val="1A2332"/>
                </a:solidFill>
                <a:latin typeface="DM Sans"/>
              </a:rPr>
              <a:t>The risk: Contract breach.</a:t>
            </a:r>
          </a:p>
        </p:txBody>
      </p:sp>
      <p:sp>
        <p:nvSpPr>
          <p:cNvPr id="5" name="CuadroTexto 4">
            <a:extLst>
              <a:ext uri="{FF2B5EF4-FFF2-40B4-BE49-F238E27FC236}">
                <a16:creationId xmlns:a16="http://schemas.microsoft.com/office/drawing/2014/main" id="{E8FAAE12-1871-E845-B99A-530111FEA88C}"/>
              </a:ext>
            </a:extLst>
          </p:cNvPr>
          <p:cNvSpPr txBox="1"/>
          <p:nvPr/>
        </p:nvSpPr>
        <p:spPr>
          <a:xfrm>
            <a:off x="1079500" y="1968500"/>
            <a:ext cx="8255000" cy="2413000"/>
          </a:xfrm>
          <a:prstGeom prst="rect">
            <a:avLst/>
          </a:prstGeom>
          <a:noFill/>
        </p:spPr>
        <p:txBody>
          <a:bodyPr vertOverflow="overflow" vert="horz" wrap="square" rtlCol="0" anchor="t">
            <a:spAutoFit/>
          </a:bodyPr>
          <a:lstStyle/>
          <a:p>
            <a:pPr algn="l"/>
            <a:r>
              <a:rPr lang="es-CO" sz="1700">
                <a:solidFill>
                  <a:srgbClr val="1A2332"/>
                </a:solidFill>
                <a:latin typeface="DM Sans"/>
              </a:rPr>
              <a:t>Client MSAs with 'original work' clauses
don't reflect AI-assisted production.
Most were signed before 2022.
Most teams haven't reviewed them since.</a:t>
            </a:r>
          </a:p>
        </p:txBody>
      </p:sp>
      <p:sp>
        <p:nvSpPr>
          <p:cNvPr id="6" name="CuadroTexto 5">
            <a:extLst>
              <a:ext uri="{FF2B5EF4-FFF2-40B4-BE49-F238E27FC236}">
                <a16:creationId xmlns:a16="http://schemas.microsoft.com/office/drawing/2014/main" id="{849C4EA6-29F7-5040-9B60-F20E5F489B72}"/>
              </a:ext>
            </a:extLst>
          </p:cNvPr>
          <p:cNvSpPr txBox="1"/>
          <p:nvPr/>
        </p:nvSpPr>
        <p:spPr>
          <a:xfrm>
            <a:off x="1079500" y="4699000"/>
            <a:ext cx="7620000" cy="762000"/>
          </a:xfrm>
          <a:prstGeom prst="rect">
            <a:avLst/>
          </a:prstGeom>
          <a:noFill/>
        </p:spPr>
        <p:txBody>
          <a:bodyPr vertOverflow="overflow" vert="horz" wrap="square" rtlCol="0" anchor="t">
            <a:spAutoFit/>
          </a:bodyPr>
          <a:lstStyle/>
          <a:p>
            <a:pPr algn="l"/>
            <a:r>
              <a:rPr lang="es-CO" sz="1700" b="1">
                <a:solidFill>
                  <a:srgbClr val="B56A3E"/>
                </a:solidFill>
                <a:latin typeface="DM Sans"/>
              </a:rPr>
              <a:t>The fix: Contract scan + AI disclosure
addendum for all new agreements.</a:t>
            </a:r>
          </a:p>
        </p:txBody>
      </p:sp>
      <p:sp>
        <p:nvSpPr>
          <p:cNvPr id="7" name="CuadroTexto 6">
            <a:extLst>
              <a:ext uri="{FF2B5EF4-FFF2-40B4-BE49-F238E27FC236}">
                <a16:creationId xmlns:a16="http://schemas.microsoft.com/office/drawing/2014/main" id="{8F88671C-1B16-864D-B6B3-CECFEA9AA6F6}"/>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03 / 07</a:t>
            </a:r>
          </a:p>
        </p:txBody>
      </p:sp>
    </p:spTree>
    <p:extLst>
      <p:ext uri="{BB962C8B-B14F-4D97-AF65-F5344CB8AC3E}">
        <p14:creationId xmlns:p14="http://schemas.microsoft.com/office/powerpoint/2010/main" val="13407523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B3D3E7E-841A-CB47-AA11-8271F91DEF74}"/>
              </a:ext>
            </a:extLst>
          </p:cNvPr>
          <p:cNvSpPr/>
          <p:nvPr/>
        </p:nvSpPr>
        <p:spPr>
          <a:xfrm>
            <a:off x="762000" y="762000"/>
            <a:ext cx="63500" cy="762000"/>
          </a:xfrm>
          <a:prstGeom prst="rect">
            <a:avLst/>
          </a:prstGeom>
          <a:solidFill>
            <a:srgbClr val="B56A3E"/>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CE5B6FF7-DEEA-5747-A56E-F66CD5605E1E}"/>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B56A3E"/>
                </a:solidFill>
                <a:latin typeface="Inter"/>
              </a:rPr>
              <a:t>Accounting Practices</a:t>
            </a:r>
          </a:p>
        </p:txBody>
      </p:sp>
      <p:sp>
        <p:nvSpPr>
          <p:cNvPr id="4" name="CuadroTexto 3">
            <a:extLst>
              <a:ext uri="{FF2B5EF4-FFF2-40B4-BE49-F238E27FC236}">
                <a16:creationId xmlns:a16="http://schemas.microsoft.com/office/drawing/2014/main" id="{EB0A794F-5DA2-0347-B8B5-64E4F29DE7C6}"/>
              </a:ext>
            </a:extLst>
          </p:cNvPr>
          <p:cNvSpPr txBox="1"/>
          <p:nvPr/>
        </p:nvSpPr>
        <p:spPr>
          <a:xfrm>
            <a:off x="1079500" y="1397000"/>
            <a:ext cx="7620000" cy="381000"/>
          </a:xfrm>
          <a:prstGeom prst="rect">
            <a:avLst/>
          </a:prstGeom>
          <a:noFill/>
        </p:spPr>
        <p:txBody>
          <a:bodyPr vertOverflow="overflow" vert="horz" wrap="square" rtlCol="0" anchor="t">
            <a:spAutoFit/>
          </a:bodyPr>
          <a:lstStyle/>
          <a:p>
            <a:pPr algn="l"/>
            <a:r>
              <a:rPr lang="es-CO" sz="1700" b="1">
                <a:solidFill>
                  <a:srgbClr val="1A2332"/>
                </a:solidFill>
                <a:latin typeface="DM Sans"/>
              </a:rPr>
              <a:t>The risk: Client data in prompts.</a:t>
            </a:r>
          </a:p>
        </p:txBody>
      </p:sp>
      <p:sp>
        <p:nvSpPr>
          <p:cNvPr id="5" name="CuadroTexto 4">
            <a:extLst>
              <a:ext uri="{FF2B5EF4-FFF2-40B4-BE49-F238E27FC236}">
                <a16:creationId xmlns:a16="http://schemas.microsoft.com/office/drawing/2014/main" id="{0CEE349D-4D07-1448-992D-DCAB91487204}"/>
              </a:ext>
            </a:extLst>
          </p:cNvPr>
          <p:cNvSpPr txBox="1"/>
          <p:nvPr/>
        </p:nvSpPr>
        <p:spPr>
          <a:xfrm>
            <a:off x="1079500" y="1968500"/>
            <a:ext cx="8255000" cy="2413000"/>
          </a:xfrm>
          <a:prstGeom prst="rect">
            <a:avLst/>
          </a:prstGeom>
          <a:noFill/>
        </p:spPr>
        <p:txBody>
          <a:bodyPr vertOverflow="overflow" vert="horz" wrap="square" rtlCol="0" anchor="t">
            <a:spAutoFit/>
          </a:bodyPr>
          <a:lstStyle/>
          <a:p>
            <a:pPr algn="l"/>
            <a:r>
              <a:rPr lang="es-CO" sz="1700">
                <a:solidFill>
                  <a:srgbClr val="1A2332"/>
                </a:solidFill>
                <a:latin typeface="DM Sans"/>
              </a:rPr>
              <a:t>Tax preparation assisted by ChatGPT
with client financial data in the prompt.
No internal rule on what's permitted.
No disclosure to clients.</a:t>
            </a:r>
          </a:p>
        </p:txBody>
      </p:sp>
      <p:sp>
        <p:nvSpPr>
          <p:cNvPr id="6" name="CuadroTexto 5">
            <a:extLst>
              <a:ext uri="{FF2B5EF4-FFF2-40B4-BE49-F238E27FC236}">
                <a16:creationId xmlns:a16="http://schemas.microsoft.com/office/drawing/2014/main" id="{1EC3A5AF-11F3-9542-8EB2-7535B8934568}"/>
              </a:ext>
            </a:extLst>
          </p:cNvPr>
          <p:cNvSpPr txBox="1"/>
          <p:nvPr/>
        </p:nvSpPr>
        <p:spPr>
          <a:xfrm>
            <a:off x="1079500" y="4699000"/>
            <a:ext cx="7620000" cy="762000"/>
          </a:xfrm>
          <a:prstGeom prst="rect">
            <a:avLst/>
          </a:prstGeom>
          <a:noFill/>
        </p:spPr>
        <p:txBody>
          <a:bodyPr vertOverflow="overflow" vert="horz" wrap="square" rtlCol="0" anchor="t">
            <a:spAutoFit/>
          </a:bodyPr>
          <a:lstStyle/>
          <a:p>
            <a:pPr algn="l"/>
            <a:r>
              <a:rPr lang="es-CO" sz="1700" b="1">
                <a:solidFill>
                  <a:srgbClr val="B56A3E"/>
                </a:solidFill>
                <a:latin typeface="DM Sans"/>
              </a:rPr>
              <a:t>The fix: Restricted data categories
+ engagement letter disclosure.</a:t>
            </a:r>
          </a:p>
        </p:txBody>
      </p:sp>
      <p:sp>
        <p:nvSpPr>
          <p:cNvPr id="7" name="CuadroTexto 6">
            <a:extLst>
              <a:ext uri="{FF2B5EF4-FFF2-40B4-BE49-F238E27FC236}">
                <a16:creationId xmlns:a16="http://schemas.microsoft.com/office/drawing/2014/main" id="{501CB4D9-D4C7-B449-9016-A8DDB33732E4}"/>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04 / 07</a:t>
            </a:r>
          </a:p>
        </p:txBody>
      </p:sp>
    </p:spTree>
    <p:extLst>
      <p:ext uri="{BB962C8B-B14F-4D97-AF65-F5344CB8AC3E}">
        <p14:creationId xmlns:p14="http://schemas.microsoft.com/office/powerpoint/2010/main" val="14028951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6C330F9B-13F9-3344-B48B-11594483E056}"/>
              </a:ext>
            </a:extLst>
          </p:cNvPr>
          <p:cNvSpPr/>
          <p:nvPr/>
        </p:nvSpPr>
        <p:spPr>
          <a:xfrm>
            <a:off x="762000" y="762000"/>
            <a:ext cx="63500" cy="762000"/>
          </a:xfrm>
          <a:prstGeom prst="rect">
            <a:avLst/>
          </a:prstGeom>
          <a:solidFill>
            <a:srgbClr val="B56A3E"/>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69FD9C26-AC42-E543-BADE-E72452141075}"/>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B56A3E"/>
                </a:solidFill>
                <a:latin typeface="Inter"/>
              </a:rPr>
              <a:t>Real Estate Brokerages</a:t>
            </a:r>
          </a:p>
        </p:txBody>
      </p:sp>
      <p:sp>
        <p:nvSpPr>
          <p:cNvPr id="4" name="CuadroTexto 3">
            <a:extLst>
              <a:ext uri="{FF2B5EF4-FFF2-40B4-BE49-F238E27FC236}">
                <a16:creationId xmlns:a16="http://schemas.microsoft.com/office/drawing/2014/main" id="{A7C9A2F5-4E10-B347-AA05-B6531959BA8C}"/>
              </a:ext>
            </a:extLst>
          </p:cNvPr>
          <p:cNvSpPr txBox="1"/>
          <p:nvPr/>
        </p:nvSpPr>
        <p:spPr>
          <a:xfrm>
            <a:off x="1079500" y="1397000"/>
            <a:ext cx="7620000" cy="381000"/>
          </a:xfrm>
          <a:prstGeom prst="rect">
            <a:avLst/>
          </a:prstGeom>
          <a:noFill/>
        </p:spPr>
        <p:txBody>
          <a:bodyPr vertOverflow="overflow" vert="horz" wrap="square" rtlCol="0" anchor="t">
            <a:spAutoFit/>
          </a:bodyPr>
          <a:lstStyle/>
          <a:p>
            <a:pPr algn="l"/>
            <a:r>
              <a:rPr lang="es-CO" sz="1700" b="1">
                <a:solidFill>
                  <a:srgbClr val="1A2332"/>
                </a:solidFill>
                <a:latin typeface="DM Sans"/>
              </a:rPr>
              <a:t>The risk: Fair Housing language.</a:t>
            </a:r>
          </a:p>
        </p:txBody>
      </p:sp>
      <p:sp>
        <p:nvSpPr>
          <p:cNvPr id="5" name="CuadroTexto 4">
            <a:extLst>
              <a:ext uri="{FF2B5EF4-FFF2-40B4-BE49-F238E27FC236}">
                <a16:creationId xmlns:a16="http://schemas.microsoft.com/office/drawing/2014/main" id="{6072F16A-CAB3-594E-BA9D-9D2865341F7D}"/>
              </a:ext>
            </a:extLst>
          </p:cNvPr>
          <p:cNvSpPr txBox="1"/>
          <p:nvPr/>
        </p:nvSpPr>
        <p:spPr>
          <a:xfrm>
            <a:off x="1079500" y="1968500"/>
            <a:ext cx="8255000" cy="2413000"/>
          </a:xfrm>
          <a:prstGeom prst="rect">
            <a:avLst/>
          </a:prstGeom>
          <a:noFill/>
        </p:spPr>
        <p:txBody>
          <a:bodyPr vertOverflow="overflow" vert="horz" wrap="square" rtlCol="0" anchor="t">
            <a:spAutoFit/>
          </a:bodyPr>
          <a:lstStyle/>
          <a:p>
            <a:pPr algn="l"/>
            <a:r>
              <a:rPr lang="es-CO" sz="1700">
                <a:solidFill>
                  <a:srgbClr val="1A2332"/>
                </a:solidFill>
                <a:latin typeface="DM Sans"/>
              </a:rPr>
              <a:t>AI-generated listing descriptions
can include neighborhood characterizations
that inadvertently violate Fair Housing rules.
No review standard exists.
Listings go live without a check.</a:t>
            </a:r>
          </a:p>
        </p:txBody>
      </p:sp>
      <p:sp>
        <p:nvSpPr>
          <p:cNvPr id="6" name="CuadroTexto 5">
            <a:extLst>
              <a:ext uri="{FF2B5EF4-FFF2-40B4-BE49-F238E27FC236}">
                <a16:creationId xmlns:a16="http://schemas.microsoft.com/office/drawing/2014/main" id="{25BA14EC-9566-DE46-8641-1C35B8FE5EE9}"/>
              </a:ext>
            </a:extLst>
          </p:cNvPr>
          <p:cNvSpPr txBox="1"/>
          <p:nvPr/>
        </p:nvSpPr>
        <p:spPr>
          <a:xfrm>
            <a:off x="1079500" y="4699000"/>
            <a:ext cx="7620000" cy="762000"/>
          </a:xfrm>
          <a:prstGeom prst="rect">
            <a:avLst/>
          </a:prstGeom>
          <a:noFill/>
        </p:spPr>
        <p:txBody>
          <a:bodyPr vertOverflow="overflow" vert="horz" wrap="square" rtlCol="0" anchor="t">
            <a:spAutoFit/>
          </a:bodyPr>
          <a:lstStyle/>
          <a:p>
            <a:pPr algn="l"/>
            <a:r>
              <a:rPr lang="es-CO" sz="1700" b="1">
                <a:solidFill>
                  <a:srgbClr val="B56A3E"/>
                </a:solidFill>
                <a:latin typeface="DM Sans"/>
              </a:rPr>
              <a:t>The fix: FHA checklist + mandatory
human review on all AI-generated listings.</a:t>
            </a:r>
          </a:p>
        </p:txBody>
      </p:sp>
      <p:sp>
        <p:nvSpPr>
          <p:cNvPr id="7" name="CuadroTexto 6">
            <a:extLst>
              <a:ext uri="{FF2B5EF4-FFF2-40B4-BE49-F238E27FC236}">
                <a16:creationId xmlns:a16="http://schemas.microsoft.com/office/drawing/2014/main" id="{7DF79B64-186E-174A-B64A-D332CD01293A}"/>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05 / 07</a:t>
            </a:r>
          </a:p>
        </p:txBody>
      </p:sp>
    </p:spTree>
    <p:extLst>
      <p:ext uri="{BB962C8B-B14F-4D97-AF65-F5344CB8AC3E}">
        <p14:creationId xmlns:p14="http://schemas.microsoft.com/office/powerpoint/2010/main" val="39629835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3F5601F-45FF-014D-AAB0-60B210607B99}"/>
              </a:ext>
            </a:extLst>
          </p:cNvPr>
          <p:cNvSpPr/>
          <p:nvPr/>
        </p:nvSpPr>
        <p:spPr>
          <a:xfrm>
            <a:off x="762000" y="762000"/>
            <a:ext cx="63500" cy="762000"/>
          </a:xfrm>
          <a:prstGeom prst="rect">
            <a:avLst/>
          </a:prstGeom>
          <a:solidFill>
            <a:srgbClr val="B56A3E"/>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B0C82D02-BFB6-BE45-A22E-211D4E0CB417}"/>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B56A3E"/>
                </a:solidFill>
                <a:latin typeface="Inter"/>
              </a:rPr>
              <a:t>Consulting Firms</a:t>
            </a:r>
          </a:p>
        </p:txBody>
      </p:sp>
      <p:sp>
        <p:nvSpPr>
          <p:cNvPr id="4" name="CuadroTexto 3">
            <a:extLst>
              <a:ext uri="{FF2B5EF4-FFF2-40B4-BE49-F238E27FC236}">
                <a16:creationId xmlns:a16="http://schemas.microsoft.com/office/drawing/2014/main" id="{1636B8E4-A58F-8144-9F8E-25F133D31CCB}"/>
              </a:ext>
            </a:extLst>
          </p:cNvPr>
          <p:cNvSpPr txBox="1"/>
          <p:nvPr/>
        </p:nvSpPr>
        <p:spPr>
          <a:xfrm>
            <a:off x="1079500" y="1397000"/>
            <a:ext cx="7620000" cy="381000"/>
          </a:xfrm>
          <a:prstGeom prst="rect">
            <a:avLst/>
          </a:prstGeom>
          <a:noFill/>
        </p:spPr>
        <p:txBody>
          <a:bodyPr vertOverflow="overflow" vert="horz" wrap="square" rtlCol="0" anchor="t">
            <a:spAutoFit/>
          </a:bodyPr>
          <a:lstStyle/>
          <a:p>
            <a:pPr algn="l"/>
            <a:r>
              <a:rPr lang="es-CO" sz="1700" b="1">
                <a:solidFill>
                  <a:srgbClr val="1A2332"/>
                </a:solidFill>
                <a:latin typeface="DM Sans"/>
              </a:rPr>
              <a:t>The risk: Due diligence failure.</a:t>
            </a:r>
          </a:p>
        </p:txBody>
      </p:sp>
      <p:sp>
        <p:nvSpPr>
          <p:cNvPr id="5" name="CuadroTexto 4">
            <a:extLst>
              <a:ext uri="{FF2B5EF4-FFF2-40B4-BE49-F238E27FC236}">
                <a16:creationId xmlns:a16="http://schemas.microsoft.com/office/drawing/2014/main" id="{DF8287D1-BBC8-A041-B4FE-23A938AAB9DB}"/>
              </a:ext>
            </a:extLst>
          </p:cNvPr>
          <p:cNvSpPr txBox="1"/>
          <p:nvPr/>
        </p:nvSpPr>
        <p:spPr>
          <a:xfrm>
            <a:off x="1079500" y="1968500"/>
            <a:ext cx="8255000" cy="2413000"/>
          </a:xfrm>
          <a:prstGeom prst="rect">
            <a:avLst/>
          </a:prstGeom>
          <a:noFill/>
        </p:spPr>
        <p:txBody>
          <a:bodyPr vertOverflow="overflow" vert="horz" wrap="square" rtlCol="0" anchor="t">
            <a:spAutoFit/>
          </a:bodyPr>
          <a:lstStyle/>
          <a:p>
            <a:pPr algn="l"/>
            <a:r>
              <a:rPr lang="es-CO" sz="1700">
                <a:solidFill>
                  <a:srgbClr val="1A2332"/>
                </a:solidFill>
                <a:latin typeface="DM Sans"/>
              </a:rPr>
              <a:t>Enterprise clients ask about AI governance
as part of vendor qualification.
No policy = no answer = stalled deal.</a:t>
            </a:r>
          </a:p>
        </p:txBody>
      </p:sp>
      <p:sp>
        <p:nvSpPr>
          <p:cNvPr id="6" name="CuadroTexto 5">
            <a:extLst>
              <a:ext uri="{FF2B5EF4-FFF2-40B4-BE49-F238E27FC236}">
                <a16:creationId xmlns:a16="http://schemas.microsoft.com/office/drawing/2014/main" id="{86329B14-70E4-994D-8D82-EC08EC99F385}"/>
              </a:ext>
            </a:extLst>
          </p:cNvPr>
          <p:cNvSpPr txBox="1"/>
          <p:nvPr/>
        </p:nvSpPr>
        <p:spPr>
          <a:xfrm>
            <a:off x="1079500" y="4699000"/>
            <a:ext cx="7620000" cy="762000"/>
          </a:xfrm>
          <a:prstGeom prst="rect">
            <a:avLst/>
          </a:prstGeom>
          <a:noFill/>
        </p:spPr>
        <p:txBody>
          <a:bodyPr vertOverflow="overflow" vert="horz" wrap="square" rtlCol="0" anchor="t">
            <a:spAutoFit/>
          </a:bodyPr>
          <a:lstStyle/>
          <a:p>
            <a:pPr algn="l"/>
            <a:r>
              <a:rPr lang="es-CO" sz="1700" b="1">
                <a:solidFill>
                  <a:srgbClr val="B56A3E"/>
                </a:solidFill>
                <a:latin typeface="DM Sans"/>
              </a:rPr>
              <a:t>The fix: A 1-page AI governance summary
ready to share in any sales conversation.</a:t>
            </a:r>
          </a:p>
        </p:txBody>
      </p:sp>
      <p:sp>
        <p:nvSpPr>
          <p:cNvPr id="7" name="CuadroTexto 6">
            <a:extLst>
              <a:ext uri="{FF2B5EF4-FFF2-40B4-BE49-F238E27FC236}">
                <a16:creationId xmlns:a16="http://schemas.microsoft.com/office/drawing/2014/main" id="{C446F442-2E14-7B49-AB4E-ADD3C1C8BC61}"/>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06 / 07</a:t>
            </a:r>
          </a:p>
        </p:txBody>
      </p:sp>
    </p:spTree>
    <p:extLst>
      <p:ext uri="{BB962C8B-B14F-4D97-AF65-F5344CB8AC3E}">
        <p14:creationId xmlns:p14="http://schemas.microsoft.com/office/powerpoint/2010/main" val="18835130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076A329-736B-204F-AAE8-216D404FC5BE}"/>
              </a:ext>
            </a:extLst>
          </p:cNvPr>
          <p:cNvSpPr/>
          <p:nvPr/>
        </p:nvSpPr>
        <p:spPr>
          <a:xfrm>
            <a:off x="0" y="0"/>
            <a:ext cx="12192000" cy="76200"/>
          </a:xfrm>
          <a:prstGeom prst="rect">
            <a:avLst/>
          </a:prstGeom>
          <a:solidFill>
            <a:srgbClr val="B56A3E"/>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20CF652B-E31A-3040-8976-8615030185A4}"/>
              </a:ext>
            </a:extLst>
          </p:cNvPr>
          <p:cNvSpPr txBox="1"/>
          <p:nvPr/>
        </p:nvSpPr>
        <p:spPr>
          <a:xfrm>
            <a:off x="1079500" y="1016000"/>
            <a:ext cx="7620000" cy="508000"/>
          </a:xfrm>
          <a:prstGeom prst="rect">
            <a:avLst/>
          </a:prstGeom>
          <a:noFill/>
        </p:spPr>
        <p:txBody>
          <a:bodyPr vertOverflow="overflow" vert="horz" wrap="square" rtlCol="0" anchor="t">
            <a:spAutoFit/>
          </a:bodyPr>
          <a:lstStyle/>
          <a:p>
            <a:pPr algn="l"/>
            <a:r>
              <a:rPr lang="es-CO" sz="2600" b="1">
                <a:solidFill>
                  <a:srgbClr val="F3F6FA"/>
                </a:solidFill>
                <a:latin typeface="Inter"/>
              </a:rPr>
              <a:t>Which industry are you in?</a:t>
            </a:r>
          </a:p>
        </p:txBody>
      </p:sp>
      <p:sp>
        <p:nvSpPr>
          <p:cNvPr id="4" name="CuadroTexto 3">
            <a:extLst>
              <a:ext uri="{FF2B5EF4-FFF2-40B4-BE49-F238E27FC236}">
                <a16:creationId xmlns:a16="http://schemas.microsoft.com/office/drawing/2014/main" id="{14467419-4148-FD4A-B97C-52817FF1D03E}"/>
              </a:ext>
            </a:extLst>
          </p:cNvPr>
          <p:cNvSpPr txBox="1"/>
          <p:nvPr/>
        </p:nvSpPr>
        <p:spPr>
          <a:xfrm>
            <a:off x="1079500" y="1778000"/>
            <a:ext cx="7620000" cy="2286000"/>
          </a:xfrm>
          <a:prstGeom prst="rect">
            <a:avLst/>
          </a:prstGeom>
          <a:noFill/>
        </p:spPr>
        <p:txBody>
          <a:bodyPr vertOverflow="overflow" vert="horz" wrap="square" rtlCol="0" anchor="t">
            <a:spAutoFit/>
          </a:bodyPr>
          <a:lstStyle/>
          <a:p>
            <a:pPr algn="l"/>
            <a:r>
              <a:rPr lang="es-CO">
                <a:solidFill>
                  <a:srgbClr val="C8CED8"/>
                </a:solidFill>
                <a:latin typeface="DM Sans"/>
              </a:rPr>
              <a:t>Comment below and I'll tell you
the most common AI governance gap
for firms like yours.
No pitch. Just the answer.</a:t>
            </a:r>
          </a:p>
        </p:txBody>
      </p:sp>
      <p:sp>
        <p:nvSpPr>
          <p:cNvPr id="5" name="Rectángulo redondeado 4">
            <a:extLst>
              <a:ext uri="{FF2B5EF4-FFF2-40B4-BE49-F238E27FC236}">
                <a16:creationId xmlns:a16="http://schemas.microsoft.com/office/drawing/2014/main" id="{B3263987-6C4C-2E47-9CDA-D1D93B5094EB}"/>
              </a:ext>
            </a:extLst>
          </p:cNvPr>
          <p:cNvSpPr/>
          <p:nvPr/>
        </p:nvSpPr>
        <p:spPr>
          <a:xfrm>
            <a:off x="1079500" y="5080000"/>
            <a:ext cx="7112000" cy="635000"/>
          </a:xfrm>
          <a:prstGeom prst="roundRect">
            <a:avLst/>
          </a:prstGeom>
          <a:solidFill>
            <a:srgbClr val="B56A3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600" b="1">
                <a:solidFill>
                  <a:srgbClr val="FFFFFF"/>
                </a:solidFill>
                <a:latin typeface="DM Sans"/>
              </a:rPr>
              <a:t>💬  Comment your industry — I'll reply with your top risk</a:t>
            </a:r>
          </a:p>
        </p:txBody>
      </p:sp>
      <p:sp>
        <p:nvSpPr>
          <p:cNvPr id="6" name="CuadroTexto 5">
            <a:extLst>
              <a:ext uri="{FF2B5EF4-FFF2-40B4-BE49-F238E27FC236}">
                <a16:creationId xmlns:a16="http://schemas.microsoft.com/office/drawing/2014/main" id="{3EEA5E71-CE45-DF48-82D4-4A34BA41B91F}"/>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07 / 07</a:t>
            </a:r>
          </a:p>
        </p:txBody>
      </p:sp>
    </p:spTree>
    <p:extLst>
      <p:ext uri="{BB962C8B-B14F-4D97-AF65-F5344CB8AC3E}">
        <p14:creationId xmlns:p14="http://schemas.microsoft.com/office/powerpoint/2010/main" val="7980654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3212C00-9D96-4F42-874E-74F8DF477286}"/>
              </a:ext>
            </a:extLst>
          </p:cNvPr>
          <p:cNvSpPr txBox="1"/>
          <p:nvPr/>
        </p:nvSpPr>
        <p:spPr>
          <a:xfrm>
            <a:off x="1016000" y="1270000"/>
            <a:ext cx="3810000" cy="508000"/>
          </a:xfrm>
          <a:prstGeom prst="rect">
            <a:avLst/>
          </a:prstGeom>
          <a:noFill/>
        </p:spPr>
        <p:txBody>
          <a:bodyPr vertOverflow="overflow" vert="horz" wrap="square" rtlCol="0" anchor="t">
            <a:spAutoFit/>
          </a:bodyPr>
          <a:lstStyle/>
          <a:p>
            <a:pPr algn="l"/>
            <a:r>
              <a:rPr lang="es-CO" sz="1400"/>
              <a:t>CAROUSEL 09</a:t>
            </a:r>
          </a:p>
        </p:txBody>
      </p:sp>
      <p:sp>
        <p:nvSpPr>
          <p:cNvPr id="3" name="Rectángulo 2">
            <a:extLst>
              <a:ext uri="{FF2B5EF4-FFF2-40B4-BE49-F238E27FC236}">
                <a16:creationId xmlns:a16="http://schemas.microsoft.com/office/drawing/2014/main" id="{0E7A03F2-6FF0-AE4C-AFD7-B91AC3C33122}"/>
              </a:ext>
            </a:extLst>
          </p:cNvPr>
          <p:cNvSpPr/>
          <p:nvPr/>
        </p:nvSpPr>
        <p:spPr>
          <a:xfrm>
            <a:off x="1016000" y="1905000"/>
            <a:ext cx="1016000" cy="63500"/>
          </a:xfrm>
          <a:prstGeom prst="rect">
            <a:avLst/>
          </a:prstGeom>
          <a:solidFill>
            <a:srgbClr val="A67B2D"/>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4" name="CuadroTexto 3">
            <a:extLst>
              <a:ext uri="{FF2B5EF4-FFF2-40B4-BE49-F238E27FC236}">
                <a16:creationId xmlns:a16="http://schemas.microsoft.com/office/drawing/2014/main" id="{748FFE07-9596-E249-8999-FBADF92C0ABB}"/>
              </a:ext>
            </a:extLst>
          </p:cNvPr>
          <p:cNvSpPr txBox="1"/>
          <p:nvPr/>
        </p:nvSpPr>
        <p:spPr>
          <a:xfrm>
            <a:off x="1016000" y="2159000"/>
            <a:ext cx="7620000" cy="1524000"/>
          </a:xfrm>
          <a:prstGeom prst="rect">
            <a:avLst/>
          </a:prstGeom>
          <a:noFill/>
        </p:spPr>
        <p:txBody>
          <a:bodyPr vertOverflow="overflow" vert="horz" wrap="square" rtlCol="0" anchor="t">
            <a:spAutoFit/>
          </a:bodyPr>
          <a:lstStyle/>
          <a:p>
            <a:pPr algn="l"/>
            <a:r>
              <a:rPr lang="es-CO" sz="3600" b="1">
                <a:solidFill>
                  <a:srgbClr val="F3F6FA"/>
                </a:solidFill>
                <a:latin typeface="Inter"/>
              </a:rPr>
              <a:t>Why I Built This Service
(The Origin Story)</a:t>
            </a:r>
          </a:p>
        </p:txBody>
      </p:sp>
      <p:sp>
        <p:nvSpPr>
          <p:cNvPr id="5" name="CuadroTexto 4">
            <a:extLst>
              <a:ext uri="{FF2B5EF4-FFF2-40B4-BE49-F238E27FC236}">
                <a16:creationId xmlns:a16="http://schemas.microsoft.com/office/drawing/2014/main" id="{E8AF0E89-3AB9-1B4E-926A-8A465BA0362F}"/>
              </a:ext>
            </a:extLst>
          </p:cNvPr>
          <p:cNvSpPr txBox="1"/>
          <p:nvPr/>
        </p:nvSpPr>
        <p:spPr>
          <a:xfrm>
            <a:off x="1016000" y="3937000"/>
            <a:ext cx="6350000" cy="381000"/>
          </a:xfrm>
          <a:prstGeom prst="rect">
            <a:avLst/>
          </a:prstGeom>
          <a:noFill/>
        </p:spPr>
        <p:txBody>
          <a:bodyPr vertOverflow="overflow" vert="horz" wrap="square" rtlCol="0" anchor="t">
            <a:spAutoFit/>
          </a:bodyPr>
          <a:lstStyle/>
          <a:p>
            <a:pPr algn="l"/>
            <a:r>
              <a:rPr lang="es-CO" sz="1400"/>
              <a:t>Day 17  •  8:00 AM EST  •  Credibility  •  8 Slides</a:t>
            </a:r>
          </a:p>
        </p:txBody>
      </p:sp>
      <p:sp>
        <p:nvSpPr>
          <p:cNvPr id="6" name="Rectángulo redondeado 5">
            <a:extLst>
              <a:ext uri="{FF2B5EF4-FFF2-40B4-BE49-F238E27FC236}">
                <a16:creationId xmlns:a16="http://schemas.microsoft.com/office/drawing/2014/main" id="{24B772E2-FBE1-B744-9C0F-0CC185EF9A54}"/>
              </a:ext>
            </a:extLst>
          </p:cNvPr>
          <p:cNvSpPr/>
          <p:nvPr/>
        </p:nvSpPr>
        <p:spPr>
          <a:xfrm>
            <a:off x="1016000" y="4699000"/>
            <a:ext cx="2286000" cy="508000"/>
          </a:xfrm>
          <a:prstGeom prst="roundRect">
            <a:avLst/>
          </a:prstGeom>
          <a:solidFill>
            <a:srgbClr val="A67B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400" b="1">
                <a:solidFill>
                  <a:srgbClr val="FFFFFF"/>
                </a:solidFill>
              </a:rPr>
              <a:t>Gold #A67B2D</a:t>
            </a:r>
          </a:p>
        </p:txBody>
      </p:sp>
      <p:sp>
        <p:nvSpPr>
          <p:cNvPr id="7" name="CuadroTexto 6">
            <a:extLst>
              <a:ext uri="{FF2B5EF4-FFF2-40B4-BE49-F238E27FC236}">
                <a16:creationId xmlns:a16="http://schemas.microsoft.com/office/drawing/2014/main" id="{80EB4B8C-138D-9B48-8BBE-90520961E4D0}"/>
              </a:ext>
            </a:extLst>
          </p:cNvPr>
          <p:cNvSpPr txBox="1"/>
          <p:nvPr/>
        </p:nvSpPr>
        <p:spPr>
          <a:xfrm>
            <a:off x="9144000" y="1524000"/>
            <a:ext cx="2540000" cy="3810000"/>
          </a:xfrm>
          <a:prstGeom prst="rect">
            <a:avLst/>
          </a:prstGeom>
          <a:noFill/>
        </p:spPr>
        <p:txBody>
          <a:bodyPr vertOverflow="overflow" vert="horz" wrap="square" rtlCol="0" anchor="t">
            <a:spAutoFit/>
          </a:bodyPr>
          <a:lstStyle/>
          <a:p>
            <a:pPr algn="l"/>
            <a:r>
              <a:rPr lang="es-CO" sz="12000" b="1">
                <a:solidFill>
                  <a:srgbClr val="A67B2D"/>
                </a:solidFill>
                <a:latin typeface="Inter"/>
              </a:rPr>
              <a:t>09</a:t>
            </a:r>
          </a:p>
        </p:txBody>
      </p:sp>
    </p:spTree>
    <p:extLst>
      <p:ext uri="{BB962C8B-B14F-4D97-AF65-F5344CB8AC3E}">
        <p14:creationId xmlns:p14="http://schemas.microsoft.com/office/powerpoint/2010/main" val="17702997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E69EEEB-EB9A-5148-A0DF-472893083C73}"/>
              </a:ext>
            </a:extLst>
          </p:cNvPr>
          <p:cNvSpPr/>
          <p:nvPr/>
        </p:nvSpPr>
        <p:spPr>
          <a:xfrm>
            <a:off x="762000" y="1270000"/>
            <a:ext cx="63500" cy="3810000"/>
          </a:xfrm>
          <a:prstGeom prst="rect">
            <a:avLst/>
          </a:prstGeom>
          <a:solidFill>
            <a:srgbClr val="A67B2D"/>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09D778F6-6394-B84F-82C3-2AC0F6F8517F}"/>
              </a:ext>
            </a:extLst>
          </p:cNvPr>
          <p:cNvSpPr txBox="1"/>
          <p:nvPr/>
        </p:nvSpPr>
        <p:spPr>
          <a:xfrm>
            <a:off x="1079500" y="1270000"/>
            <a:ext cx="8255000" cy="1651000"/>
          </a:xfrm>
          <a:prstGeom prst="rect">
            <a:avLst/>
          </a:prstGeom>
          <a:noFill/>
        </p:spPr>
        <p:txBody>
          <a:bodyPr vertOverflow="overflow" vert="horz" wrap="square" rtlCol="0" anchor="t">
            <a:spAutoFit/>
          </a:bodyPr>
          <a:lstStyle/>
          <a:p>
            <a:pPr algn="l"/>
            <a:r>
              <a:rPr lang="es-CO" sz="2800" b="1">
                <a:solidFill>
                  <a:srgbClr val="F3F6FA"/>
                </a:solidFill>
                <a:latin typeface="Inter"/>
              </a:rPr>
              <a:t>Why a lawyer from Colombia
built an AI governance service
for US small firms.</a:t>
            </a:r>
          </a:p>
        </p:txBody>
      </p:sp>
      <p:sp>
        <p:nvSpPr>
          <p:cNvPr id="4" name="CuadroTexto 3">
            <a:extLst>
              <a:ext uri="{FF2B5EF4-FFF2-40B4-BE49-F238E27FC236}">
                <a16:creationId xmlns:a16="http://schemas.microsoft.com/office/drawing/2014/main" id="{C51BFD1D-4DCD-2D4E-8D4B-43B78AE5FB64}"/>
              </a:ext>
            </a:extLst>
          </p:cNvPr>
          <p:cNvSpPr txBox="1"/>
          <p:nvPr/>
        </p:nvSpPr>
        <p:spPr>
          <a:xfrm>
            <a:off x="1079500" y="3302000"/>
            <a:ext cx="7620000" cy="508000"/>
          </a:xfrm>
          <a:prstGeom prst="rect">
            <a:avLst/>
          </a:prstGeom>
          <a:noFill/>
        </p:spPr>
        <p:txBody>
          <a:bodyPr vertOverflow="overflow" vert="horz" wrap="square" rtlCol="0" anchor="t">
            <a:spAutoFit/>
          </a:bodyPr>
          <a:lstStyle/>
          <a:p>
            <a:pPr algn="l"/>
            <a:r>
              <a:rPr lang="es-CO" sz="2000"/>
              <a:t>The story behind the sprint.</a:t>
            </a:r>
          </a:p>
        </p:txBody>
      </p:sp>
      <p:sp>
        <p:nvSpPr>
          <p:cNvPr id="5" name="CuadroTexto 4">
            <a:extLst>
              <a:ext uri="{FF2B5EF4-FFF2-40B4-BE49-F238E27FC236}">
                <a16:creationId xmlns:a16="http://schemas.microsoft.com/office/drawing/2014/main" id="{2A44CBEA-589D-624C-B8DB-1A078EDF1081}"/>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01 / 08</a:t>
            </a:r>
          </a:p>
        </p:txBody>
      </p:sp>
    </p:spTree>
    <p:extLst>
      <p:ext uri="{BB962C8B-B14F-4D97-AF65-F5344CB8AC3E}">
        <p14:creationId xmlns:p14="http://schemas.microsoft.com/office/powerpoint/2010/main" val="18425875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682D21A3-C11B-F849-9F9F-EED7AC65CD6A}"/>
              </a:ext>
            </a:extLst>
          </p:cNvPr>
          <p:cNvSpPr/>
          <p:nvPr/>
        </p:nvSpPr>
        <p:spPr>
          <a:xfrm>
            <a:off x="762000" y="762000"/>
            <a:ext cx="63500" cy="762000"/>
          </a:xfrm>
          <a:prstGeom prst="rect">
            <a:avLst/>
          </a:prstGeom>
          <a:solidFill>
            <a:srgbClr val="A67B2D"/>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2DC8BD03-4674-AA43-8BD4-2AA18025D6FE}"/>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Where I come from:</a:t>
            </a:r>
          </a:p>
        </p:txBody>
      </p:sp>
      <p:sp>
        <p:nvSpPr>
          <p:cNvPr id="4" name="CuadroTexto 3">
            <a:extLst>
              <a:ext uri="{FF2B5EF4-FFF2-40B4-BE49-F238E27FC236}">
                <a16:creationId xmlns:a16="http://schemas.microsoft.com/office/drawing/2014/main" id="{88B7C20F-5DBE-D64D-A657-FB0303840836}"/>
              </a:ext>
            </a:extLst>
          </p:cNvPr>
          <p:cNvSpPr txBox="1"/>
          <p:nvPr/>
        </p:nvSpPr>
        <p:spPr>
          <a:xfrm>
            <a:off x="1079500" y="1524000"/>
            <a:ext cx="8255000" cy="3556000"/>
          </a:xfrm>
          <a:prstGeom prst="rect">
            <a:avLst/>
          </a:prstGeom>
          <a:noFill/>
        </p:spPr>
        <p:txBody>
          <a:bodyPr vertOverflow="overflow" vert="horz" wrap="square" rtlCol="0" anchor="t">
            <a:spAutoFit/>
          </a:bodyPr>
          <a:lstStyle/>
          <a:p>
            <a:pPr algn="l"/>
            <a:r>
              <a:rPr lang="es-CO">
                <a:solidFill>
                  <a:srgbClr val="1A2332"/>
                </a:solidFill>
                <a:latin typeface="DM Sans"/>
              </a:rPr>
              <a:t>→  Law degree — financial regulation focus
→  Legal Operations &amp; Compliance
     at a Colombian financial services firm
→  Managed 600+ regulatory audit requirements
→  Reduced document processing time by 97%
     using AI automation</a:t>
            </a:r>
          </a:p>
        </p:txBody>
      </p:sp>
      <p:sp>
        <p:nvSpPr>
          <p:cNvPr id="5" name="CuadroTexto 4">
            <a:extLst>
              <a:ext uri="{FF2B5EF4-FFF2-40B4-BE49-F238E27FC236}">
                <a16:creationId xmlns:a16="http://schemas.microsoft.com/office/drawing/2014/main" id="{77F5B913-3E66-2B48-AB95-0418C04D326C}"/>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02 / 08</a:t>
            </a:r>
          </a:p>
        </p:txBody>
      </p:sp>
    </p:spTree>
    <p:extLst>
      <p:ext uri="{BB962C8B-B14F-4D97-AF65-F5344CB8AC3E}">
        <p14:creationId xmlns:p14="http://schemas.microsoft.com/office/powerpoint/2010/main" val="9516411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B5644A2-95D7-BE47-B7C8-91E86AECA8C9}"/>
              </a:ext>
            </a:extLst>
          </p:cNvPr>
          <p:cNvSpPr/>
          <p:nvPr/>
        </p:nvSpPr>
        <p:spPr>
          <a:xfrm>
            <a:off x="762000" y="762000"/>
            <a:ext cx="63500" cy="762000"/>
          </a:xfrm>
          <a:prstGeom prst="rect">
            <a:avLst/>
          </a:prstGeom>
          <a:solidFill>
            <a:srgbClr val="A67B2D"/>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EC659922-4750-C049-AC82-C42A3586F364}"/>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The moment it clicked:</a:t>
            </a:r>
          </a:p>
        </p:txBody>
      </p:sp>
      <p:sp>
        <p:nvSpPr>
          <p:cNvPr id="4" name="CuadroTexto 3">
            <a:extLst>
              <a:ext uri="{FF2B5EF4-FFF2-40B4-BE49-F238E27FC236}">
                <a16:creationId xmlns:a16="http://schemas.microsoft.com/office/drawing/2014/main" id="{CB7A9E72-D2B9-8547-9C69-E339F8E014F7}"/>
              </a:ext>
            </a:extLst>
          </p:cNvPr>
          <p:cNvSpPr txBox="1"/>
          <p:nvPr/>
        </p:nvSpPr>
        <p:spPr>
          <a:xfrm>
            <a:off x="1079500" y="1524000"/>
            <a:ext cx="8255000" cy="4064000"/>
          </a:xfrm>
          <a:prstGeom prst="rect">
            <a:avLst/>
          </a:prstGeom>
          <a:noFill/>
        </p:spPr>
        <p:txBody>
          <a:bodyPr vertOverflow="overflow" vert="horz" wrap="square" rtlCol="0" anchor="t">
            <a:spAutoFit/>
          </a:bodyPr>
          <a:lstStyle/>
          <a:p>
            <a:pPr algn="l"/>
            <a:r>
              <a:rPr lang="es-CO">
                <a:solidFill>
                  <a:srgbClr val="1A2332"/>
                </a:solidFill>
                <a:latin typeface="DM Sans"/>
              </a:rPr>
              <a:t>I was automating compliance workflows
at a regulated financial institution.
I realized: the AI was doing the work.
But nobody had written the rules
for how the AI should work.
Not in my firm.
Not in the firms we audited.
Not in most firms I looked at.</a:t>
            </a:r>
          </a:p>
        </p:txBody>
      </p:sp>
      <p:sp>
        <p:nvSpPr>
          <p:cNvPr id="5" name="CuadroTexto 4">
            <a:extLst>
              <a:ext uri="{FF2B5EF4-FFF2-40B4-BE49-F238E27FC236}">
                <a16:creationId xmlns:a16="http://schemas.microsoft.com/office/drawing/2014/main" id="{60E4FB39-A004-7547-81B1-FF6F758B5D94}"/>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03 / 08</a:t>
            </a:r>
          </a:p>
        </p:txBody>
      </p:sp>
    </p:spTree>
    <p:extLst>
      <p:ext uri="{BB962C8B-B14F-4D97-AF65-F5344CB8AC3E}">
        <p14:creationId xmlns:p14="http://schemas.microsoft.com/office/powerpoint/2010/main" val="14946405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1D854F80-1F63-894D-B1D6-B91794BC6540}"/>
              </a:ext>
            </a:extLst>
          </p:cNvPr>
          <p:cNvSpPr/>
          <p:nvPr/>
        </p:nvSpPr>
        <p:spPr>
          <a:xfrm>
            <a:off x="762000" y="762000"/>
            <a:ext cx="63500" cy="762000"/>
          </a:xfrm>
          <a:prstGeom prst="rect">
            <a:avLst/>
          </a:prstGeom>
          <a:solidFill>
            <a:srgbClr val="A67B2D"/>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C6FCFDF5-663D-7441-BF3C-3E6CC915FEFF}"/>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The gap:</a:t>
            </a:r>
          </a:p>
        </p:txBody>
      </p:sp>
      <p:sp>
        <p:nvSpPr>
          <p:cNvPr id="4" name="CuadroTexto 3">
            <a:extLst>
              <a:ext uri="{FF2B5EF4-FFF2-40B4-BE49-F238E27FC236}">
                <a16:creationId xmlns:a16="http://schemas.microsoft.com/office/drawing/2014/main" id="{4482F00E-E567-EE43-BDBF-99DC9A07B92B}"/>
              </a:ext>
            </a:extLst>
          </p:cNvPr>
          <p:cNvSpPr txBox="1"/>
          <p:nvPr/>
        </p:nvSpPr>
        <p:spPr>
          <a:xfrm>
            <a:off x="1079500" y="1524000"/>
            <a:ext cx="7620000" cy="4064000"/>
          </a:xfrm>
          <a:prstGeom prst="rect">
            <a:avLst/>
          </a:prstGeom>
          <a:noFill/>
        </p:spPr>
        <p:txBody>
          <a:bodyPr vertOverflow="overflow" vert="horz" wrap="square" rtlCol="0" anchor="t">
            <a:spAutoFit/>
          </a:bodyPr>
          <a:lstStyle/>
          <a:p>
            <a:pPr algn="l"/>
            <a:r>
              <a:rPr lang="es-CO" sz="2000">
                <a:solidFill>
                  <a:srgbClr val="1A2332"/>
                </a:solidFill>
                <a:latin typeface="DM Sans"/>
              </a:rPr>
              <a:t>Lawyers understand risk.
Engineers build AI tools.
Almost nobody sits at
the intersection of both —
and speaks the language of
small business operations.
That intersection is where I work.</a:t>
            </a:r>
          </a:p>
        </p:txBody>
      </p:sp>
      <p:sp>
        <p:nvSpPr>
          <p:cNvPr id="5" name="CuadroTexto 4">
            <a:extLst>
              <a:ext uri="{FF2B5EF4-FFF2-40B4-BE49-F238E27FC236}">
                <a16:creationId xmlns:a16="http://schemas.microsoft.com/office/drawing/2014/main" id="{1F463A4E-997D-D14B-B51E-F8D581D1CB6A}"/>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04 / 08</a:t>
            </a:r>
          </a:p>
        </p:txBody>
      </p:sp>
    </p:spTree>
    <p:extLst>
      <p:ext uri="{BB962C8B-B14F-4D97-AF65-F5344CB8AC3E}">
        <p14:creationId xmlns:p14="http://schemas.microsoft.com/office/powerpoint/2010/main" val="40964249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3D23BA22-A2EF-F542-9EF5-C71EEC33E58F}"/>
              </a:ext>
            </a:extLst>
          </p:cNvPr>
          <p:cNvSpPr/>
          <p:nvPr/>
        </p:nvSpPr>
        <p:spPr>
          <a:xfrm>
            <a:off x="762000" y="762000"/>
            <a:ext cx="63500" cy="762000"/>
          </a:xfrm>
          <a:prstGeom prst="rect">
            <a:avLst/>
          </a:prstGeom>
          <a:solidFill>
            <a:srgbClr val="A67B2D"/>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83A6C2A2-7360-9843-BF36-22C0E534379E}"/>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What the AI Governance Sprint is:</a:t>
            </a:r>
          </a:p>
        </p:txBody>
      </p:sp>
      <p:sp>
        <p:nvSpPr>
          <p:cNvPr id="4" name="CuadroTexto 3">
            <a:extLst>
              <a:ext uri="{FF2B5EF4-FFF2-40B4-BE49-F238E27FC236}">
                <a16:creationId xmlns:a16="http://schemas.microsoft.com/office/drawing/2014/main" id="{E09F00A4-349A-CA4F-8ECE-C55A87169527}"/>
              </a:ext>
            </a:extLst>
          </p:cNvPr>
          <p:cNvSpPr txBox="1"/>
          <p:nvPr/>
        </p:nvSpPr>
        <p:spPr>
          <a:xfrm>
            <a:off x="1079500" y="1524000"/>
            <a:ext cx="8255000" cy="4318000"/>
          </a:xfrm>
          <a:prstGeom prst="rect">
            <a:avLst/>
          </a:prstGeom>
          <a:noFill/>
        </p:spPr>
        <p:txBody>
          <a:bodyPr vertOverflow="overflow" vert="horz" wrap="square" rtlCol="0" anchor="t">
            <a:spAutoFit/>
          </a:bodyPr>
          <a:lstStyle/>
          <a:p>
            <a:pPr algn="l"/>
            <a:r>
              <a:rPr lang="es-CO" sz="1700">
                <a:solidFill>
                  <a:srgbClr val="1A2332"/>
                </a:solidFill>
                <a:latin typeface="DM Sans"/>
              </a:rPr>
              <a:t>Not a legal audit.
Not a compliance certification.
→  A fast executive review
→  That maps where informal AI use
     creates business risk
→  And delivers the minimum controls
     to address it
Built for founders and operators.
Not for legal teams.</a:t>
            </a:r>
          </a:p>
        </p:txBody>
      </p:sp>
      <p:sp>
        <p:nvSpPr>
          <p:cNvPr id="5" name="CuadroTexto 4">
            <a:extLst>
              <a:ext uri="{FF2B5EF4-FFF2-40B4-BE49-F238E27FC236}">
                <a16:creationId xmlns:a16="http://schemas.microsoft.com/office/drawing/2014/main" id="{E22A5AE1-B8A2-CE4D-8B22-92D8402A903C}"/>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05 / 08</a:t>
            </a:r>
          </a:p>
        </p:txBody>
      </p:sp>
    </p:spTree>
    <p:extLst>
      <p:ext uri="{BB962C8B-B14F-4D97-AF65-F5344CB8AC3E}">
        <p14:creationId xmlns:p14="http://schemas.microsoft.com/office/powerpoint/2010/main" val="34199276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48EED4D-C6A1-AC4A-9131-B86FDDBBBEAB}"/>
              </a:ext>
            </a:extLst>
          </p:cNvPr>
          <p:cNvSpPr/>
          <p:nvPr/>
        </p:nvSpPr>
        <p:spPr>
          <a:xfrm>
            <a:off x="762000" y="762000"/>
            <a:ext cx="63500" cy="762000"/>
          </a:xfrm>
          <a:prstGeom prst="rect">
            <a:avLst/>
          </a:prstGeom>
          <a:solidFill>
            <a:srgbClr val="A67B2D"/>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13AC9B07-845A-0D4F-8C55-F4D54AA4CC23}"/>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Why I built it async:</a:t>
            </a:r>
          </a:p>
        </p:txBody>
      </p:sp>
      <p:sp>
        <p:nvSpPr>
          <p:cNvPr id="4" name="CuadroTexto 3">
            <a:extLst>
              <a:ext uri="{FF2B5EF4-FFF2-40B4-BE49-F238E27FC236}">
                <a16:creationId xmlns:a16="http://schemas.microsoft.com/office/drawing/2014/main" id="{1E9D7157-E3C3-2741-9A1C-8B57E8C3DCD8}"/>
              </a:ext>
            </a:extLst>
          </p:cNvPr>
          <p:cNvSpPr txBox="1"/>
          <p:nvPr/>
        </p:nvSpPr>
        <p:spPr>
          <a:xfrm>
            <a:off x="1079500" y="1524000"/>
            <a:ext cx="8255000" cy="4318000"/>
          </a:xfrm>
          <a:prstGeom prst="rect">
            <a:avLst/>
          </a:prstGeom>
          <a:noFill/>
        </p:spPr>
        <p:txBody>
          <a:bodyPr vertOverflow="overflow" vert="horz" wrap="square" rtlCol="0" anchor="t">
            <a:spAutoFit/>
          </a:bodyPr>
          <a:lstStyle/>
          <a:p>
            <a:pPr algn="l"/>
            <a:r>
              <a:rPr lang="es-CO" sz="1700">
                <a:solidFill>
                  <a:srgbClr val="1A2332"/>
                </a:solidFill>
                <a:latin typeface="DM Sans"/>
              </a:rPr>
              <a:t>Long calls are friction.
The value is in the written deliverable.
→  You fill a 12-question form
→  I build the analysis
→  You get a 5-page report
     + a Loom walkthrough
No scheduling. No meetings.
Just a clear output you can act on.</a:t>
            </a:r>
          </a:p>
        </p:txBody>
      </p:sp>
      <p:sp>
        <p:nvSpPr>
          <p:cNvPr id="5" name="CuadroTexto 4">
            <a:extLst>
              <a:ext uri="{FF2B5EF4-FFF2-40B4-BE49-F238E27FC236}">
                <a16:creationId xmlns:a16="http://schemas.microsoft.com/office/drawing/2014/main" id="{E77BC489-FEF3-9345-9869-377900C5FF9E}"/>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06 / 08</a:t>
            </a:r>
          </a:p>
        </p:txBody>
      </p:sp>
    </p:spTree>
    <p:extLst>
      <p:ext uri="{BB962C8B-B14F-4D97-AF65-F5344CB8AC3E}">
        <p14:creationId xmlns:p14="http://schemas.microsoft.com/office/powerpoint/2010/main" val="9913324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3F65E05-7DD7-5E49-AB65-BC6A9E731DF1}"/>
              </a:ext>
            </a:extLst>
          </p:cNvPr>
          <p:cNvSpPr/>
          <p:nvPr/>
        </p:nvSpPr>
        <p:spPr>
          <a:xfrm>
            <a:off x="762000" y="762000"/>
            <a:ext cx="63500" cy="762000"/>
          </a:xfrm>
          <a:prstGeom prst="rect">
            <a:avLst/>
          </a:prstGeom>
          <a:solidFill>
            <a:srgbClr val="A67B2D"/>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62DDC0BF-3861-2044-AD04-84CFF8A0179B}"/>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Who this is for:</a:t>
            </a:r>
          </a:p>
        </p:txBody>
      </p:sp>
      <p:sp>
        <p:nvSpPr>
          <p:cNvPr id="4" name="CuadroTexto 3">
            <a:extLst>
              <a:ext uri="{FF2B5EF4-FFF2-40B4-BE49-F238E27FC236}">
                <a16:creationId xmlns:a16="http://schemas.microsoft.com/office/drawing/2014/main" id="{D759D655-3087-EB45-B4EE-5866841AC7BB}"/>
              </a:ext>
            </a:extLst>
          </p:cNvPr>
          <p:cNvSpPr txBox="1"/>
          <p:nvPr/>
        </p:nvSpPr>
        <p:spPr>
          <a:xfrm>
            <a:off x="1079500" y="1524000"/>
            <a:ext cx="8255000" cy="4318000"/>
          </a:xfrm>
          <a:prstGeom prst="rect">
            <a:avLst/>
          </a:prstGeom>
          <a:noFill/>
        </p:spPr>
        <p:txBody>
          <a:bodyPr vertOverflow="overflow" vert="horz" wrap="square" rtlCol="0" anchor="t">
            <a:spAutoFit/>
          </a:bodyPr>
          <a:lstStyle/>
          <a:p>
            <a:pPr algn="l"/>
            <a:r>
              <a:rPr lang="es-CO" sz="1700">
                <a:solidFill>
                  <a:srgbClr val="1A2332"/>
                </a:solidFill>
                <a:latin typeface="DM Sans"/>
              </a:rPr>
              <a:t>→  Boutique law firms
→  Marketing &amp; creative agencies
→  Accounting practices
→  Consulting firms
→  Any small team using AI daily
     without a written policy
If your team uses AI and you'd struggle
to answer 'What is your AI policy?' —
you're exactly who this is built for.</a:t>
            </a:r>
          </a:p>
        </p:txBody>
      </p:sp>
      <p:sp>
        <p:nvSpPr>
          <p:cNvPr id="5" name="CuadroTexto 4">
            <a:extLst>
              <a:ext uri="{FF2B5EF4-FFF2-40B4-BE49-F238E27FC236}">
                <a16:creationId xmlns:a16="http://schemas.microsoft.com/office/drawing/2014/main" id="{8F78DBB5-D0F9-F04E-801F-FA72F5FA9F93}"/>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07 / 08</a:t>
            </a:r>
          </a:p>
        </p:txBody>
      </p:sp>
    </p:spTree>
    <p:extLst>
      <p:ext uri="{BB962C8B-B14F-4D97-AF65-F5344CB8AC3E}">
        <p14:creationId xmlns:p14="http://schemas.microsoft.com/office/powerpoint/2010/main" val="33947789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BFD575CC-3743-2946-B2F5-F39BAC8D6851}"/>
              </a:ext>
            </a:extLst>
          </p:cNvPr>
          <p:cNvSpPr/>
          <p:nvPr/>
        </p:nvSpPr>
        <p:spPr>
          <a:xfrm>
            <a:off x="0" y="0"/>
            <a:ext cx="12192000" cy="76200"/>
          </a:xfrm>
          <a:prstGeom prst="rect">
            <a:avLst/>
          </a:prstGeom>
          <a:solidFill>
            <a:srgbClr val="A67B2D"/>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70EBC209-5270-9C49-8143-3C513F675CFC}"/>
              </a:ext>
            </a:extLst>
          </p:cNvPr>
          <p:cNvSpPr txBox="1"/>
          <p:nvPr/>
        </p:nvSpPr>
        <p:spPr>
          <a:xfrm>
            <a:off x="1079500" y="1016000"/>
            <a:ext cx="7620000" cy="635000"/>
          </a:xfrm>
          <a:prstGeom prst="rect">
            <a:avLst/>
          </a:prstGeom>
          <a:noFill/>
        </p:spPr>
        <p:txBody>
          <a:bodyPr vertOverflow="overflow" vert="horz" wrap="square" rtlCol="0" anchor="t">
            <a:spAutoFit/>
          </a:bodyPr>
          <a:lstStyle/>
          <a:p>
            <a:pPr algn="l"/>
            <a:r>
              <a:rPr lang="es-CO" sz="3200" b="1">
                <a:solidFill>
                  <a:srgbClr val="F3F6FA"/>
                </a:solidFill>
                <a:latin typeface="Inter"/>
              </a:rPr>
              <a:t>Questions?</a:t>
            </a:r>
          </a:p>
        </p:txBody>
      </p:sp>
      <p:sp>
        <p:nvSpPr>
          <p:cNvPr id="4" name="CuadroTexto 3">
            <a:extLst>
              <a:ext uri="{FF2B5EF4-FFF2-40B4-BE49-F238E27FC236}">
                <a16:creationId xmlns:a16="http://schemas.microsoft.com/office/drawing/2014/main" id="{C22CECA3-E7FF-2C4E-8063-D1857AEB32BA}"/>
              </a:ext>
            </a:extLst>
          </p:cNvPr>
          <p:cNvSpPr txBox="1"/>
          <p:nvPr/>
        </p:nvSpPr>
        <p:spPr>
          <a:xfrm>
            <a:off x="1079500" y="1905000"/>
            <a:ext cx="7620000" cy="2540000"/>
          </a:xfrm>
          <a:prstGeom prst="rect">
            <a:avLst/>
          </a:prstGeom>
          <a:noFill/>
        </p:spPr>
        <p:txBody>
          <a:bodyPr vertOverflow="overflow" vert="horz" wrap="square" rtlCol="0" anchor="t">
            <a:spAutoFit/>
          </a:bodyPr>
          <a:lstStyle/>
          <a:p>
            <a:pPr algn="l"/>
            <a:r>
              <a:rPr lang="es-CO">
                <a:solidFill>
                  <a:srgbClr val="C8CED8"/>
                </a:solidFill>
                <a:latin typeface="DM Sans"/>
              </a:rPr>
              <a:t>Ask me anything about AI governance
for small firms in the comments.
I'll answer directly.
No pitch.
Just the answer.</a:t>
            </a:r>
          </a:p>
        </p:txBody>
      </p:sp>
      <p:sp>
        <p:nvSpPr>
          <p:cNvPr id="5" name="Rectángulo redondeado 4">
            <a:extLst>
              <a:ext uri="{FF2B5EF4-FFF2-40B4-BE49-F238E27FC236}">
                <a16:creationId xmlns:a16="http://schemas.microsoft.com/office/drawing/2014/main" id="{5CB25AB9-C274-B842-A3A1-6946F58441A5}"/>
              </a:ext>
            </a:extLst>
          </p:cNvPr>
          <p:cNvSpPr/>
          <p:nvPr/>
        </p:nvSpPr>
        <p:spPr>
          <a:xfrm>
            <a:off x="1079500" y="5207000"/>
            <a:ext cx="6350000" cy="635000"/>
          </a:xfrm>
          <a:prstGeom prst="roundRect">
            <a:avLst/>
          </a:prstGeom>
          <a:solidFill>
            <a:srgbClr val="A67B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600" b="1">
                <a:solidFill>
                  <a:srgbClr val="FFFFFF"/>
                </a:solidFill>
                <a:latin typeface="DM Sans"/>
              </a:rPr>
              <a:t>💬  Ask me anything — commenting is free</a:t>
            </a:r>
          </a:p>
        </p:txBody>
      </p:sp>
      <p:sp>
        <p:nvSpPr>
          <p:cNvPr id="6" name="CuadroTexto 5">
            <a:extLst>
              <a:ext uri="{FF2B5EF4-FFF2-40B4-BE49-F238E27FC236}">
                <a16:creationId xmlns:a16="http://schemas.microsoft.com/office/drawing/2014/main" id="{46662625-315A-124C-A8F7-5F49182841B3}"/>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08 / 08</a:t>
            </a:r>
          </a:p>
        </p:txBody>
      </p:sp>
    </p:spTree>
    <p:extLst>
      <p:ext uri="{BB962C8B-B14F-4D97-AF65-F5344CB8AC3E}">
        <p14:creationId xmlns:p14="http://schemas.microsoft.com/office/powerpoint/2010/main" val="36025654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BC1D8FD-E058-7C49-B8E8-672FB62FAF14}"/>
              </a:ext>
            </a:extLst>
          </p:cNvPr>
          <p:cNvSpPr txBox="1"/>
          <p:nvPr/>
        </p:nvSpPr>
        <p:spPr>
          <a:xfrm>
            <a:off x="1016000" y="1270000"/>
            <a:ext cx="3810000" cy="508000"/>
          </a:xfrm>
          <a:prstGeom prst="rect">
            <a:avLst/>
          </a:prstGeom>
          <a:noFill/>
        </p:spPr>
        <p:txBody>
          <a:bodyPr vertOverflow="overflow" vert="horz" wrap="square" rtlCol="0" anchor="t">
            <a:spAutoFit/>
          </a:bodyPr>
          <a:lstStyle/>
          <a:p>
            <a:pPr algn="l"/>
            <a:r>
              <a:rPr lang="es-CO" sz="1400"/>
              <a:t>CAROUSEL 10</a:t>
            </a:r>
          </a:p>
        </p:txBody>
      </p:sp>
      <p:sp>
        <p:nvSpPr>
          <p:cNvPr id="3" name="Rectángulo 2">
            <a:extLst>
              <a:ext uri="{FF2B5EF4-FFF2-40B4-BE49-F238E27FC236}">
                <a16:creationId xmlns:a16="http://schemas.microsoft.com/office/drawing/2014/main" id="{9EF29D68-BA3F-BD46-9455-A279129ECE25}"/>
              </a:ext>
            </a:extLst>
          </p:cNvPr>
          <p:cNvSpPr/>
          <p:nvPr/>
        </p:nvSpPr>
        <p:spPr>
          <a:xfrm>
            <a:off x="1016000" y="1905000"/>
            <a:ext cx="1016000" cy="63500"/>
          </a:xfrm>
          <a:prstGeom prst="rect">
            <a:avLst/>
          </a:prstGeom>
          <a:solidFill>
            <a:srgbClr val="A83A4B"/>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4" name="CuadroTexto 3">
            <a:extLst>
              <a:ext uri="{FF2B5EF4-FFF2-40B4-BE49-F238E27FC236}">
                <a16:creationId xmlns:a16="http://schemas.microsoft.com/office/drawing/2014/main" id="{758F6965-160B-664E-9CA5-89E878F5267E}"/>
              </a:ext>
            </a:extLst>
          </p:cNvPr>
          <p:cNvSpPr txBox="1"/>
          <p:nvPr/>
        </p:nvSpPr>
        <p:spPr>
          <a:xfrm>
            <a:off x="1016000" y="2159000"/>
            <a:ext cx="7620000" cy="1524000"/>
          </a:xfrm>
          <a:prstGeom prst="rect">
            <a:avLst/>
          </a:prstGeom>
          <a:noFill/>
        </p:spPr>
        <p:txBody>
          <a:bodyPr vertOverflow="overflow" vert="horz" wrap="square" rtlCol="0" anchor="t">
            <a:spAutoFit/>
          </a:bodyPr>
          <a:lstStyle/>
          <a:p>
            <a:pPr algn="l"/>
            <a:r>
              <a:rPr lang="es-CO" sz="3600" b="1">
                <a:solidFill>
                  <a:srgbClr val="F3F6FA"/>
                </a:solidFill>
                <a:latin typeface="Inter"/>
              </a:rPr>
              <a:t>Something I'm Launching
This Week</a:t>
            </a:r>
          </a:p>
        </p:txBody>
      </p:sp>
      <p:sp>
        <p:nvSpPr>
          <p:cNvPr id="5" name="CuadroTexto 4">
            <a:extLst>
              <a:ext uri="{FF2B5EF4-FFF2-40B4-BE49-F238E27FC236}">
                <a16:creationId xmlns:a16="http://schemas.microsoft.com/office/drawing/2014/main" id="{45BD8F89-7C85-B34C-BDC6-471A1B590C29}"/>
              </a:ext>
            </a:extLst>
          </p:cNvPr>
          <p:cNvSpPr txBox="1"/>
          <p:nvPr/>
        </p:nvSpPr>
        <p:spPr>
          <a:xfrm>
            <a:off x="1016000" y="3937000"/>
            <a:ext cx="6350000" cy="381000"/>
          </a:xfrm>
          <a:prstGeom prst="rect">
            <a:avLst/>
          </a:prstGeom>
          <a:noFill/>
        </p:spPr>
        <p:txBody>
          <a:bodyPr vertOverflow="overflow" vert="horz" wrap="square" rtlCol="0" anchor="t">
            <a:spAutoFit/>
          </a:bodyPr>
          <a:lstStyle/>
          <a:p>
            <a:pPr algn="l"/>
            <a:r>
              <a:rPr lang="es-CO" sz="1400"/>
              <a:t>Day 19  •  8:00 AM EST  •  Pre-launch Teaser  •  8 Slides</a:t>
            </a:r>
          </a:p>
        </p:txBody>
      </p:sp>
      <p:sp>
        <p:nvSpPr>
          <p:cNvPr id="6" name="Rectángulo redondeado 5">
            <a:extLst>
              <a:ext uri="{FF2B5EF4-FFF2-40B4-BE49-F238E27FC236}">
                <a16:creationId xmlns:a16="http://schemas.microsoft.com/office/drawing/2014/main" id="{72059BD1-E4B7-DD47-8261-31F1B414D14F}"/>
              </a:ext>
            </a:extLst>
          </p:cNvPr>
          <p:cNvSpPr/>
          <p:nvPr/>
        </p:nvSpPr>
        <p:spPr>
          <a:xfrm>
            <a:off x="1016000" y="4699000"/>
            <a:ext cx="2540000" cy="508000"/>
          </a:xfrm>
          <a:prstGeom prst="roundRect">
            <a:avLst/>
          </a:prstGeom>
          <a:solidFill>
            <a:srgbClr val="A83A4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400" b="1">
                <a:solidFill>
                  <a:srgbClr val="FFFFFF"/>
                </a:solidFill>
              </a:rPr>
              <a:t>Crimson #A83A4B</a:t>
            </a:r>
          </a:p>
        </p:txBody>
      </p:sp>
      <p:sp>
        <p:nvSpPr>
          <p:cNvPr id="7" name="CuadroTexto 6">
            <a:extLst>
              <a:ext uri="{FF2B5EF4-FFF2-40B4-BE49-F238E27FC236}">
                <a16:creationId xmlns:a16="http://schemas.microsoft.com/office/drawing/2014/main" id="{40EBE118-AC4B-A64B-A335-D8D0DE17E55C}"/>
              </a:ext>
            </a:extLst>
          </p:cNvPr>
          <p:cNvSpPr txBox="1"/>
          <p:nvPr/>
        </p:nvSpPr>
        <p:spPr>
          <a:xfrm>
            <a:off x="9144000" y="1524000"/>
            <a:ext cx="2540000" cy="3810000"/>
          </a:xfrm>
          <a:prstGeom prst="rect">
            <a:avLst/>
          </a:prstGeom>
          <a:noFill/>
        </p:spPr>
        <p:txBody>
          <a:bodyPr vertOverflow="overflow" vert="horz" wrap="square" rtlCol="0" anchor="t">
            <a:spAutoFit/>
          </a:bodyPr>
          <a:lstStyle/>
          <a:p>
            <a:pPr algn="l"/>
            <a:r>
              <a:rPr lang="es-CO" sz="12000" b="1">
                <a:solidFill>
                  <a:srgbClr val="A83A4B"/>
                </a:solidFill>
                <a:latin typeface="Inter"/>
              </a:rPr>
              <a:t>10</a:t>
            </a:r>
          </a:p>
        </p:txBody>
      </p:sp>
    </p:spTree>
    <p:extLst>
      <p:ext uri="{BB962C8B-B14F-4D97-AF65-F5344CB8AC3E}">
        <p14:creationId xmlns:p14="http://schemas.microsoft.com/office/powerpoint/2010/main" val="31699223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B2684EC9-533E-C24F-A771-2CD03C31BDEC}"/>
              </a:ext>
            </a:extLst>
          </p:cNvPr>
          <p:cNvSpPr/>
          <p:nvPr/>
        </p:nvSpPr>
        <p:spPr>
          <a:xfrm>
            <a:off x="762000" y="1270000"/>
            <a:ext cx="63500" cy="3810000"/>
          </a:xfrm>
          <a:prstGeom prst="rect">
            <a:avLst/>
          </a:prstGeom>
          <a:solidFill>
            <a:srgbClr val="A83A4B"/>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78FFC1D9-E4DC-E746-8BF6-75B2951F6DDC}"/>
              </a:ext>
            </a:extLst>
          </p:cNvPr>
          <p:cNvSpPr txBox="1"/>
          <p:nvPr/>
        </p:nvSpPr>
        <p:spPr>
          <a:xfrm>
            <a:off x="1079500" y="1270000"/>
            <a:ext cx="7620000" cy="1397000"/>
          </a:xfrm>
          <a:prstGeom prst="rect">
            <a:avLst/>
          </a:prstGeom>
          <a:noFill/>
        </p:spPr>
        <p:txBody>
          <a:bodyPr vertOverflow="overflow" vert="horz" wrap="square" rtlCol="0" anchor="t">
            <a:spAutoFit/>
          </a:bodyPr>
          <a:lstStyle/>
          <a:p>
            <a:pPr algn="l"/>
            <a:r>
              <a:rPr lang="es-CO" sz="3200" b="1">
                <a:solidFill>
                  <a:srgbClr val="F3F6FA"/>
                </a:solidFill>
                <a:latin typeface="Inter"/>
              </a:rPr>
              <a:t>Something I'm launching
this week.</a:t>
            </a:r>
          </a:p>
        </p:txBody>
      </p:sp>
      <p:sp>
        <p:nvSpPr>
          <p:cNvPr id="4" name="CuadroTexto 3">
            <a:extLst>
              <a:ext uri="{FF2B5EF4-FFF2-40B4-BE49-F238E27FC236}">
                <a16:creationId xmlns:a16="http://schemas.microsoft.com/office/drawing/2014/main" id="{19F1DCA1-764C-FF4E-B5AD-15ED9D56185F}"/>
              </a:ext>
            </a:extLst>
          </p:cNvPr>
          <p:cNvSpPr txBox="1"/>
          <p:nvPr/>
        </p:nvSpPr>
        <p:spPr>
          <a:xfrm>
            <a:off x="1079500" y="3048000"/>
            <a:ext cx="7620000" cy="762000"/>
          </a:xfrm>
          <a:prstGeom prst="rect">
            <a:avLst/>
          </a:prstGeom>
          <a:noFill/>
        </p:spPr>
        <p:txBody>
          <a:bodyPr vertOverflow="overflow" vert="horz" wrap="square" rtlCol="0" anchor="t">
            <a:spAutoFit/>
          </a:bodyPr>
          <a:lstStyle/>
          <a:p>
            <a:pPr algn="l"/>
            <a:r>
              <a:rPr lang="es-CO" sz="2000"/>
              <a:t>Built for small firms using AI
without a formal governance policy.</a:t>
            </a:r>
          </a:p>
        </p:txBody>
      </p:sp>
      <p:sp>
        <p:nvSpPr>
          <p:cNvPr id="5" name="CuadroTexto 4">
            <a:extLst>
              <a:ext uri="{FF2B5EF4-FFF2-40B4-BE49-F238E27FC236}">
                <a16:creationId xmlns:a16="http://schemas.microsoft.com/office/drawing/2014/main" id="{C12B3384-BA1A-8F40-BD4B-C38DBC845248}"/>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01 / 08</a:t>
            </a:r>
          </a:p>
        </p:txBody>
      </p:sp>
    </p:spTree>
    <p:extLst>
      <p:ext uri="{BB962C8B-B14F-4D97-AF65-F5344CB8AC3E}">
        <p14:creationId xmlns:p14="http://schemas.microsoft.com/office/powerpoint/2010/main" val="31833335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D618CCB-FBA7-4447-AAF4-85BD2C6735BE}"/>
              </a:ext>
            </a:extLst>
          </p:cNvPr>
          <p:cNvSpPr/>
          <p:nvPr/>
        </p:nvSpPr>
        <p:spPr>
          <a:xfrm>
            <a:off x="762000" y="762000"/>
            <a:ext cx="63500" cy="762000"/>
          </a:xfrm>
          <a:prstGeom prst="rect">
            <a:avLst/>
          </a:prstGeom>
          <a:solidFill>
            <a:srgbClr val="A83A4B"/>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7AF74667-6C8D-3245-9311-62CA49FEB283}"/>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The problem it solves:</a:t>
            </a:r>
          </a:p>
        </p:txBody>
      </p:sp>
      <p:sp>
        <p:nvSpPr>
          <p:cNvPr id="4" name="CuadroTexto 3">
            <a:extLst>
              <a:ext uri="{FF2B5EF4-FFF2-40B4-BE49-F238E27FC236}">
                <a16:creationId xmlns:a16="http://schemas.microsoft.com/office/drawing/2014/main" id="{167E9D1A-3B44-174C-881C-5F02DEC90938}"/>
              </a:ext>
            </a:extLst>
          </p:cNvPr>
          <p:cNvSpPr txBox="1"/>
          <p:nvPr/>
        </p:nvSpPr>
        <p:spPr>
          <a:xfrm>
            <a:off x="1079500" y="1524000"/>
            <a:ext cx="7620000" cy="3810000"/>
          </a:xfrm>
          <a:prstGeom prst="rect">
            <a:avLst/>
          </a:prstGeom>
          <a:noFill/>
        </p:spPr>
        <p:txBody>
          <a:bodyPr vertOverflow="overflow" vert="horz" wrap="square" rtlCol="0" anchor="t">
            <a:spAutoFit/>
          </a:bodyPr>
          <a:lstStyle/>
          <a:p>
            <a:pPr algn="l"/>
            <a:r>
              <a:rPr lang="es-CO" sz="2000">
                <a:solidFill>
                  <a:srgbClr val="1A2332"/>
                </a:solidFill>
                <a:latin typeface="DM Sans"/>
              </a:rPr>
              <a:t>Most small firms using AI today
have no written policy.
Not because they don't care.
Because nobody built a fast,
practical tool for it.
Until now.</a:t>
            </a:r>
          </a:p>
        </p:txBody>
      </p:sp>
      <p:sp>
        <p:nvSpPr>
          <p:cNvPr id="5" name="CuadroTexto 4">
            <a:extLst>
              <a:ext uri="{FF2B5EF4-FFF2-40B4-BE49-F238E27FC236}">
                <a16:creationId xmlns:a16="http://schemas.microsoft.com/office/drawing/2014/main" id="{850C4ACA-D127-7B49-8C4C-6BB46D22939F}"/>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02 / 08</a:t>
            </a:r>
          </a:p>
        </p:txBody>
      </p:sp>
    </p:spTree>
    <p:extLst>
      <p:ext uri="{BB962C8B-B14F-4D97-AF65-F5344CB8AC3E}">
        <p14:creationId xmlns:p14="http://schemas.microsoft.com/office/powerpoint/2010/main" val="24793840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4889179-292D-C34C-9271-4A2149EC073A}"/>
              </a:ext>
            </a:extLst>
          </p:cNvPr>
          <p:cNvSpPr/>
          <p:nvPr/>
        </p:nvSpPr>
        <p:spPr>
          <a:xfrm>
            <a:off x="762000" y="762000"/>
            <a:ext cx="63500" cy="762000"/>
          </a:xfrm>
          <a:prstGeom prst="rect">
            <a:avLst/>
          </a:prstGeom>
          <a:solidFill>
            <a:srgbClr val="A83A4B"/>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61F5A68B-22B3-CF4B-A727-0E647FBFCCB1}"/>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What I'm launching:</a:t>
            </a:r>
          </a:p>
        </p:txBody>
      </p:sp>
      <p:sp>
        <p:nvSpPr>
          <p:cNvPr id="4" name="CuadroTexto 3">
            <a:extLst>
              <a:ext uri="{FF2B5EF4-FFF2-40B4-BE49-F238E27FC236}">
                <a16:creationId xmlns:a16="http://schemas.microsoft.com/office/drawing/2014/main" id="{A91C7384-2350-4B48-8034-47B6BB70BC71}"/>
              </a:ext>
            </a:extLst>
          </p:cNvPr>
          <p:cNvSpPr txBox="1"/>
          <p:nvPr/>
        </p:nvSpPr>
        <p:spPr>
          <a:xfrm>
            <a:off x="1079500" y="1397000"/>
            <a:ext cx="6350000" cy="508000"/>
          </a:xfrm>
          <a:prstGeom prst="rect">
            <a:avLst/>
          </a:prstGeom>
          <a:noFill/>
        </p:spPr>
        <p:txBody>
          <a:bodyPr vertOverflow="overflow" vert="horz" wrap="square" rtlCol="0" anchor="t">
            <a:spAutoFit/>
          </a:bodyPr>
          <a:lstStyle/>
          <a:p>
            <a:pPr algn="l"/>
            <a:r>
              <a:rPr lang="es-CO" sz="2400" b="1">
                <a:solidFill>
                  <a:srgbClr val="A83A4B"/>
                </a:solidFill>
                <a:latin typeface="Inter"/>
              </a:rPr>
              <a:t>AI Governance Risk Sprint</a:t>
            </a:r>
          </a:p>
        </p:txBody>
      </p:sp>
      <p:sp>
        <p:nvSpPr>
          <p:cNvPr id="5" name="CuadroTexto 4">
            <a:extLst>
              <a:ext uri="{FF2B5EF4-FFF2-40B4-BE49-F238E27FC236}">
                <a16:creationId xmlns:a16="http://schemas.microsoft.com/office/drawing/2014/main" id="{91BB4C60-7C7D-3C42-950A-62E13EA10D83}"/>
              </a:ext>
            </a:extLst>
          </p:cNvPr>
          <p:cNvSpPr txBox="1"/>
          <p:nvPr/>
        </p:nvSpPr>
        <p:spPr>
          <a:xfrm>
            <a:off x="1079500" y="2159000"/>
            <a:ext cx="8255000" cy="3175000"/>
          </a:xfrm>
          <a:prstGeom prst="rect">
            <a:avLst/>
          </a:prstGeom>
          <a:noFill/>
        </p:spPr>
        <p:txBody>
          <a:bodyPr vertOverflow="overflow" vert="horz" wrap="square" rtlCol="0" anchor="t">
            <a:spAutoFit/>
          </a:bodyPr>
          <a:lstStyle/>
          <a:p>
            <a:pPr algn="l"/>
            <a:r>
              <a:rPr lang="es-CO">
                <a:solidFill>
                  <a:srgbClr val="1A2332"/>
                </a:solidFill>
                <a:latin typeface="DM Sans"/>
              </a:rPr>
              <a:t>→  A 24-hour executive review
→  For small firms already using AI
     without clear internal guardrails
→  Fully async — no calls required
→  5-page delivery + Loom walkthrough</a:t>
            </a:r>
          </a:p>
        </p:txBody>
      </p:sp>
      <p:sp>
        <p:nvSpPr>
          <p:cNvPr id="6" name="CuadroTexto 5">
            <a:extLst>
              <a:ext uri="{FF2B5EF4-FFF2-40B4-BE49-F238E27FC236}">
                <a16:creationId xmlns:a16="http://schemas.microsoft.com/office/drawing/2014/main" id="{A9FF5081-EAF1-A841-BE0C-39D87AB16AB0}"/>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03 / 08</a:t>
            </a:r>
          </a:p>
        </p:txBody>
      </p:sp>
    </p:spTree>
    <p:extLst>
      <p:ext uri="{BB962C8B-B14F-4D97-AF65-F5344CB8AC3E}">
        <p14:creationId xmlns:p14="http://schemas.microsoft.com/office/powerpoint/2010/main" val="19560898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AABB0EA-840F-5946-ADFE-B3A3DEEA1EB8}"/>
              </a:ext>
            </a:extLst>
          </p:cNvPr>
          <p:cNvSpPr/>
          <p:nvPr/>
        </p:nvSpPr>
        <p:spPr>
          <a:xfrm>
            <a:off x="762000" y="762000"/>
            <a:ext cx="63500" cy="762000"/>
          </a:xfrm>
          <a:prstGeom prst="rect">
            <a:avLst/>
          </a:prstGeom>
          <a:solidFill>
            <a:srgbClr val="A83A4B"/>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B38755D3-6DC9-3D46-9E0A-3A2F043D87AC}"/>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In 24 hours you get:</a:t>
            </a:r>
          </a:p>
        </p:txBody>
      </p:sp>
      <p:sp>
        <p:nvSpPr>
          <p:cNvPr id="4" name="CuadroTexto 3">
            <a:extLst>
              <a:ext uri="{FF2B5EF4-FFF2-40B4-BE49-F238E27FC236}">
                <a16:creationId xmlns:a16="http://schemas.microsoft.com/office/drawing/2014/main" id="{61C998E7-D249-A14B-ABEF-6C43B9600F2B}"/>
              </a:ext>
            </a:extLst>
          </p:cNvPr>
          <p:cNvSpPr txBox="1"/>
          <p:nvPr/>
        </p:nvSpPr>
        <p:spPr>
          <a:xfrm>
            <a:off x="1079500" y="1524000"/>
            <a:ext cx="8255000" cy="3810000"/>
          </a:xfrm>
          <a:prstGeom prst="rect">
            <a:avLst/>
          </a:prstGeom>
          <a:noFill/>
        </p:spPr>
        <p:txBody>
          <a:bodyPr vertOverflow="overflow" vert="horz" wrap="square" rtlCol="0" anchor="t">
            <a:spAutoFit/>
          </a:bodyPr>
          <a:lstStyle/>
          <a:p>
            <a:pPr algn="l"/>
            <a:r>
              <a:rPr lang="es-CO">
                <a:solidFill>
                  <a:srgbClr val="1A2332"/>
                </a:solidFill>
                <a:latin typeface="DM Sans"/>
              </a:rPr>
              <a:t>→  Executive summary of your AI exposure
→  Current AI use snapshot
→  Risk map — 3 to 7 material risks
→  AI Use Guardrails v1
     (ready to implement Monday)
→  30-60-90 day action plan</a:t>
            </a:r>
          </a:p>
        </p:txBody>
      </p:sp>
      <p:sp>
        <p:nvSpPr>
          <p:cNvPr id="5" name="CuadroTexto 4">
            <a:extLst>
              <a:ext uri="{FF2B5EF4-FFF2-40B4-BE49-F238E27FC236}">
                <a16:creationId xmlns:a16="http://schemas.microsoft.com/office/drawing/2014/main" id="{236CAD6C-0503-D946-883F-D81E5BA51EB9}"/>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04 / 08</a:t>
            </a:r>
          </a:p>
        </p:txBody>
      </p:sp>
    </p:spTree>
    <p:extLst>
      <p:ext uri="{BB962C8B-B14F-4D97-AF65-F5344CB8AC3E}">
        <p14:creationId xmlns:p14="http://schemas.microsoft.com/office/powerpoint/2010/main" val="131853564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645D3D01-44C6-194D-8E5B-3603E7562747}"/>
              </a:ext>
            </a:extLst>
          </p:cNvPr>
          <p:cNvSpPr/>
          <p:nvPr/>
        </p:nvSpPr>
        <p:spPr>
          <a:xfrm>
            <a:off x="762000" y="762000"/>
            <a:ext cx="63500" cy="762000"/>
          </a:xfrm>
          <a:prstGeom prst="rect">
            <a:avLst/>
          </a:prstGeom>
          <a:solidFill>
            <a:srgbClr val="A83A4B"/>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95413FB5-D494-BF4B-BCEF-028D553F1ED1}"/>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What this is NOT:</a:t>
            </a:r>
          </a:p>
        </p:txBody>
      </p:sp>
      <p:sp>
        <p:nvSpPr>
          <p:cNvPr id="4" name="CuadroTexto 3">
            <a:extLst>
              <a:ext uri="{FF2B5EF4-FFF2-40B4-BE49-F238E27FC236}">
                <a16:creationId xmlns:a16="http://schemas.microsoft.com/office/drawing/2014/main" id="{D9292913-D3CD-6841-B44A-962E05CB71C8}"/>
              </a:ext>
            </a:extLst>
          </p:cNvPr>
          <p:cNvSpPr txBox="1"/>
          <p:nvPr/>
        </p:nvSpPr>
        <p:spPr>
          <a:xfrm>
            <a:off x="1079500" y="1524000"/>
            <a:ext cx="8255000" cy="3810000"/>
          </a:xfrm>
          <a:prstGeom prst="rect">
            <a:avLst/>
          </a:prstGeom>
          <a:noFill/>
        </p:spPr>
        <p:txBody>
          <a:bodyPr vertOverflow="overflow" vert="horz" wrap="square" rtlCol="0" anchor="t">
            <a:spAutoFit/>
          </a:bodyPr>
          <a:lstStyle/>
          <a:p>
            <a:pPr algn="l"/>
            <a:r>
              <a:rPr lang="es-CO">
                <a:solidFill>
                  <a:srgbClr val="1A2332"/>
                </a:solidFill>
                <a:latin typeface="DM Sans"/>
              </a:rPr>
              <a:t>→  Not a legal audit
→  Not a compliance certification
→  Not a long engagement
→  Not a reason to call your lawyer
It's an operational review.
Built for founders. Not legal teams.</a:t>
            </a:r>
          </a:p>
        </p:txBody>
      </p:sp>
      <p:sp>
        <p:nvSpPr>
          <p:cNvPr id="5" name="CuadroTexto 4">
            <a:extLst>
              <a:ext uri="{FF2B5EF4-FFF2-40B4-BE49-F238E27FC236}">
                <a16:creationId xmlns:a16="http://schemas.microsoft.com/office/drawing/2014/main" id="{4AE93540-0B55-9241-B2AF-534E9E11D7DC}"/>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05 / 08</a:t>
            </a:r>
          </a:p>
        </p:txBody>
      </p:sp>
    </p:spTree>
    <p:extLst>
      <p:ext uri="{BB962C8B-B14F-4D97-AF65-F5344CB8AC3E}">
        <p14:creationId xmlns:p14="http://schemas.microsoft.com/office/powerpoint/2010/main" val="42154555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3045E0A2-AFF2-5643-B29C-0A5687138354}"/>
              </a:ext>
            </a:extLst>
          </p:cNvPr>
          <p:cNvSpPr/>
          <p:nvPr/>
        </p:nvSpPr>
        <p:spPr>
          <a:xfrm>
            <a:off x="762000" y="762000"/>
            <a:ext cx="63500" cy="3810000"/>
          </a:xfrm>
          <a:prstGeom prst="rect">
            <a:avLst/>
          </a:prstGeom>
          <a:solidFill>
            <a:srgbClr val="A83A4B"/>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27BB7EA8-185B-FA4D-81DC-B903CD56B437}"/>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F3F6FA"/>
                </a:solidFill>
                <a:latin typeface="Inter"/>
              </a:rPr>
              <a:t>Pricing:</a:t>
            </a:r>
          </a:p>
        </p:txBody>
      </p:sp>
      <p:sp>
        <p:nvSpPr>
          <p:cNvPr id="4" name="CuadroTexto 3">
            <a:extLst>
              <a:ext uri="{FF2B5EF4-FFF2-40B4-BE49-F238E27FC236}">
                <a16:creationId xmlns:a16="http://schemas.microsoft.com/office/drawing/2014/main" id="{9823BF22-D78B-3A45-9A5A-9C216452561F}"/>
              </a:ext>
            </a:extLst>
          </p:cNvPr>
          <p:cNvSpPr txBox="1"/>
          <p:nvPr/>
        </p:nvSpPr>
        <p:spPr>
          <a:xfrm>
            <a:off x="1079500" y="1460500"/>
            <a:ext cx="5080000" cy="508000"/>
          </a:xfrm>
          <a:prstGeom prst="rect">
            <a:avLst/>
          </a:prstGeom>
          <a:noFill/>
        </p:spPr>
        <p:txBody>
          <a:bodyPr vertOverflow="overflow" vert="horz" wrap="square" rtlCol="0" anchor="t">
            <a:spAutoFit/>
          </a:bodyPr>
          <a:lstStyle/>
          <a:p>
            <a:pPr algn="l"/>
            <a:r>
              <a:rPr lang="es-CO" sz="2800" b="1">
                <a:solidFill>
                  <a:srgbClr val="A83A4B"/>
                </a:solidFill>
                <a:latin typeface="Inter"/>
              </a:rPr>
              <a:t>Launch spot: USD 500</a:t>
            </a:r>
          </a:p>
        </p:txBody>
      </p:sp>
      <p:sp>
        <p:nvSpPr>
          <p:cNvPr id="5" name="CuadroTexto 4">
            <a:extLst>
              <a:ext uri="{FF2B5EF4-FFF2-40B4-BE49-F238E27FC236}">
                <a16:creationId xmlns:a16="http://schemas.microsoft.com/office/drawing/2014/main" id="{E8E8157F-64A9-E944-BAC9-742DF56512B5}"/>
              </a:ext>
            </a:extLst>
          </p:cNvPr>
          <p:cNvSpPr txBox="1"/>
          <p:nvPr/>
        </p:nvSpPr>
        <p:spPr>
          <a:xfrm>
            <a:off x="1079500" y="2032000"/>
            <a:ext cx="6350000" cy="381000"/>
          </a:xfrm>
          <a:prstGeom prst="rect">
            <a:avLst/>
          </a:prstGeom>
          <a:noFill/>
        </p:spPr>
        <p:txBody>
          <a:bodyPr vertOverflow="overflow" vert="horz" wrap="square" rtlCol="0" anchor="t">
            <a:spAutoFit/>
          </a:bodyPr>
          <a:lstStyle/>
          <a:p>
            <a:pPr algn="l"/>
            <a:r>
              <a:rPr lang="es-CO" sz="1600">
                <a:solidFill>
                  <a:srgbClr val="8A95A3"/>
                </a:solidFill>
                <a:latin typeface="DM Sans"/>
              </a:rPr>
              <a:t>Standard price after launch: USD 900</a:t>
            </a:r>
          </a:p>
        </p:txBody>
      </p:sp>
      <p:sp>
        <p:nvSpPr>
          <p:cNvPr id="6" name="CuadroTexto 5">
            <a:extLst>
              <a:ext uri="{FF2B5EF4-FFF2-40B4-BE49-F238E27FC236}">
                <a16:creationId xmlns:a16="http://schemas.microsoft.com/office/drawing/2014/main" id="{215DF277-E09E-A24F-BB56-B48B1AB44B4A}"/>
              </a:ext>
            </a:extLst>
          </p:cNvPr>
          <p:cNvSpPr txBox="1"/>
          <p:nvPr/>
        </p:nvSpPr>
        <p:spPr>
          <a:xfrm>
            <a:off x="1079500" y="2794000"/>
            <a:ext cx="7620000" cy="2286000"/>
          </a:xfrm>
          <a:prstGeom prst="rect">
            <a:avLst/>
          </a:prstGeom>
          <a:noFill/>
        </p:spPr>
        <p:txBody>
          <a:bodyPr vertOverflow="overflow" vert="horz" wrap="square" rtlCol="0" anchor="t">
            <a:spAutoFit/>
          </a:bodyPr>
          <a:lstStyle/>
          <a:p>
            <a:pPr algn="l"/>
            <a:r>
              <a:rPr lang="es-CO">
                <a:solidFill>
                  <a:srgbClr val="C8CED8"/>
                </a:solidFill>
                <a:latin typeface="DM Sans"/>
              </a:rPr>
              <a:t>Format:
→  12-question async intake form
→  24-hour delivery
→  5-page PDF + Loom walkthrough
→  No call required</a:t>
            </a:r>
          </a:p>
        </p:txBody>
      </p:sp>
      <p:sp>
        <p:nvSpPr>
          <p:cNvPr id="7" name="CuadroTexto 6">
            <a:extLst>
              <a:ext uri="{FF2B5EF4-FFF2-40B4-BE49-F238E27FC236}">
                <a16:creationId xmlns:a16="http://schemas.microsoft.com/office/drawing/2014/main" id="{0ECFCB01-F9EF-D24A-81E9-FFCD1854AF57}"/>
              </a:ext>
            </a:extLst>
          </p:cNvPr>
          <p:cNvSpPr txBox="1"/>
          <p:nvPr/>
        </p:nvSpPr>
        <p:spPr>
          <a:xfrm>
            <a:off x="1079500" y="5334000"/>
            <a:ext cx="5080000" cy="381000"/>
          </a:xfrm>
          <a:prstGeom prst="rect">
            <a:avLst/>
          </a:prstGeom>
          <a:noFill/>
        </p:spPr>
        <p:txBody>
          <a:bodyPr vertOverflow="overflow" vert="horz" wrap="square" rtlCol="0" anchor="t">
            <a:spAutoFit/>
          </a:bodyPr>
          <a:lstStyle/>
          <a:p>
            <a:pPr algn="l"/>
            <a:r>
              <a:rPr lang="es-CO" b="1">
                <a:solidFill>
                  <a:srgbClr val="A83A4B"/>
                </a:solidFill>
                <a:latin typeface="DM Sans"/>
              </a:rPr>
              <a:t>2 launch spots available.</a:t>
            </a:r>
          </a:p>
        </p:txBody>
      </p:sp>
      <p:sp>
        <p:nvSpPr>
          <p:cNvPr id="8" name="CuadroTexto 7">
            <a:extLst>
              <a:ext uri="{FF2B5EF4-FFF2-40B4-BE49-F238E27FC236}">
                <a16:creationId xmlns:a16="http://schemas.microsoft.com/office/drawing/2014/main" id="{D8CAEBE0-C511-DD40-92DE-6B90C72001CC}"/>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06 / 08</a:t>
            </a:r>
          </a:p>
        </p:txBody>
      </p:sp>
    </p:spTree>
    <p:extLst>
      <p:ext uri="{BB962C8B-B14F-4D97-AF65-F5344CB8AC3E}">
        <p14:creationId xmlns:p14="http://schemas.microsoft.com/office/powerpoint/2010/main" val="228722365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3F6FA">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1FC7F21C-3722-A546-9AFF-E141E4389A31}"/>
              </a:ext>
            </a:extLst>
          </p:cNvPr>
          <p:cNvSpPr/>
          <p:nvPr/>
        </p:nvSpPr>
        <p:spPr>
          <a:xfrm>
            <a:off x="762000" y="762000"/>
            <a:ext cx="63500" cy="762000"/>
          </a:xfrm>
          <a:prstGeom prst="rect">
            <a:avLst/>
          </a:prstGeom>
          <a:solidFill>
            <a:srgbClr val="A83A4B"/>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5DEE7F93-555F-D840-AF62-AA867F3A9176}"/>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200" b="1">
                <a:solidFill>
                  <a:srgbClr val="1A2332"/>
                </a:solidFill>
                <a:latin typeface="Inter"/>
              </a:rPr>
              <a:t>Best fit:</a:t>
            </a:r>
          </a:p>
        </p:txBody>
      </p:sp>
      <p:sp>
        <p:nvSpPr>
          <p:cNvPr id="4" name="CuadroTexto 3">
            <a:extLst>
              <a:ext uri="{FF2B5EF4-FFF2-40B4-BE49-F238E27FC236}">
                <a16:creationId xmlns:a16="http://schemas.microsoft.com/office/drawing/2014/main" id="{EF29E3A4-1CDD-C24F-9FD4-A0609074FDC8}"/>
              </a:ext>
            </a:extLst>
          </p:cNvPr>
          <p:cNvSpPr txBox="1"/>
          <p:nvPr/>
        </p:nvSpPr>
        <p:spPr>
          <a:xfrm>
            <a:off x="1079500" y="1524000"/>
            <a:ext cx="8255000" cy="4318000"/>
          </a:xfrm>
          <a:prstGeom prst="rect">
            <a:avLst/>
          </a:prstGeom>
          <a:noFill/>
        </p:spPr>
        <p:txBody>
          <a:bodyPr vertOverflow="overflow" vert="horz" wrap="square" rtlCol="0" anchor="t">
            <a:spAutoFit/>
          </a:bodyPr>
          <a:lstStyle/>
          <a:p>
            <a:pPr algn="l"/>
            <a:r>
              <a:rPr lang="es-CO">
                <a:solidFill>
                  <a:srgbClr val="1A2332"/>
                </a:solidFill>
                <a:latin typeface="DM Sans"/>
              </a:rPr>
              <a:t>→  Boutique law firms
→  Marketing / creative agencies
→  Accounting practices
→  Consulting firms
→  Any SMB team using AI daily
     without a written policy
If you'd struggle to answer
'What is your AI policy?' —
this is for you.</a:t>
            </a:r>
          </a:p>
        </p:txBody>
      </p:sp>
      <p:sp>
        <p:nvSpPr>
          <p:cNvPr id="5" name="CuadroTexto 4">
            <a:extLst>
              <a:ext uri="{FF2B5EF4-FFF2-40B4-BE49-F238E27FC236}">
                <a16:creationId xmlns:a16="http://schemas.microsoft.com/office/drawing/2014/main" id="{F5400FE6-A77B-B745-BBDA-F0F1CA9B27FA}"/>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07 / 08</a:t>
            </a:r>
          </a:p>
        </p:txBody>
      </p:sp>
    </p:spTree>
    <p:extLst>
      <p:ext uri="{BB962C8B-B14F-4D97-AF65-F5344CB8AC3E}">
        <p14:creationId xmlns:p14="http://schemas.microsoft.com/office/powerpoint/2010/main" val="295389901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D1829">
            <a:alpha val="100000"/>
          </a:srgb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E19FA83-C9BB-6F43-BD33-E11F49724039}"/>
              </a:ext>
            </a:extLst>
          </p:cNvPr>
          <p:cNvSpPr/>
          <p:nvPr/>
        </p:nvSpPr>
        <p:spPr>
          <a:xfrm>
            <a:off x="0" y="0"/>
            <a:ext cx="12192000" cy="76200"/>
          </a:xfrm>
          <a:prstGeom prst="rect">
            <a:avLst/>
          </a:prstGeom>
          <a:solidFill>
            <a:srgbClr val="A83A4B"/>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01317E69-CEB9-AF43-B19B-F09400D1C7A6}"/>
              </a:ext>
            </a:extLst>
          </p:cNvPr>
          <p:cNvSpPr txBox="1"/>
          <p:nvPr/>
        </p:nvSpPr>
        <p:spPr>
          <a:xfrm>
            <a:off x="1079500" y="762000"/>
            <a:ext cx="7620000" cy="508000"/>
          </a:xfrm>
          <a:prstGeom prst="rect">
            <a:avLst/>
          </a:prstGeom>
          <a:noFill/>
        </p:spPr>
        <p:txBody>
          <a:bodyPr vertOverflow="overflow" vert="horz" wrap="square" rtlCol="0" anchor="t">
            <a:spAutoFit/>
          </a:bodyPr>
          <a:lstStyle/>
          <a:p>
            <a:pPr algn="l"/>
            <a:r>
              <a:rPr lang="es-CO" sz="2600" b="1">
                <a:solidFill>
                  <a:srgbClr val="F3F6FA"/>
                </a:solidFill>
                <a:latin typeface="Inter"/>
              </a:rPr>
              <a:t>Launching in 2 days.</a:t>
            </a:r>
          </a:p>
        </p:txBody>
      </p:sp>
      <p:sp>
        <p:nvSpPr>
          <p:cNvPr id="4" name="CuadroTexto 3">
            <a:extLst>
              <a:ext uri="{FF2B5EF4-FFF2-40B4-BE49-F238E27FC236}">
                <a16:creationId xmlns:a16="http://schemas.microsoft.com/office/drawing/2014/main" id="{0DDFCDEE-C3BD-0F41-B6DA-F41AA1057407}"/>
              </a:ext>
            </a:extLst>
          </p:cNvPr>
          <p:cNvSpPr txBox="1"/>
          <p:nvPr/>
        </p:nvSpPr>
        <p:spPr>
          <a:xfrm>
            <a:off x="1079500" y="1524000"/>
            <a:ext cx="7620000" cy="2032000"/>
          </a:xfrm>
          <a:prstGeom prst="rect">
            <a:avLst/>
          </a:prstGeom>
          <a:noFill/>
        </p:spPr>
        <p:txBody>
          <a:bodyPr vertOverflow="overflow" vert="horz" wrap="square" rtlCol="0" anchor="t">
            <a:spAutoFit/>
          </a:bodyPr>
          <a:lstStyle/>
          <a:p>
            <a:pPr algn="l"/>
            <a:r>
              <a:rPr lang="es-CO" sz="2000">
                <a:solidFill>
                  <a:srgbClr val="C8CED8"/>
                </a:solidFill>
                <a:latin typeface="DM Sans"/>
              </a:rPr>
              <a:t>If you want to be first —
DM me 'SPRINT' now.
I'll send you the intake form
before the public announcement.</a:t>
            </a:r>
          </a:p>
        </p:txBody>
      </p:sp>
      <p:sp>
        <p:nvSpPr>
          <p:cNvPr id="5" name="CuadroTexto 4">
            <a:extLst>
              <a:ext uri="{FF2B5EF4-FFF2-40B4-BE49-F238E27FC236}">
                <a16:creationId xmlns:a16="http://schemas.microsoft.com/office/drawing/2014/main" id="{54FAB6A3-C2BF-7F4C-9C1F-F6C7269AA29E}"/>
              </a:ext>
            </a:extLst>
          </p:cNvPr>
          <p:cNvSpPr txBox="1"/>
          <p:nvPr/>
        </p:nvSpPr>
        <p:spPr>
          <a:xfrm>
            <a:off x="1079500" y="3810000"/>
            <a:ext cx="6350000" cy="762000"/>
          </a:xfrm>
          <a:prstGeom prst="rect">
            <a:avLst/>
          </a:prstGeom>
          <a:noFill/>
        </p:spPr>
        <p:txBody>
          <a:bodyPr vertOverflow="overflow" vert="horz" wrap="square" rtlCol="0" anchor="t">
            <a:spAutoFit/>
          </a:bodyPr>
          <a:lstStyle/>
          <a:p>
            <a:pPr algn="l"/>
            <a:r>
              <a:rPr lang="es-CO" b="1">
                <a:solidFill>
                  <a:srgbClr val="A83A4B"/>
                </a:solidFill>
                <a:latin typeface="DM Sans"/>
              </a:rPr>
              <a:t>2 launch spots at $500.
Price goes to $900 after.</a:t>
            </a:r>
          </a:p>
        </p:txBody>
      </p:sp>
      <p:sp>
        <p:nvSpPr>
          <p:cNvPr id="6" name="Rectángulo redondeado 5">
            <a:extLst>
              <a:ext uri="{FF2B5EF4-FFF2-40B4-BE49-F238E27FC236}">
                <a16:creationId xmlns:a16="http://schemas.microsoft.com/office/drawing/2014/main" id="{187FF843-1A05-F345-946C-BE38B39A3FD4}"/>
              </a:ext>
            </a:extLst>
          </p:cNvPr>
          <p:cNvSpPr/>
          <p:nvPr/>
        </p:nvSpPr>
        <p:spPr>
          <a:xfrm>
            <a:off x="1079500" y="5207000"/>
            <a:ext cx="7112000" cy="635000"/>
          </a:xfrm>
          <a:prstGeom prst="roundRect">
            <a:avLst/>
          </a:prstGeom>
          <a:solidFill>
            <a:srgbClr val="A83A4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s-CO" sz="1600" b="1">
                <a:solidFill>
                  <a:srgbClr val="FFFFFF"/>
                </a:solidFill>
                <a:latin typeface="DM Sans"/>
              </a:rPr>
              <a:t>💬  DM me 'SPRINT' to get early access at the launch price</a:t>
            </a:r>
          </a:p>
        </p:txBody>
      </p:sp>
      <p:sp>
        <p:nvSpPr>
          <p:cNvPr id="7" name="CuadroTexto 6">
            <a:extLst>
              <a:ext uri="{FF2B5EF4-FFF2-40B4-BE49-F238E27FC236}">
                <a16:creationId xmlns:a16="http://schemas.microsoft.com/office/drawing/2014/main" id="{043F37E6-ED36-2A48-8EA2-168A20B33857}"/>
              </a:ext>
            </a:extLst>
          </p:cNvPr>
          <p:cNvSpPr txBox="1"/>
          <p:nvPr/>
        </p:nvSpPr>
        <p:spPr>
          <a:xfrm>
            <a:off x="10795000" y="6096000"/>
            <a:ext cx="1016000" cy="317500"/>
          </a:xfrm>
          <a:prstGeom prst="rect">
            <a:avLst/>
          </a:prstGeom>
          <a:noFill/>
        </p:spPr>
        <p:txBody>
          <a:bodyPr vertOverflow="overflow" vert="horz" wrap="square" rtlCol="0" anchor="t">
            <a:spAutoFit/>
          </a:bodyPr>
          <a:lstStyle/>
          <a:p>
            <a:pPr algn="l"/>
            <a:r>
              <a:rPr lang="es-CO" sz="1400"/>
              <a:t>08 / 08</a:t>
            </a:r>
          </a:p>
        </p:txBody>
      </p:sp>
    </p:spTree>
    <p:extLst>
      <p:ext uri="{BB962C8B-B14F-4D97-AF65-F5344CB8AC3E}">
        <p14:creationId xmlns:p14="http://schemas.microsoft.com/office/powerpoint/2010/main" val="1239102867"/>
      </p:ext>
    </p:extLst>
  </p:cSld>
  <p:clrMapOvr>
    <a:masterClrMapping/>
  </p:clrMapOvr>
</p:sld>
</file>

<file path=ppt/theme/theme1.xml><?xml version="1.0" encoding="utf-8"?>
<a:theme xmlns:a="http://schemas.openxmlformats.org/drawingml/2006/main" name="Tema de Office">
  <a:themeElements>
    <a:clrScheme name="AI Governance Editorial">
      <a:dk1>
        <a:srgbClr val="F3F6FA"/>
      </a:dk1>
      <a:lt1>
        <a:srgbClr val="111F35"/>
      </a:lt1>
      <a:dk2>
        <a:srgbClr val="FFFFFF"/>
      </a:dk2>
      <a:lt2>
        <a:srgbClr val="3B4452"/>
      </a:lt2>
      <a:accent1>
        <a:srgbClr val="C98B2B"/>
      </a:accent1>
      <a:accent2>
        <a:srgbClr val="C4513E"/>
      </a:accent2>
      <a:accent3>
        <a:srgbClr val="2F5DA8"/>
      </a:accent3>
      <a:accent4>
        <a:srgbClr val="2C8A87"/>
      </a:accent4>
      <a:accent5>
        <a:srgbClr val="7A4F78"/>
      </a:accent5>
      <a:accent6>
        <a:srgbClr val="2D8C62"/>
      </a:accent6>
      <a:hlink>
        <a:srgbClr val="C98B2B"/>
      </a:hlink>
      <a:folHlink>
        <a:srgbClr val="7A4F78"/>
      </a:folHlink>
    </a:clrScheme>
    <a:fontScheme name="AI Governance Fonts">
      <a:majorFont>
        <a:latin typeface="Inter"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6C1315E-EBB4-974A-82DE-CFF9F52E6FBD}">
  <we:reference id="wa200010001" version="1.0.0.0" store="en-US" storeType="OMEX"/>
  <we:alternateReferences>
    <we:reference id="wa200010001" version="1.0.0.0" store=""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1665</TotalTime>
  <Words>4252</Words>
  <Application>Microsoft Macintosh PowerPoint</Application>
  <PresentationFormat>Panorámica</PresentationFormat>
  <Paragraphs>343</Paragraphs>
  <Slides>90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90</vt:i4>
      </vt:variant>
    </vt:vector>
  </HeadingPairs>
  <TitlesOfParts>
    <vt:vector size="94" baseType="lpstr">
      <vt:lpstr>Arial</vt:lpstr>
      <vt:lpstr>DM Sans</vt:lpstr>
      <vt:lpstr>Inter</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Santiago Garces Chavarria</dc:creator>
  <cp:lastModifiedBy>Santiago Garces Chavarria</cp:lastModifiedBy>
  <cp:revision>1</cp:revision>
  <dcterms:created xsi:type="dcterms:W3CDTF">2026-03-10T23:43:32Z</dcterms:created>
  <dcterms:modified xsi:type="dcterms:W3CDTF">2026-03-12T03:29:18Z</dcterms:modified>
</cp:coreProperties>
</file>