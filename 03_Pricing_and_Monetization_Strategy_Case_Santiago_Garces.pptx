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0a5646a064fa3" /><Relationship Type="http://schemas.openxmlformats.org/officeDocument/2006/relationships/extended-properties" Target="/docProps/app.xml" Id="R09c343b89c454889" /><Relationship Type="http://schemas.openxmlformats.org/officeDocument/2006/relationships/officeDocument" Target="/ppt/presentation.xml" Id="R9a8c282bcef8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121a20aad4449"/>
  </p:sldMasterIdLst>
  <p:notesMasterIdLst>
    <p:notesMasterId xmlns:r="http://schemas.openxmlformats.org/officeDocument/2006/relationships" r:id="R413aaba9ab614c27"/>
  </p:notesMasterIdLst>
  <p:sldIdLst>
    <p:sldId xmlns:r="http://schemas.openxmlformats.org/officeDocument/2006/relationships" id="256" r:id="R1f4b0819637c4fd1"/>
    <p:sldId xmlns:r="http://schemas.openxmlformats.org/officeDocument/2006/relationships" id="257" r:id="Rb02af66f0e0346ad"/>
    <p:sldId xmlns:r="http://schemas.openxmlformats.org/officeDocument/2006/relationships" id="258" r:id="R76540f33ca26469a"/>
    <p:sldId xmlns:r="http://schemas.openxmlformats.org/officeDocument/2006/relationships" id="259" r:id="R8211707acaec47dc"/>
    <p:sldId xmlns:r="http://schemas.openxmlformats.org/officeDocument/2006/relationships" id="260" r:id="R3f858def25bd4211"/>
    <p:sldId xmlns:r="http://schemas.openxmlformats.org/officeDocument/2006/relationships" id="261" r:id="Rd94b9384896d4a8a"/>
    <p:sldId xmlns:r="http://schemas.openxmlformats.org/officeDocument/2006/relationships" id="262" r:id="R0e83e388ba56454d"/>
    <p:sldId xmlns:r="http://schemas.openxmlformats.org/officeDocument/2006/relationships" id="263" r:id="Rc6ed6587d6804b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121a20aad4449" /><Relationship Type="http://schemas.openxmlformats.org/officeDocument/2006/relationships/theme" Target="/ppt/theme/theme1.xml" Id="R59151fb7c1f744eb" /><Relationship Type="http://schemas.openxmlformats.org/officeDocument/2006/relationships/notesMaster" Target="/ppt/notesMasters/notesMaster1.xml" Id="R413aaba9ab614c27" /><Relationship Type="http://schemas.openxmlformats.org/officeDocument/2006/relationships/presProps" Target="/ppt/presProps.xml" Id="Rd62d143e5e5a4bb9" /><Relationship Type="http://schemas.openxmlformats.org/officeDocument/2006/relationships/viewProps" Target="/ppt/viewProps.xml" Id="Rf97efb657db7440c" /><Relationship Type="http://schemas.openxmlformats.org/officeDocument/2006/relationships/tableStyles" Target="/ppt/tableStyles.xml" Id="Ra4eea47be3d64188" /><Relationship Type="http://schemas.openxmlformats.org/officeDocument/2006/relationships/slide" Target="/ppt/slides/slide1.xml" Id="R1f4b0819637c4fd1" /><Relationship Type="http://schemas.openxmlformats.org/officeDocument/2006/relationships/slide" Target="/ppt/slides/slide2.xml" Id="Rb02af66f0e0346ad" /><Relationship Type="http://schemas.openxmlformats.org/officeDocument/2006/relationships/slide" Target="/ppt/slides/slide3.xml" Id="R76540f33ca26469a" /><Relationship Type="http://schemas.openxmlformats.org/officeDocument/2006/relationships/slide" Target="/ppt/slides/slide4.xml" Id="R8211707acaec47dc" /><Relationship Type="http://schemas.openxmlformats.org/officeDocument/2006/relationships/slide" Target="/ppt/slides/slide5.xml" Id="R3f858def25bd4211" /><Relationship Type="http://schemas.openxmlformats.org/officeDocument/2006/relationships/slide" Target="/ppt/slides/slide6.xml" Id="Rd94b9384896d4a8a" /><Relationship Type="http://schemas.openxmlformats.org/officeDocument/2006/relationships/slide" Target="/ppt/slides/slide7.xml" Id="R0e83e388ba56454d" /><Relationship Type="http://schemas.openxmlformats.org/officeDocument/2006/relationships/slide" Target="/ppt/slides/slide8.xml" Id="Rc6ed6587d6804b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d5b79502064c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42fde58964238" /><Relationship Type="http://schemas.openxmlformats.org/officeDocument/2006/relationships/notesMaster" Target="/ppt/notesMasters/notesMaster1.xml" Id="R77843f3f67b546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af7569e4034135" /><Relationship Type="http://schemas.openxmlformats.org/officeDocument/2006/relationships/notesMaster" Target="/ppt/notesMasters/notesMaster1.xml" Id="R19ba025b2bf5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0eae09b7f3496d" /><Relationship Type="http://schemas.openxmlformats.org/officeDocument/2006/relationships/notesMaster" Target="/ppt/notesMasters/notesMaster1.xml" Id="R770d7148ecaf4e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b2556185824df2" /><Relationship Type="http://schemas.openxmlformats.org/officeDocument/2006/relationships/notesMaster" Target="/ppt/notesMasters/notesMaster1.xml" Id="Ra1a9ce8168ec44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7aa2ab71c74f68" /><Relationship Type="http://schemas.openxmlformats.org/officeDocument/2006/relationships/notesMaster" Target="/ppt/notesMasters/notesMaster1.xml" Id="Ra72c47f36634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20654490548bd" /><Relationship Type="http://schemas.openxmlformats.org/officeDocument/2006/relationships/notesMaster" Target="/ppt/notesMasters/notesMaster1.xml" Id="R7bbbc68cb3ef4d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41f5c2bd1b42f9" /><Relationship Type="http://schemas.openxmlformats.org/officeDocument/2006/relationships/notesMaster" Target="/ppt/notesMasters/notesMaster1.xml" Id="R779a1783c88b44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05c110daf44a18" /><Relationship Type="http://schemas.openxmlformats.org/officeDocument/2006/relationships/notesMaster" Target="/ppt/notesMasters/notesMaster1.xml" Id="R9faa7936614248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f465d478d476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3E5E309-6386-4C40-BC63-2D31BC03894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1D8A694-DE4F-4443-925A-328FA28B66F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5E55A9-B3EF-4608-A6CF-6EF4993BA31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E522C4-1BA6-44C6-A673-BCBCB843094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2f2ef000e24c15" /><Relationship Type="http://schemas.openxmlformats.org/officeDocument/2006/relationships/slideLayout" Target="/ppt/slideLayouts/slideLayout2.xml" Id="R50a1cbd0146a4e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1C5FF1-FCAA-4854-BB4A-FAA0E86E7F1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a1cbd0146a4e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28b488cca94482" /><Relationship Type="http://schemas.openxmlformats.org/officeDocument/2006/relationships/notesSlide" Target="/ppt/notesSlides/notesSlide1.xml" Id="R7ec33e20d97e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bc97825d744f33" /><Relationship Type="http://schemas.openxmlformats.org/officeDocument/2006/relationships/notesSlide" Target="/ppt/notesSlides/notesSlide2.xml" Id="Rabcfb556ebd74d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824b0565674c94" /><Relationship Type="http://schemas.openxmlformats.org/officeDocument/2006/relationships/notesSlide" Target="/ppt/notesSlides/notesSlide3.xml" Id="R0fc1d989894a45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469148a0384191" /><Relationship Type="http://schemas.openxmlformats.org/officeDocument/2006/relationships/notesSlide" Target="/ppt/notesSlides/notesSlide4.xml" Id="R47bb10641dd1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7a3fcfb1174013" /><Relationship Type="http://schemas.openxmlformats.org/officeDocument/2006/relationships/notesSlide" Target="/ppt/notesSlides/notesSlide5.xml" Id="Re02b924f37b847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306a783a504be3" /><Relationship Type="http://schemas.openxmlformats.org/officeDocument/2006/relationships/notesSlide" Target="/ppt/notesSlides/notesSlide6.xml" Id="R6b9189f56e69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1f0b971c3d45ca" /><Relationship Type="http://schemas.openxmlformats.org/officeDocument/2006/relationships/notesSlide" Target="/ppt/notesSlides/notesSlide7.xml" Id="R1131e421684348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f6a52a5e24b49" /><Relationship Type="http://schemas.openxmlformats.org/officeDocument/2006/relationships/notesSlide" Target="/ppt/notesSlides/notesSlide8.xml" Id="R89e373e594894c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70888-C3F3-4EC8-927D-614F9356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41C30-2FC9-46D0-ABF3-6930380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9AB68-DD32-40C9-BEA3-5199C19A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4D769-6B93-41F8-B199-C563311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9535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125EF-8018-4713-A075-97F53C1E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FLAGSHIP CASE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BCFFE-B0D7-4E6E-9A25-459677C0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666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2332"/>
                </a:solidFill>
              </a:defRPr>
            </a:pPr>
            <a:r>
              <a:rPr sz="2550" b="1">
                <a:solidFill>
                  <a:srgbClr val="1A2332"/>
                </a:solidFill>
              </a:rPr>
              <a:t>Pricing Should Follow Buyer Economics, Not a Flat Competitor Average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598E1-2C45-4AE1-AF50-044273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57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568"/>
                </a:solidFill>
              </a:defRPr>
            </a:pPr>
            <a:r>
              <a:rPr sz="1200" b="0">
                <a:solidFill>
                  <a:srgbClr val="4A5568"/>
                </a:solidFill>
              </a:rPr>
              <a:t>Pricing and monetization case built on the same market logic and buyer segmentation from Flagship Case 02.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FCAAC-FA84-4946-A2C8-C427FB2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27063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$49 / $149 / $399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6CC8A-5604-4B4B-926D-E5C53FF2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" y="38481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+35-45% ARPU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4C366-1059-4F70-9E0A-D65B26A1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38481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3 segments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7E7DE-926D-4146-9E6E-E921541C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848100"/>
            <a:ext cx="138874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4 validation tracks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FDA35-0432-434D-A97C-4C326FB5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Work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A923A-7660-4361-83D4-DFC8FC86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743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9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332"/>
                </a:solidFill>
              </a:defRPr>
            </a:pPr>
            <a:r>
              <a:rPr sz="1650" b="1">
                <a:solidFill>
                  <a:srgbClr val="1A2332"/>
                </a:solidFill>
              </a:rPr>
              <a:t>Self-initiated decision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FA79A-96A1-448B-9F53-7031D62E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5FEA1-9359-449F-8C4A-3DC749C3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$49 / $149 / $399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32126-9F0C-4A0B-B3D9-C486732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proposed price ladder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3C04D-3815-45B1-9107-B1ECE9A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6B77A-B9F3-49B0-AB8C-42E7D812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+35-45%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BEF26-FCF9-4C5B-95E9-A6E85962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projected ARPU uplift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08723-F42A-47EF-9747-D04C99FB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E1BE5-83C9-4DDD-82D5-9DF81E70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404AC-BBCD-4884-9E61-A2580E8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target customer segments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8C90E-CC36-4077-9A04-4D983302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20DE8-480D-431E-A7B4-E6DFD02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02F372-F820-4BE8-B45D-51170BC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720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validation tracks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60ED8-A777-498E-A8FC-97BFF64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C5282"/>
                </a:solidFill>
              </a:defRPr>
            </a:pPr>
            <a:r>
              <a:rPr sz="788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2E4E9-7B32-46DD-8054-E989949E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Built as a pricing case that deliberately uses the same market logic and buyer segmentation from Flagship Case 02.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0AB57-6C42-4A85-957D-2DDC709A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81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C90A7E-7684-4DA0-9639-DD8F3708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205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</p:spTree>
    <p:extLst>
      <p:ext uri="{BB962C8B-B14F-4D97-AF65-F5344CB8AC3E}">
        <p14:creationId xmlns:p14="http://schemas.microsoft.com/office/powerpoint/2010/main" val="711852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E7E26-775E-4265-8CBF-E7CAB02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9B185-5E07-45A2-99E7-A425035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1E12B-861F-46F5-9AA9-C3BD7C03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MONETIZATION | AI PRODUCTIVITY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1833A-94B0-443F-8C09-F93E4CC1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03A96-6764-460F-955B-5EECAB4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pricing problem is that one offer is trying to serve unlike buyers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E625A-42CA-4AE7-9F13-3308BDB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same product is being sold to customers with different workflow depth, integration needs, and governance expectations.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8916D-7B17-46E8-BC4E-0ED3515B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0104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3C229-5305-4A00-9598-48C5C53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A5147-1910-43F9-8F66-6123F3F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2B39E-93B6-424F-A066-177CD82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Small teams face too much friction for the value they need.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FCCD2-7A80-49B4-B5E8-35C8B55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B4615-CAB8-450D-B870-6840144A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Growing teams lack a clear mid-tier that matches collaboration and integration needs.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C7F65-FC03-4D71-8329-E5E8E29C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BD2D6-B30B-4A33-B967-3ED9E1B8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Control-heavy buyers see too little structure and too few governance signals.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917C3-BC3A-49E8-B90A-D74C4A15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638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6D537-3A6D-4D5C-8ECA-C1CB68B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Current-state diagnosis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CC25D-FC8D-4A03-B738-D94A8950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332"/>
                </a:solidFill>
              </a:defRPr>
            </a:pPr>
            <a:r>
              <a:rPr sz="1350" b="1">
                <a:solidFill>
                  <a:srgbClr val="1A2332"/>
                </a:solidFill>
              </a:rPr>
              <a:t>A flat price blurs segment logic, weakens expansion revenue, and creates unnecessary churn.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6BC62-983D-4B6A-84C5-65459F04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CEE63-C7D3-4A11-9E22-B68CC65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03 | Pricing and Monetization | Self-initiated decision sample |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D9B33-DE77-4726-9494-BAA17235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5084079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F69A3-6861-4257-AA3D-4EBCC4BF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65324-5A4E-4454-B57F-2257C3D2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26DD8-3850-4480-A9BD-78354449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MONETIZATION | AI PRODUCTIVITY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5098D-6ACE-4542-8A9F-07991CD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E40E2-71CB-413B-B98B-5AABF87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pricing ladder should follow the value ladder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42BBC-5699-4362-9934-487D22A9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Customers pay most for labor saved, workflow fit, and governance when control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09D9-1E95-4648-A23A-E55277D2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12D79-6BB3-467D-BD4B-A181337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D2F8C-9B5B-4112-A0FB-A037E97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0BA54-4948-4B1F-A7FD-765A28D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Value driver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D3813-A2D1-4EA7-B74E-20DFDA1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AF055-7560-4CD0-B2E4-BB020FCE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502D8-091C-4609-B6DD-EB67DC7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A216D-AC57-4AF6-8124-1B1D5AA6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WTP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E5F96-201E-4910-A65C-3519643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12A56-B1BE-4494-AC00-765D3089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BFFA8-EB2D-4EDA-AC6C-09FD584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8A1C7-C0FC-4CD7-9C3C-F40790E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Time saved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4CCE4-11D5-4C40-8B9F-CC0BDB16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8BB07-19BC-4A35-9007-0B68EE04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Reduces labor and turnaround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2F63B-C21B-497D-9E9C-75478E2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B62CE-D30F-4708-91B7-C10EA2C3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48146-55BA-4D71-81C9-BE6D403F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91E518-2BCD-4EA4-9ECE-C0341FA8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A797D-62E7-4423-8EF8-D83AB490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F38C6-3269-48FD-8380-55CACD86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Integration depth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BC4196-D892-4B01-B432-B1F946A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D35F26-3C43-43CD-8BEC-75FAB875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Embeds the product in real workflows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57CB3-BAE5-492C-A696-0D99E22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06CEE-F715-4823-ADF0-AC4F2653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55747C-36F3-4F92-B362-E2D2DDD8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7B12CF-C458-4133-80BA-05E990F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C2D61-07E4-4302-884D-6D2224C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5A37F-0ED3-4A59-AF0C-C324BC7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Collaboration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D2933D-EEAC-4199-B868-9952029E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55037-9C79-429B-B9CF-34F6D7E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Supports multi-user coordination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59DA5-83D6-4882-86BA-80621090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72C4C-9414-4CC2-ADF7-2DD799BF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Medium-High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25AA4F-D01D-4EEB-8018-3E7EF67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EB6DB-8BDA-4FCE-BBF0-3F6D56FE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11CC91-53AE-4D2E-AB3B-130AF8D7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EAEC2D-1D50-4812-A2E9-DF641AC6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Governance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27A553-283C-47C9-A480-3130870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84585A-2684-4870-9B6F-E005EC9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Matters more as control burden rises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740AD0-FD8F-4D13-A4C9-75638998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7DA43E-076D-41F2-95E5-725C942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Medium-High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7C3ED1-A796-4212-A198-5F972963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6B9E44-770B-401E-88F0-FED762A1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75E079-CB44-44EF-BFD7-2B45CD3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422BCA-9449-4FD5-A8A7-8156ECB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Support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573CF3-6DB8-4022-8E35-76A094D5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B8647D-CA0D-4F32-A0F2-DC185DC3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Secondary to workflow value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B21AF3-6A03-462A-96FC-B7A03E6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834C2F-5BB3-4D1E-8525-5EDC6EFF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Low-Medium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6F109E-5477-408E-B6D6-566C8827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This mirrors the buyer logic already established in the commercial-intelligence case.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7F1F37-D23C-4B6B-AC49-9AF8F71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F9B8AD-09CC-42A5-B736-F47F1697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03 | Pricing and Monetization | Self-initiated decision sample | 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73BC80-E739-4467-A1B6-9C7DDD08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136613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CAED3-74FF-4DE1-AB12-EEB25A63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8B99D-D737-4683-860F-5569DAE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149F1-13E0-4473-9532-00EA9D24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MONETIZATION | AI PRODUCTIVITY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FF711-F90A-417D-BF0D-24178F22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94064-5F88-41CA-BEAB-9D8E616C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product should be packaged around three customer maturities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F12DC-F18A-46DF-9C05-FFB4B94B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segment buys a different combination of relief, workflow depth, and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CA30A-EE89-4559-992B-D649B992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213C8-2821-402E-8751-1C6D3E95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5D0F0-686B-43F4-94DF-01B586CE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A8568-2860-4DBD-A5E6-315E8E11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Buyer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F3D7F-4E44-4B8C-B856-D8D0D0C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3F9EC-4044-40FC-9179-1B01FD6B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Illustrative WTP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4122E-A728-477B-8FCB-2DB54918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F1A2B-2038-4AB2-BA3D-F3ABBF4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Packaging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38568-CDAA-4E3E-8AE7-0F0591E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8AD63-2409-49DE-8F47-72F6336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Small 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CA015-F5EF-4985-A766-71477ABE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3CC33-D3EF-4D41-9193-2A440536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Need lean workflow relief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D30EB-BC2A-4E94-98D9-2D57F96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336F1-569B-4C5D-9C73-731EF53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$40-60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7D475-005B-463F-AB0C-6B114D4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033CF-B68D-4F11-B5BD-584DE1F6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Starter tier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E5D25-33D1-4844-8E65-EF308B70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D5DD8-8790-4360-8E00-63FB8BD6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Growing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5D9D5-A0E8-47E9-B446-57E64F6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58AA2-18D8-4420-AA10-CA96322F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Need integration and collaboration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4AF9C-2287-43E3-9202-56990411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A945D-22E7-4D7C-844E-F1474C7A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$120-180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9E032-8C9B-46F2-8AF5-28AF2BE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0A1CA-9411-433F-8EEB-7375991A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Professional tier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3F7C0-2D44-466C-9D74-509DFBE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DE9E6-40D5-4337-A6C7-368B69DF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Control-heavy teams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B41525-02B6-481A-BB27-D3A2EB4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07901-B632-4591-B3F7-5531391B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Need governance and admin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3C0A5B-4905-427E-84C5-EE8D964A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5644BE-5A7F-4F8D-A983-D71F4FBF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$300-500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430291-EABD-4347-8957-5772AA0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512A3B-DDF0-432C-A5CA-77775AE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Business tier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F23E4C-F321-44C3-81BF-CABB5FA0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Segmentation is what turns pricing from arithmetic into strategy.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D3EFDD-E661-4E99-BCBA-EF75877F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6F307D-A384-4AF5-93D1-A094B24A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03 | Pricing and Monetization | Self-initiated decision sample | 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6F5BD5-CC60-4358-93EA-A3F29B98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9174914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4C981-35D7-45EB-9934-310B131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ACD0B-B5A4-40CD-BD32-6D13BB1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7F3E0-05E5-44E7-9A8B-498EEB6F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MONETIZATION | AI PRODUCTIVITY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54105-BB66-47A8-8132-11E3E2F6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3960A-A8FF-4116-99A2-23BCA26D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Packaging rules should reinforce the upgrade path instead of creating escape hatches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CC21A-99FC-4347-BA41-04A6036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commercial discipline is not just the price points. It is the way billing, trials, and add-ons support migration through the ladder.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D1954-BE03-4857-BFE0-1973578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0104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6707-5B15-4F4E-B6BA-842BD6C2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6257B-0AFF-42C8-B2E3-CEE31ED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6345E-B5A9-490C-9789-EA873F4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Default annual billing can support capture without hiding monthly flexibility.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4B94F-7624-4BF5-AD75-51983BC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191F3-2F7E-49AC-9742-42F05C7D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Add-ons should create a bridge to the next tier, not a substitute for moving 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C696A-BF1A-4E78-90F5-77DB04FB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80F5C-B766-450B-A80A-907468E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Governance and admin depth should remain premium anchors for larger buyers.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2B30D-103D-4421-BD85-551F5A6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638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7E44D-938F-480B-9E74-01E7176C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System design 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57797-A754-45A1-88C9-3269D67C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332"/>
                </a:solidFill>
              </a:defRPr>
            </a:pPr>
            <a:r>
              <a:rPr sz="1350" b="1">
                <a:solidFill>
                  <a:srgbClr val="1A2332"/>
                </a:solidFill>
              </a:rPr>
              <a:t>A clean pricing system feels fair because the fences reflect maturity and operating complexity.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378E9-BCF3-4A49-BD31-09BB83B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B43AF-E604-443D-9133-F5C8F86A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03 | Pricing and Monetization | Self-initiated decision sample |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57D2B-878E-4A39-A231-4E6F9E25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321921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B50B1-B8A9-456C-8BA6-E29A152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4F7B0-0D40-4090-A436-B85C9F89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69854-28B1-4D86-9A7D-646AEF5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MONETIZATION | AI PRODUCTIVITY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37F65-202B-4565-A365-03EBCE0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80223-C304-4DE1-8465-B2E474E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recommended tier ladder creates cleaner upgrade fences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A48E5-906E-47DB-85A7-EE239C0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pricing story becomes easier to sell when each tier matches a distinct maturity level.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149BA-8489-4C7E-B62D-E6EB188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A7248-29D6-4FB7-9E27-F63ABB0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E4673-475A-460A-BD8F-DDC09754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03F07-A97A-4194-B959-8B725EA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EA53-48FB-4556-9682-320C24C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9D090-1DAD-4BE6-862B-BC977BA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3B820-3E89-4997-8244-6FDAA68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DE09F-EA7E-47A3-999A-B864A8F9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Feature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0C590-723E-4875-8159-ECAF66F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B2988-3131-4F4E-A777-40364DF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Upgrade fence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E943C-8F03-4F18-A428-CB61F2A9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B34BC-380E-4E28-8AF9-8C251EA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Starter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446D0-06BC-4666-8ED7-16C19B3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7813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EEE66-17C1-404D-B6D5-ACC99733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575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338F7-025C-4E3F-B0AE-11EDA00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7813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A4D92-99C3-448C-9102-14A0CC82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575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1-5 users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3AA65-6B82-4572-8C96-2694B707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7813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EE5D4-5CA9-4775-8BA3-F792A42D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575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Core workflow, limited integrations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A851A-E9B5-4469-B26C-AAA3351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7813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FB465-EDFC-43B0-B88D-4DA4A385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8575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Move up for collaboration/connectivity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5576C-4BEA-4B70-9970-6DBA671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E7891-C303-4741-B007-144DD77A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Professional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F76AD-A66D-4AE1-9DF1-57CD8BB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33375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D639B-8B57-4190-9399-8ECF5D6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0995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$149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1DE41E-620B-4715-8229-2B58AFB9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33375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73037-FFB5-41AB-99EE-89B8CF4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0995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6-25 users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12DE7E-6168-4974-A083-E51EF23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33375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827CD9-B061-4007-A399-8B4BEF9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995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All integrations, collaboration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DB5516-D67B-4DC6-8A74-2E4B0B7D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33375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EBF914-D24F-47DC-ACF3-0AE03E06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40995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Move up for control/admin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52369C-DC10-4FA9-8E6F-67B45D6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2D5CA3-3AC2-433A-8055-8F22CDCA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Business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E347A6-CBD6-4F5F-AD8D-61CD97A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8862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C2AF84-BDEB-4728-9C65-4EDD3A7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9624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$399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DCDD8-F82E-4438-9118-C2E0E9B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8862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162F49-AA1C-470B-982D-AC1B9D9F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624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26-100 users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8B20D4-54BF-4C98-8553-F5A5C10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8862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2FD42D-52FD-4769-8ECD-A5FA51F5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9624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Compliance, admin, custom integrations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1817BE-201A-4DAC-B878-6427DF7B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886200"/>
            <a:ext cx="219456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0B0CED-78A3-4737-B20A-FC2DD5C8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962400"/>
            <a:ext cx="2042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Top tier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158390-114E-4BA2-8461-4EAF7D4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ladder is designed to improve both capture and clarity.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629DB8-E529-4E4D-B9C8-DED3D11C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0F7339-8A9B-4485-8632-240F848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03 | Pricing and Monetization | Self-initiated decision sample | 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6B6372-43C8-4208-BE4D-C775AFA6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9033281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DB8A-D920-4F73-82D9-01A0DB4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C65D-77BD-4327-A660-01DAFEEF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3257A-4E32-424A-9584-EDCF2C14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PRICING STRATEGY | MONETIZATION | AI PRODUCTIVITY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001D1-F723-4A52-AAA2-A3D00AD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2186D-B2DA-42B7-A1E8-13F863C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Rollout should happen in four validation waves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9EF06-BA4E-4C49-A7B7-E1933F3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Pricing becomes credible when it is paired with tests, migration logic, and explicit decision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B7BF-7776-46AD-9BAA-C8FF0E1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F71A0-F7CF-4D4D-AF01-6A9712B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052C7-7821-4513-A247-36089D1C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3D516-7690-4C12-9346-8C95D5B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7FBFA-E4FA-4355-A170-23C521D1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270C0-8417-46B5-8A1A-EBE878E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Primary 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785FE-1A58-47AF-870A-5EDB21C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44515-3633-48FC-862C-BF0909C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Decision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27900-B6B8-460E-8B44-772D525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CB698-9FC3-47AC-AB36-B9DB2C05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ABD94-9A98-4BF5-8F3C-7ED30C2E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F9174-2126-4153-B2CD-BA31C08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Pricing-page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1D2A2-2F60-4119-BFA0-8CA7AE5B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8E730-5410-4E6C-A93A-7F16ADD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Entry conversion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4A74F-7C44-460F-86EA-6FF31A6F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A33A1-3F05-4B38-966B-1BB2B70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Keep if conversion remains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3989D-D26E-42E4-B2AC-06AD7F8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53714-5B32-47C0-8DFD-D97DC7B0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4D49E-64BB-49B5-A81A-5DA1E47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F8E2B-825A-4CA2-97E7-C06605C2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Trial routing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08744-193B-4B13-9FAC-A93C31E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E008E-4135-4DBD-B42B-F4114EF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Activation by 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710B1-C9BF-4BD6-BD6E-84209CA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1CB2D-ED1D-4A32-B3B3-6DA3D85C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Keep if fit improves by segment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E9AB8-3C02-4E0C-8900-9429CD57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CF34B-37BE-49C8-BF6C-B8CF266D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CC271-7BE2-47EE-AFAC-8FA91556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AA429-ECC6-43F5-86DF-F141BD0A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Controlled migration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E498D6-63CE-43D5-883C-044A4B56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6EF94-8597-48B0-91C4-56BCA979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Expansion + downgrade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4DEDF-5E20-4A74-B913-99F9FAD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8E140-6890-416E-950A-2D07963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Scale if retention improves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B20BBE-414B-4EE5-8EF0-3A998615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973577-C277-47BC-8F9C-43BFCB3F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4FF0E7-00D8-4578-AC19-C89C027C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0F9859-8528-414B-AAF5-ED49CEFE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Enterprise interviews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70AD6F-AC9E-4AD9-B5D6-0E8085B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61E86E-EC8C-4202-8565-25F3B98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Governance value perception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644548-7617-41AA-A116-DC4DA86F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32F066-2E4C-461C-96B8-BDF2DE2A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Adjust Business tier if unclear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335525-D3D6-49A1-A5DE-679C04C9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validation plan prevents a pricing reset from becoming an uncontrolled revenue experiment.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2B82C3-74B5-4860-A8E7-6B5E8A5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2C2EAE-D385-4FB3-A167-F003201A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03 | Pricing and Monetization | Self-initiated decision sample | 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DAB9EE-A094-46D8-ADFA-863E27D4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1315855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D067-5AA3-4C04-86EF-53409CFDB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65B8E-C6ED-4543-9957-70453C9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06D6D-01CC-407B-88B5-6036FB0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9B704-9D67-4533-8014-69445618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332"/>
                </a:solidFill>
              </a:defRPr>
            </a:pPr>
            <a:r>
              <a:rPr sz="2250" b="1">
                <a:solidFill>
                  <a:srgbClr val="1A2332"/>
                </a:solidFill>
              </a:rPr>
              <a:t>Good pricing work ends with tests and guardrails, not just a price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26A3-D649-4D16-B527-E616C780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This case shows Santiago can convert market logic into packaging logic and a validation plan rather than stopping at descriptive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15FA0-FA61-4774-862A-9B0A9ED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2674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B6432-175B-48B9-97F7-3093DAE0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Takeaways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86FAF-9A5C-4669-A919-08C45885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F6E52-2C1C-4449-8103-C91F75FF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 pricing-page tests, customer pilots, and call feedback before full rollout.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4E65E-457E-46D3-A2C6-56AA1A46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1BA80-E73F-4EC9-8980-857624E0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C2873-DAAC-4E7F-A641-D681497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3238500" cy="4114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2D5F6-37A0-4E8B-AA84-7BDDE220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71C99-8363-43B0-8ADC-C01DAD6E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08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ED2AF-2E2A-46B7-B6C0-306159E0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C5282"/>
                </a:solidFill>
              </a:defRPr>
            </a:pPr>
            <a:r>
              <a:rPr sz="825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307BD-536B-4CD3-B0DD-F34C805E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Built as a pricing case that deliberately uses the same market logic and buyer segmentation from Flagship Case 02.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AF714-98F4-4B48-B0DD-2129949F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EAD4C-B73C-4B5C-B9C4-C5A71A3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Flagship Case 03 | Pricing and Monetization</a:t>
            </a:r>
          </a:p>
        </p:txBody>
      </p:sp>
    </p:spTree>
    <p:extLst>
      <p:ext uri="{BB962C8B-B14F-4D97-AF65-F5344CB8AC3E}">
        <p14:creationId xmlns:p14="http://schemas.microsoft.com/office/powerpoint/2010/main" val="187714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2026-04-23T00:03:54.5930000Z</dcterms:created>
  <dcterms:modified xsi:type="dcterms:W3CDTF">2026-04-23T00:03:54.5930000Z</dcterms:modified>
</coreProperties>
</file>