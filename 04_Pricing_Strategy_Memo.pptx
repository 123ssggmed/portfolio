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bcb0f29604e20" /><Relationship Type="http://schemas.openxmlformats.org/officeDocument/2006/relationships/extended-properties" Target="/docProps/app.xml" Id="R40cc821043164b88" /><Relationship Type="http://schemas.openxmlformats.org/officeDocument/2006/relationships/officeDocument" Target="/ppt/presentation.xml" Id="R73218729ebcf47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91b2e06801456a"/>
  </p:sldMasterIdLst>
  <p:notesMasterIdLst>
    <p:notesMasterId xmlns:r="http://schemas.openxmlformats.org/officeDocument/2006/relationships" r:id="R895e2208f7124357"/>
  </p:notesMasterIdLst>
  <p:sldIdLst>
    <p:sldId xmlns:r="http://schemas.openxmlformats.org/officeDocument/2006/relationships" id="256" r:id="Rdd85336c9a2c4bec"/>
    <p:sldId xmlns:r="http://schemas.openxmlformats.org/officeDocument/2006/relationships" id="257" r:id="Re39e812ab17d4610"/>
    <p:sldId xmlns:r="http://schemas.openxmlformats.org/officeDocument/2006/relationships" id="258" r:id="Rb227efb75ff2446e"/>
    <p:sldId xmlns:r="http://schemas.openxmlformats.org/officeDocument/2006/relationships" id="259" r:id="R93afd01071a74acd"/>
    <p:sldId xmlns:r="http://schemas.openxmlformats.org/officeDocument/2006/relationships" id="260" r:id="R1b59422a2b6d42b3"/>
    <p:sldId xmlns:r="http://schemas.openxmlformats.org/officeDocument/2006/relationships" id="261" r:id="Rfa8a9cc71afb441d"/>
    <p:sldId xmlns:r="http://schemas.openxmlformats.org/officeDocument/2006/relationships" id="262" r:id="R1a5a926ffa754a9d"/>
    <p:sldId xmlns:r="http://schemas.openxmlformats.org/officeDocument/2006/relationships" id="263" r:id="R7891bb392f8648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1b2e06801456a" /><Relationship Type="http://schemas.openxmlformats.org/officeDocument/2006/relationships/theme" Target="/ppt/theme/theme1.xml" Id="Rea762ee27bdd4693" /><Relationship Type="http://schemas.openxmlformats.org/officeDocument/2006/relationships/notesMaster" Target="/ppt/notesMasters/notesMaster1.xml" Id="R895e2208f7124357" /><Relationship Type="http://schemas.openxmlformats.org/officeDocument/2006/relationships/presProps" Target="/ppt/presProps.xml" Id="R0206da59a5c749c5" /><Relationship Type="http://schemas.openxmlformats.org/officeDocument/2006/relationships/viewProps" Target="/ppt/viewProps.xml" Id="R548c549e4cd94e63" /><Relationship Type="http://schemas.openxmlformats.org/officeDocument/2006/relationships/tableStyles" Target="/ppt/tableStyles.xml" Id="R5ac0e765f0d84d5f" /><Relationship Type="http://schemas.openxmlformats.org/officeDocument/2006/relationships/slide" Target="/ppt/slides/slide1.xml" Id="Rdd85336c9a2c4bec" /><Relationship Type="http://schemas.openxmlformats.org/officeDocument/2006/relationships/slide" Target="/ppt/slides/slide2.xml" Id="Re39e812ab17d4610" /><Relationship Type="http://schemas.openxmlformats.org/officeDocument/2006/relationships/slide" Target="/ppt/slides/slide3.xml" Id="Rb227efb75ff2446e" /><Relationship Type="http://schemas.openxmlformats.org/officeDocument/2006/relationships/slide" Target="/ppt/slides/slide4.xml" Id="R93afd01071a74acd" /><Relationship Type="http://schemas.openxmlformats.org/officeDocument/2006/relationships/slide" Target="/ppt/slides/slide5.xml" Id="R1b59422a2b6d42b3" /><Relationship Type="http://schemas.openxmlformats.org/officeDocument/2006/relationships/slide" Target="/ppt/slides/slide6.xml" Id="Rfa8a9cc71afb441d" /><Relationship Type="http://schemas.openxmlformats.org/officeDocument/2006/relationships/slide" Target="/ppt/slides/slide7.xml" Id="R1a5a926ffa754a9d" /><Relationship Type="http://schemas.openxmlformats.org/officeDocument/2006/relationships/slide" Target="/ppt/slides/slide8.xml" Id="R7891bb392f8648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189cd0a7cc7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82ba99f88439e" /><Relationship Type="http://schemas.openxmlformats.org/officeDocument/2006/relationships/notesMaster" Target="/ppt/notesMasters/notesMaster1.xml" Id="R28f4b50456e8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1b4dfc1ef349e5" /><Relationship Type="http://schemas.openxmlformats.org/officeDocument/2006/relationships/notesMaster" Target="/ppt/notesMasters/notesMaster1.xml" Id="Rad08d4511a38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98bfd1f54f456f" /><Relationship Type="http://schemas.openxmlformats.org/officeDocument/2006/relationships/notesMaster" Target="/ppt/notesMasters/notesMaster1.xml" Id="Re5ac8ce7716d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c5d169e64f449d" /><Relationship Type="http://schemas.openxmlformats.org/officeDocument/2006/relationships/notesMaster" Target="/ppt/notesMasters/notesMaster1.xml" Id="Ree819f2c1335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5c8a3441841f7" /><Relationship Type="http://schemas.openxmlformats.org/officeDocument/2006/relationships/notesMaster" Target="/ppt/notesMasters/notesMaster1.xml" Id="Rabeda65f0048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db5168c6b4b6d" /><Relationship Type="http://schemas.openxmlformats.org/officeDocument/2006/relationships/notesMaster" Target="/ppt/notesMasters/notesMaster1.xml" Id="R6d16610eeb09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b384d8a724d5b" /><Relationship Type="http://schemas.openxmlformats.org/officeDocument/2006/relationships/notesMaster" Target="/ppt/notesMasters/notesMaster1.xml" Id="Re31eef6959cf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3508dcd2e4243" /><Relationship Type="http://schemas.openxmlformats.org/officeDocument/2006/relationships/notesMaster" Target="/ppt/notesMasters/notesMaster1.xml" Id="R8220f9ddfe1c49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54a7e14c34e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2E45122-6249-4D7C-A13C-E883050DDC5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EDF5D1A-1AE3-49EF-BF35-92135BDDD8E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2C9750-575A-4BC9-BB36-865E1DDC5E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B3F4F0-7F8D-46AA-9ED1-A3F97288031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bbbcdf00c1d44d4" /><Relationship Type="http://schemas.openxmlformats.org/officeDocument/2006/relationships/slideLayout" Target="/ppt/slideLayouts/slideLayout2.xml" Id="R31376cb9573a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3F2519-A318-4413-91D1-F599574FD71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76cb9573a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5d75dbc4848b9" /><Relationship Type="http://schemas.openxmlformats.org/officeDocument/2006/relationships/notesSlide" Target="/ppt/notesSlides/notesSlide1.xml" Id="R3d6ca57dfc7c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8cf371a954c59" /><Relationship Type="http://schemas.openxmlformats.org/officeDocument/2006/relationships/notesSlide" Target="/ppt/notesSlides/notesSlide2.xml" Id="Rcf4a817374fb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1645ed2114d25" /><Relationship Type="http://schemas.openxmlformats.org/officeDocument/2006/relationships/notesSlide" Target="/ppt/notesSlides/notesSlide3.xml" Id="R4f04fdc26aac43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a1074274e4270" /><Relationship Type="http://schemas.openxmlformats.org/officeDocument/2006/relationships/notesSlide" Target="/ppt/notesSlides/notesSlide4.xml" Id="R51bc538186b849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b0612a72b4f20" /><Relationship Type="http://schemas.openxmlformats.org/officeDocument/2006/relationships/notesSlide" Target="/ppt/notesSlides/notesSlide5.xml" Id="R70102565a44a45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94d204dc84d77" /><Relationship Type="http://schemas.openxmlformats.org/officeDocument/2006/relationships/chart" Target="/ppt/slides/charts/chart1.xml" Id="R47d0d819be8045d1" /><Relationship Type="http://schemas.openxmlformats.org/officeDocument/2006/relationships/notesSlide" Target="/ppt/notesSlides/notesSlide6.xml" Id="R88927a617c2d4a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f4af2eb9ba430b" /><Relationship Type="http://schemas.openxmlformats.org/officeDocument/2006/relationships/notesSlide" Target="/ppt/notesSlides/notesSlide7.xml" Id="R959f572dd306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fcb5cc87a40aa" /><Relationship Type="http://schemas.openxmlformats.org/officeDocument/2006/relationships/notesSlide" Target="/ppt/notesSlides/notesSlide8.xml" Id="Rfe759b9e76cb44e8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Monthly price</c:v>
          </c:tx>
          <c:cat>
            <c:strLit>
              <c:ptCount val="3"/>
              <c:pt idx="0">
                <c:v>Starter</c:v>
              </c:pt>
              <c:pt idx="1">
                <c:v>Professional</c:v>
              </c:pt>
              <c:pt idx="2">
                <c:v>Business</c:v>
              </c:pt>
            </c:strLit>
          </c:cat>
          <c:val>
            <c:numLit>
              <c:formatCode/>
              <c:ptCount val="3"/>
              <c:pt idx="0">
                <c:v>49</c:v>
              </c:pt>
              <c:pt idx="1">
                <c:v>149</c:v>
              </c:pt>
              <c:pt idx="2">
                <c:v>399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33289-4DB3-402A-B9AA-18F9CA8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738F4-1596-4DBF-B10F-0DBC370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B2431-C2A1-42C7-810F-447AE60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5784-19B6-425F-95C3-9BAE569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PRICING STRATEGY MEMO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483F5-CCE4-4BD4-957C-3D2CE63A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Value Drivers, Segmentation, and Tier Design for B2B SaaS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50637-BA6E-4DAE-A555-51B2099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pricing recommendation that connects willingness to pay, packaging logic, and commercial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77EA5-7ACE-41B9-83B0-BD2A2DA0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33540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0DE85-3BD6-49EA-A743-6CE71FF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14490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3 target segments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9D5D0-6C4A-49A4-96BB-258BBCA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855" y="3733800"/>
            <a:ext cx="133540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08C7D-12FD-4AF4-AF2C-168237C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800475"/>
            <a:ext cx="114490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$49 / $149 / $399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3AFF6-E09F-44CD-AE69-0417DF73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51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FBFA3-908E-49D4-8F63-2330210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+35-45% ARPU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7FC1F-15AA-4AE9-AC45-567C10B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733800"/>
            <a:ext cx="158686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485C7-2310-46D1-9C53-9F2D418B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800475"/>
            <a:ext cx="13963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Self-initiated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309F3-69D6-4BE5-B306-BB1F8DDE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C9531-042C-44C8-A817-89F11B9F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1082-2F89-4E76-BCD9-2696B642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Self-initiated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1FA80-93F8-44FB-9383-8DDD9B61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$49 / $149 / $399  recommended tier ladder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340  active customers in scenario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+35-45%  projected ARPU uplift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C8B93-C5BD-453B-8A29-97A1B07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325A7-6A2D-461A-9D38-7F8513D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strategy memo based on real pricing research methodology. Simulated decision-grade sample.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C2E6E-E255-4A8A-81EC-6D8ADC4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1CC54-3409-46FC-853F-77F49D7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15857384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C84F5-0A4B-4EE7-9096-F252D9A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22D42-3B91-4EEA-B341-AA2F2A9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42EF5-9698-4010-9861-134E290F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A3527-A464-4D21-9324-3EF1C9E0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9411-A69E-4BE2-8FAE-DEA51A0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pricing problem was a segmentation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60739-895D-454C-856B-BBFB41EE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single tier forced unlike customers into the same value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79D53-516D-4E6F-A978-FC70046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6BD03-D2CB-4232-B5C4-43B21CB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DAE44-237B-4804-ABBA-E784248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93734-BB1F-4F2D-82ED-9E4A268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current product had 340 active customers on a flat $99/month tier.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852A-49F8-45EE-8C50-64A5710E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5CFC7-0657-4A72-8C5C-974C3A74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Expansion revenue was limited because larger accounts had no clear upgrade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48014-AF77-4363-B3BB-4523A77F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B63F4-83F0-40C7-9DD6-4683698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Smaller customers faced unnecessary feature complexity while enterprise prospects lacked control features.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23CE9-AF7D-4EEA-B5D0-ACC7716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7873A-7E9E-4055-96B2-2F54EB0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Decision 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2A26A-54EB-4215-BAA2-F64CB618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Redesign pricing so the product captures value more precisely without slowing adoption.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75765-1268-478F-AE83-5D0D5F4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90D94-F3D7-4CDB-A515-B1D1938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B47E8-2799-4CDC-9E84-2A5F332A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333742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8381E-DAE1-49C9-B0F6-82AA129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05013-009F-4751-B430-2A577E7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C3080-0B88-4757-84A5-22AB70D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59E03-594F-490E-840F-95E37B70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05928-85DD-4E73-B9AC-78692A0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Five value drivers explain willingness to 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3CB8-95A1-4376-82F9-3CCAC40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pricing model should follow the order in which customers actually experience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A2232-DCE1-4BD0-8BDA-329C133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3024F-DFC8-4210-9093-699E1BE9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Time saved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E817B-4142-459E-BB68-E17A6FB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Highest WTP impact because customers recover 8-12 hours per week.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DF1D9-0AAA-4CCD-943D-72D4DF5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B5561-AEBB-4625-8F6A-DCDA3EC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Integration depth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6BF0E-0893-424C-B980-1D0C81C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High WTP impact when the product fits existing workflow systems.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9F08A-A96A-466A-98DF-8CF16245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072F3-C455-4659-93DF-436ECDB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Collaboration and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5E483-EBC0-461C-98B0-4223BF4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Important for larger teams that need shared ownership and auditability.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6690B-C17E-4C0D-9AC5-6C8A506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DC322-D455-47BA-A3A4-2AA76DA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3AAD4-3090-43D4-B0A1-A51DCBC3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35217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08767-FFE7-4A94-9560-CDBBE53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CC7B5-6A04-467A-B235-E52D7D4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8A018-4933-4595-BDBF-8319671A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9EAA-262C-4AA3-BD04-2157918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B4AF0-CD85-492A-BD1B-108B484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customer base naturally separates into three segments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AE6BC-A65E-4771-AB85-FF0BE679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segment pays for a different combination of scale, control, and workflow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F943C-BCEE-4416-ACCF-43B64239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DF2FC-A5AC-46CD-8552-39FE5E40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Small practices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DAC2F-24EC-40A4-893B-0C42BDF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Price-sensitive teams that need core workflow benefits without overhead.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24973-EA7A-4881-B86C-7B78618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0D3A5-5B0C-41E8-89E2-566CF3E0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Growing firms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60F76-9A29-4CDA-B205-41FA13BF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Mid-sized teams that value collaboration and integration more than the lowest price.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B6B79-42A5-4424-B7ED-E6D2D8D1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1C83F-8D13-44F5-959A-C748B0F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Established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749CD-E031-4575-BBB5-FB5EB33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Larger buyers that pay for admin controls, compliance, and custom workflow fit.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78B75-72C7-408B-9135-E4C228ED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B698F-3A15-4107-8D1E-3484211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AE9B0-5399-47B5-9086-5A2FB21A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7217002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0E6EA-9E09-4639-8C79-582B48F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A7053-486A-4C93-A5FF-3B4A3D08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BE1CF-468D-418B-96AE-802B02C2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FBF8E-3D0A-498C-B7C0-8E91611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2B263-0393-40E5-8640-C4F07BA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recommended tier architecture creates clean upgrade fences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B9154-C673-4BFA-AEA7-5DB75E1F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pricing ladder should make the customer progression obvious to both product and sales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BF02-D881-4211-9E67-B08FF1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C193D-E8A4-45EF-B7B0-DCC80D0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EF6CC-2C92-47B7-B345-8F9B643C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2C856-3E75-4F95-8EB3-1D1F25C7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89924-AD35-4069-9958-7C4F048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B9445-5857-45DA-98CB-CFE3C6F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90EEF-68FD-43AD-9781-54B22DB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1EC0-23E8-4D9C-B2F7-BAEF56F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4E8A1-A57B-4365-829F-F43D5AF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457450"/>
            <a:ext cx="2194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60F3F-43E8-4C8C-9277-E32BBEA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552700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Value proposition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70B62-C2E1-4340-845C-784F5752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355D2-FFC8-4FD0-8C06-D2E5DE3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Starter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CD397-7372-470B-A44B-9AEC8CEF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55E85-6395-4DEA-ADF4-366FF848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88283-9E84-4A1A-B4A8-ABA7AEED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224E2-44AE-4F05-9762-6A6B688D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1-5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AC700-D9AF-4837-A27A-A1A73A2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940D7-A7E6-486C-BA63-5837C00C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Core workflow, 2 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40376-0450-4A0C-9D33-C8B2732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8003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33147-7AE0-44C0-8852-3EBBD9B3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765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Replace manual processes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A9241-1287-4728-B016-793693E6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82279-31B0-4B3E-8A48-31FA6BF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Professional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6D1811-E9CB-40BE-8C5B-810E177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1BFEF6-BE9C-4769-94DB-11E1C60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$149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3DFE6-258D-4FBE-B41E-D5386B1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B3B059-5776-4BFF-AC6D-66C877F4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6-25 users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4ACB0-A200-4720-AD16-633AEAD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270678-4817-4FD6-A949-5CE484D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All integrations, collaboration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40319-B1FA-4EFB-822F-9EDB8EF5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3337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2080FF-BCC5-4C79-AC83-C3463BD3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4099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Team productivity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8A609-D442-4B70-883D-06FA8F4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1DD41-57AE-4F84-A829-AE1C2E89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Business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9C5FC-3FB6-4DF7-9C66-2D43F99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742CB9-A968-49BC-9225-A939DE34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$399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F03510-BE9B-4F5D-AA50-A006A6C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F852CB-3A39-43E7-813A-2C0E719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26-100 users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1761AA-300C-43E7-A010-90FDA18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2AB06-093B-483F-8338-687F979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Custom integrations, compliance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A6D8A-F5C2-486C-8DAB-57258E1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867150"/>
            <a:ext cx="21945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94B1EB-5E52-4D09-BFB6-8B992B10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943350"/>
            <a:ext cx="20421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Operational scale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77F74D-25BB-4522-8B5D-35CA50B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ladder captures value while keeping the pricing page readable.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01A5AA-E364-40FF-8232-4FAD538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B17CBB-93F7-48BC-A41D-BC5AD1F5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61ED19-3AD7-442A-BE9B-1B876BF0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621555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C4099-7EE2-45E0-AB29-DF1DE0C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F809-0037-44C2-A806-EDA8C3A2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92E7C-354C-4CF7-9705-3C8CEAB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41360-2424-48F7-9606-E5940CF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1FD97-5FF1-4882-8F72-9150336F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price ladder should mirror the value ladder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72305-CC78-4C38-A5AB-20979D42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step up the pricing ladder maps to a clear increase in workflow value and organizational complexity.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7BF36-9E26-4778-B490-B38AF167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0100" y="2686050"/>
          <a:ext xmlns:a="http://schemas.openxmlformats.org/drawingml/2006/main" cx="762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0d819be8045d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648DD-378F-4739-96DE-3FAE9F4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08F41-3EED-45B0-BFEB-09C615D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7E6"/>
                </a:solidFill>
              </a:defRPr>
            </a:pPr>
            <a:r>
              <a:rPr sz="825" b="1">
                <a:solidFill>
                  <a:srgbClr val="C9D7E6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71C4E-45F7-4A77-A397-0067EF13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133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clean ladder is easier to sell than a crowded matrix of weakly differentiated plans.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79742-87B7-40DB-A2E1-402A46E2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976E-0091-4A30-B37C-7A7943E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7CD31-408E-4806-A3AD-C3B33A6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5203181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5664-9BC9-4305-A2BE-8D00A2E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0CCE5-3570-41ED-BD97-CA4691F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D3AE0-F2F3-4087-8D35-83ED90E2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B2B SAAS | VALUE-BASED MONETIZATION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29748-B8FB-485A-A5F6-B402BF95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1088A-D993-407F-95C4-F0B44AD3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Validation needs to happen before a full rollout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FB62D-08EB-468C-9F6E-D36F878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Good pricing work ends with a test plan, not a slide that says done.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30D90-891F-4CD2-BB1D-6236537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2339D-4642-45BA-A106-A7AFDC7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29FBD-3A19-45CD-AD0E-0E1088B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DDA2B-7716-4EF9-8E2A-8FF6AE9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Run a Van Westendorp price-sensitivity survey with free-tier users.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F4498-B861-47BF-A490-55C550C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38636-A6CD-412C-95B9-D002A98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A/B test the new pricing page on half of inbound traffic for two weeks.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6F583-662A-4EFE-990F-3942911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60D0A-8535-4DE4-BCE9-D967024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Offer the new tiers to high-usage customers with a grandfather option.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D4BD9-E99C-4D78-A2BA-2062DA68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B7F2-5409-4D6C-838E-B255D43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Pressure-test the packaging logic inside enterprise sales calls.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4653F-514B-4FC7-9B8B-AC76E81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6C7A3-3844-4004-84E3-A3B4842D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Expected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EFA10-3140-43F7-AF2A-8A033824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recommendation targets higher ARPU, lower churn, and stronger expansion revenue without a harder adoption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34160-5A08-47AF-9E8F-E2A350C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3BC87-1861-4BDA-A74D-945F4005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Strategy Memo | Self-initiated | 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383AA-327E-479E-98A0-6B4669D3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8936221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97EDC-8F5F-41B1-AA00-217078F2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B628E-240B-43F9-9E4D-783D3AD8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F1231-C40C-4E1A-9D7A-2AE5B70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This asset demonstrates commercial reasoning, not only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34A1F-C64C-4504-B697-CACA20B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It positions Santiago as someone who can translate product value into monetization logic and decision-ready pricing 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45315-E6E9-4839-B8BB-F2B408C8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8BED5-C337-4CBC-8A43-82037E1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D78E7-00ED-4FC2-B7E9-5D576116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Relevant for pricing strategy, packaging design, and growth-stage research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1C569-1189-4BEA-9472-564B9CEB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E6E06-A96C-47CB-8734-DFBF5FCD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07B64-EAE2-41BF-BB2B-43BF6A8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A4202-6BC3-4D36-A162-F76712C3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98063-1477-4FEC-9E2F-2848BD6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B035-8CA3-4FC0-A673-9F535A7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C1D5B-BA3A-4A26-AC02-7591213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strategy memo based on real pricing research methodology. Simulated decision-grade sample.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24A7F-8B97-4337-82FD-B2FAABB3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4CD76-4917-424A-A623-3C6C089C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Strategy Memo</a:t>
            </a:r>
          </a:p>
        </p:txBody>
      </p:sp>
    </p:spTree>
    <p:extLst>
      <p:ext uri="{BB962C8B-B14F-4D97-AF65-F5344CB8AC3E}">
        <p14:creationId xmlns:p14="http://schemas.microsoft.com/office/powerpoint/2010/main" val="721484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2026-04-22T03:24:05.6580000Z</dcterms:created>
  <dcterms:modified xsi:type="dcterms:W3CDTF">2026-04-22T03:24:05.6580000Z</dcterms:modified>
</coreProperties>
</file>