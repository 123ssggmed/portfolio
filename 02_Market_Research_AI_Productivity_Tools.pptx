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a6e7b08c4e47a1" /><Relationship Type="http://schemas.openxmlformats.org/officeDocument/2006/relationships/extended-properties" Target="/docProps/app.xml" Id="R199bf626e881447d" /><Relationship Type="http://schemas.openxmlformats.org/officeDocument/2006/relationships/officeDocument" Target="/ppt/presentation.xml" Id="Rebd29bd1bc054b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1b2646316e43d6"/>
  </p:sldMasterIdLst>
  <p:notesMasterIdLst>
    <p:notesMasterId xmlns:r="http://schemas.openxmlformats.org/officeDocument/2006/relationships" r:id="Rd0a62b31be6a46e9"/>
  </p:notesMasterIdLst>
  <p:sldIdLst>
    <p:sldId xmlns:r="http://schemas.openxmlformats.org/officeDocument/2006/relationships" id="256" r:id="Ra0a3877538d04322"/>
    <p:sldId xmlns:r="http://schemas.openxmlformats.org/officeDocument/2006/relationships" id="257" r:id="R4a533e838d9c40ab"/>
    <p:sldId xmlns:r="http://schemas.openxmlformats.org/officeDocument/2006/relationships" id="258" r:id="Rba93d5422fc7427e"/>
    <p:sldId xmlns:r="http://schemas.openxmlformats.org/officeDocument/2006/relationships" id="259" r:id="R3819188a42104385"/>
    <p:sldId xmlns:r="http://schemas.openxmlformats.org/officeDocument/2006/relationships" id="260" r:id="Rd6e8c959c0ad44ba"/>
    <p:sldId xmlns:r="http://schemas.openxmlformats.org/officeDocument/2006/relationships" id="261" r:id="R069feee88e8d48a0"/>
    <p:sldId xmlns:r="http://schemas.openxmlformats.org/officeDocument/2006/relationships" id="262" r:id="Rd91e48756a004dc0"/>
    <p:sldId xmlns:r="http://schemas.openxmlformats.org/officeDocument/2006/relationships" id="263" r:id="R3a77dcd908364948"/>
    <p:sldId xmlns:r="http://schemas.openxmlformats.org/officeDocument/2006/relationships" id="264" r:id="R5324ce44eb09405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1b2646316e43d6" /><Relationship Type="http://schemas.openxmlformats.org/officeDocument/2006/relationships/theme" Target="/ppt/theme/theme1.xml" Id="Rd3526fd9052a43de" /><Relationship Type="http://schemas.openxmlformats.org/officeDocument/2006/relationships/notesMaster" Target="/ppt/notesMasters/notesMaster1.xml" Id="Rd0a62b31be6a46e9" /><Relationship Type="http://schemas.openxmlformats.org/officeDocument/2006/relationships/presProps" Target="/ppt/presProps.xml" Id="R4488cfe97d41493c" /><Relationship Type="http://schemas.openxmlformats.org/officeDocument/2006/relationships/viewProps" Target="/ppt/viewProps.xml" Id="Rca3f51d6e2cc4dd2" /><Relationship Type="http://schemas.openxmlformats.org/officeDocument/2006/relationships/tableStyles" Target="/ppt/tableStyles.xml" Id="R4b39bdfce44c4951" /><Relationship Type="http://schemas.openxmlformats.org/officeDocument/2006/relationships/slide" Target="/ppt/slides/slide1.xml" Id="Ra0a3877538d04322" /><Relationship Type="http://schemas.openxmlformats.org/officeDocument/2006/relationships/slide" Target="/ppt/slides/slide2.xml" Id="R4a533e838d9c40ab" /><Relationship Type="http://schemas.openxmlformats.org/officeDocument/2006/relationships/slide" Target="/ppt/slides/slide3.xml" Id="Rba93d5422fc7427e" /><Relationship Type="http://schemas.openxmlformats.org/officeDocument/2006/relationships/slide" Target="/ppt/slides/slide4.xml" Id="R3819188a42104385" /><Relationship Type="http://schemas.openxmlformats.org/officeDocument/2006/relationships/slide" Target="/ppt/slides/slide5.xml" Id="Rd6e8c959c0ad44ba" /><Relationship Type="http://schemas.openxmlformats.org/officeDocument/2006/relationships/slide" Target="/ppt/slides/slide6.xml" Id="R069feee88e8d48a0" /><Relationship Type="http://schemas.openxmlformats.org/officeDocument/2006/relationships/slide" Target="/ppt/slides/slide7.xml" Id="Rd91e48756a004dc0" /><Relationship Type="http://schemas.openxmlformats.org/officeDocument/2006/relationships/slide" Target="/ppt/slides/slide8.xml" Id="R3a77dcd908364948" /><Relationship Type="http://schemas.openxmlformats.org/officeDocument/2006/relationships/slide" Target="/ppt/slides/slide9.xml" Id="R5324ce44eb0940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80f619a7d8b4b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25726d172d4f17" /><Relationship Type="http://schemas.openxmlformats.org/officeDocument/2006/relationships/notesMaster" Target="/ppt/notesMasters/notesMaster1.xml" Id="R6dcd9dbcaf8441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e51aa398f342f9" /><Relationship Type="http://schemas.openxmlformats.org/officeDocument/2006/relationships/notesMaster" Target="/ppt/notesMasters/notesMaster1.xml" Id="Ra05cd0f4bfa442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9036dec0f14365" /><Relationship Type="http://schemas.openxmlformats.org/officeDocument/2006/relationships/notesMaster" Target="/ppt/notesMasters/notesMaster1.xml" Id="Rbe2be090bb8043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c86e621acf469a" /><Relationship Type="http://schemas.openxmlformats.org/officeDocument/2006/relationships/notesMaster" Target="/ppt/notesMasters/notesMaster1.xml" Id="Rb5108a6383014c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8b7849f85f4298" /><Relationship Type="http://schemas.openxmlformats.org/officeDocument/2006/relationships/notesMaster" Target="/ppt/notesMasters/notesMaster1.xml" Id="Ra6056dda9f2d45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48a4f822474318" /><Relationship Type="http://schemas.openxmlformats.org/officeDocument/2006/relationships/notesMaster" Target="/ppt/notesMasters/notesMaster1.xml" Id="Rc62c5fb7531c46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ee873aac5846f6" /><Relationship Type="http://schemas.openxmlformats.org/officeDocument/2006/relationships/notesMaster" Target="/ppt/notesMasters/notesMaster1.xml" Id="Rf44c1317b9fb44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bd346eedaa4418" /><Relationship Type="http://schemas.openxmlformats.org/officeDocument/2006/relationships/notesMaster" Target="/ppt/notesMasters/notesMaster1.xml" Id="R20c3f890a5984a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ca520390b14ae4" /><Relationship Type="http://schemas.openxmlformats.org/officeDocument/2006/relationships/notesMaster" Target="/ppt/notesMasters/notesMaster1.xml" Id="R79a25f9963154a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543d9630ed430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A8E045CD-F434-4E7C-A6D4-472C3EF6869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340B3CDB-FEDF-4B5A-873F-A67A302B5B38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7204BC2-40FF-4510-AF16-E8BBD530D35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B395B43-5BAE-4746-B2D1-99FB0FB53F8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E59857-EC02-4984-A634-6461572D785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f8fbf1787594997" /><Relationship Type="http://schemas.openxmlformats.org/officeDocument/2006/relationships/slideLayout" Target="/ppt/slideLayouts/slideLayout2.xml" Id="R5888a3caf81c43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85EB6B-0511-4E59-BF17-BD7479A17938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88a3caf81c43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7b4f4c9eab424c" /><Relationship Type="http://schemas.openxmlformats.org/officeDocument/2006/relationships/notesSlide" Target="/ppt/notesSlides/notesSlide1.xml" Id="R87d6cbe4c7b242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e5d1e80eb446c8" /><Relationship Type="http://schemas.openxmlformats.org/officeDocument/2006/relationships/notesSlide" Target="/ppt/notesSlides/notesSlide2.xml" Id="R19b85ac56e564e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73d4c8f7c54b79" /><Relationship Type="http://schemas.openxmlformats.org/officeDocument/2006/relationships/notesSlide" Target="/ppt/notesSlides/notesSlide3.xml" Id="Rb036d19e114645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187e281a8d49fa" /><Relationship Type="http://schemas.openxmlformats.org/officeDocument/2006/relationships/chart" Target="/ppt/slides/charts/chart1.xml" Id="R68b40c5813d64a39" /><Relationship Type="http://schemas.openxmlformats.org/officeDocument/2006/relationships/notesSlide" Target="/ppt/notesSlides/notesSlide4.xml" Id="R5ceae56ec4b545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6522ed3c3c4d52" /><Relationship Type="http://schemas.openxmlformats.org/officeDocument/2006/relationships/notesSlide" Target="/ppt/notesSlides/notesSlide5.xml" Id="R05c8c4b9b5cc49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5c45d4e8864b0f" /><Relationship Type="http://schemas.openxmlformats.org/officeDocument/2006/relationships/notesSlide" Target="/ppt/notesSlides/notesSlide6.xml" Id="Rfb5c9035e2484a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84a20c71c34812" /><Relationship Type="http://schemas.openxmlformats.org/officeDocument/2006/relationships/notesSlide" Target="/ppt/notesSlides/notesSlide7.xml" Id="Rc52d01d624a94d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bfc38added4110" /><Relationship Type="http://schemas.openxmlformats.org/officeDocument/2006/relationships/notesSlide" Target="/ppt/notesSlides/notesSlide8.xml" Id="Re6f2b5be177448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2af1d786784291" /><Relationship Type="http://schemas.openxmlformats.org/officeDocument/2006/relationships/notesSlide" Target="/ppt/notesSlides/notesSlide9.xml" Id="R9b31ec78758b401e" /></Relationships>
</file>

<file path=ppt/slides/charts/chart1.xml><?xml version="1.0" encoding="utf-8"?>
<c:chartSpace xmlns:c="http://schemas.openxmlformats.org/drawingml/2006/chart">
  <c:lang val="en-US"/>
  <c:roundedCorners val="0"/>
  <c:chart>
    <c:view3D/>
    <c:plotArea>
      <c:layout/>
      <c:barChart>
        <c:barDir val="col"/>
        <c:varyColors val="0"/>
        <c:ser>
          <c:idx val="0"/>
          <c:order val="0"/>
          <c:tx>
            <c:v>Avg. monthly price</c:v>
          </c:tx>
          <c:cat>
            <c:strLit>
              <c:ptCount val="3"/>
              <c:pt idx="0">
                <c:v>Incumbents</c:v>
              </c:pt>
              <c:pt idx="1">
                <c:v>Challengers</c:v>
              </c:pt>
              <c:pt idx="2">
                <c:v>Specialists</c:v>
              </c:pt>
            </c:strLit>
          </c:cat>
          <c:val>
            <c:numLit>
              <c:formatCode/>
              <c:ptCount val="3"/>
              <c:pt idx="0">
                <c:v>20</c:v>
              </c:pt>
              <c:pt idx="1">
                <c:v>55</c:v>
              </c:pt>
              <c:pt idx="2">
                <c:v>24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E59857-EC02-4984-A634-6461572D7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53FAD-86A6-4890-91D8-4AB6170F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F1C5C-7D60-4A0E-A536-FD74BFC2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19700"/>
            <a:ext cx="12192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57065-23A1-41A0-B68C-288D38BE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C53F3-91AA-45D9-9558-7D9C37BC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7E7F7"/>
                </a:solidFill>
              </a:defRPr>
            </a:pPr>
            <a:r>
              <a:rPr sz="825" b="1">
                <a:solidFill>
                  <a:srgbClr val="D7E7F7"/>
                </a:solidFill>
              </a:rPr>
              <a:t>MARKET RESEARCH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C7276-91DA-4FC6-A12A-6EF49147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7524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AI Productivity Tools: Competitive Landscape and Market Entry Strategy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C4CC4-C36B-4A5A-AA5A-71081A52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6762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0D7DF"/>
                </a:solidFill>
              </a:defRPr>
            </a:pPr>
            <a:r>
              <a:rPr sz="1275" b="0">
                <a:solidFill>
                  <a:srgbClr val="D0D7DF"/>
                </a:solidFill>
              </a:rPr>
              <a:t>A decision-oriented synthesis of pricing logic, buyer needs, and practical white space in a crowded AI category.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AF03D-12AB-456F-B99B-6FCA589A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1162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73EA5-3C5B-4788-831B-B281026B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00475"/>
            <a:ext cx="971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12 competitors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FD400-1610-44C8-9F3E-5E8A998C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33800"/>
            <a:ext cx="12096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2EBA87-2A80-4B10-8BE3-DB39858E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00475"/>
            <a:ext cx="10191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3 market layers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B8618-2CE0-4496-9867-10E3BB51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733800"/>
            <a:ext cx="1162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72AA6F-0BCA-4F0F-97A3-9EFCBEF6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800475"/>
            <a:ext cx="971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500+ reviews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1D4D62-1208-4366-A969-8EEB43E1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733800"/>
            <a:ext cx="158686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9525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FC38C3-EE5B-4B5C-B14A-BE758198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800475"/>
            <a:ext cx="139636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Self-initiated sample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A94998-0C9B-49A1-BD04-A99A5DFE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23950"/>
            <a:ext cx="33909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E2C18D-62E8-4DB8-8FB2-1BF7DD42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3906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8C5D1"/>
                </a:solidFill>
              </a:defRPr>
            </a:pPr>
            <a:r>
              <a:rPr sz="750" b="1">
                <a:solidFill>
                  <a:srgbClr val="B8C5D1"/>
                </a:solidFill>
              </a:rPr>
              <a:t>Work 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CD08D2-9A0F-4194-97F3-6A9B7712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192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Self-initiated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68C89A-DFAD-4D5A-BD01-16A705CB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14550"/>
            <a:ext cx="2705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D7E1EB"/>
                </a:solidFill>
              </a:defRPr>
            </a:pPr>
            <a:r>
              <a:rPr sz="1013" b="0">
                <a:solidFill>
                  <a:srgbClr val="D7E1EB"/>
                </a:solidFill>
              </a:rPr>
              <a:t>12  competitors reviewed</a:t>
            </a:r>
          </a:p>
          <a:p xmlns:a="http://schemas.openxmlformats.org/drawingml/2006/main">
            <a:pPr algn="l">
              <a:defRPr sz="1013" b="0">
                <a:solidFill>
                  <a:srgbClr val="D7E1EB"/>
                </a:solidFill>
              </a:defRPr>
            </a:pPr>
            <a:r>
              <a:rPr sz="1013" b="0">
                <a:solidFill>
                  <a:srgbClr val="D7E1EB"/>
                </a:solidFill>
              </a:rPr>
              <a:t>3  market layers analyzed</a:t>
            </a:r>
          </a:p>
          <a:p xmlns:a="http://schemas.openxmlformats.org/drawingml/2006/main">
            <a:pPr algn="l">
              <a:defRPr sz="1013" b="0">
                <a:solidFill>
                  <a:srgbClr val="D7E1EB"/>
                </a:solidFill>
              </a:defRPr>
            </a:pPr>
            <a:r>
              <a:rPr sz="1013" b="0">
                <a:solidFill>
                  <a:srgbClr val="D7E1EB"/>
                </a:solidFill>
              </a:rPr>
              <a:t>500+  customer reviews referenced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D53B2C-1A90-4129-BC3D-DA02600F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A5568"/>
                </a:solidFill>
              </a:defRPr>
            </a:pPr>
            <a:r>
              <a:rPr sz="825" b="0">
                <a:solidFill>
                  <a:srgbClr val="4A5568"/>
                </a:solidFill>
              </a:rPr>
              <a:t>Portfolio asset built for recruiter, operator, and client review.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91DD38-C719-4EB7-B0DF-AF990918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202C"/>
                </a:solidFill>
              </a:defRPr>
            </a:pPr>
            <a:r>
              <a:rPr sz="1050" b="0">
                <a:solidFill>
                  <a:srgbClr val="1A202C"/>
                </a:solidFill>
              </a:rPr>
              <a:t>Self-initiated research report based on publicly available data. Simulated decision-grade sample.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6F2544-4384-492C-81B2-1412045D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8864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A2332"/>
                </a:solidFill>
              </a:defRPr>
            </a:pPr>
            <a:r>
              <a:rPr sz="900" b="1">
                <a:solidFill>
                  <a:srgbClr val="1A2332"/>
                </a:solidFill>
              </a:rPr>
              <a:t>Santiago Garces Chavarria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17CB29-B778-4B3E-9617-71613BE9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096000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A5568"/>
                </a:solidFill>
              </a:defRPr>
            </a:pPr>
            <a:r>
              <a:rPr sz="750" b="0">
                <a:solidFill>
                  <a:srgbClr val="4A5568"/>
                </a:solidFill>
              </a:rPr>
              <a:t>Research | Strategy | AI Workflow Execution</a:t>
            </a:r>
          </a:p>
        </p:txBody>
      </p:sp>
    </p:spTree>
    <p:extLst>
      <p:ext uri="{BB962C8B-B14F-4D97-AF65-F5344CB8AC3E}">
        <p14:creationId xmlns:p14="http://schemas.microsoft.com/office/powerpoint/2010/main" val="9658693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E59857-EC02-4984-A634-6461572D7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EA3B7-F1D3-453D-AAC9-2B4BF9D6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66236-8AD2-4F44-8647-F1A0C808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26D33-F5B1-4917-A82C-FE6258C1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MARKET RESEARCH | COMPETITIVE INTELLIGENCE | PRICING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69DE4-F9CB-4B96-A6F2-2BA9E4FA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02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4787E-CFF7-4850-A1E8-D1938484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The market is fragmented, but not random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89FB7-71AE-40C2-AAFD-3B63CB38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Competitive behavior becomes clearer when products are grouped by monetization logic instead of feature lists alone.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DAE62-6157-43FF-8177-E83E3426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68580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138F9-3854-4158-BC2D-41289029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5282"/>
                </a:solidFill>
              </a:defRPr>
            </a:pPr>
            <a:r>
              <a:rPr sz="825" b="1">
                <a:solidFill>
                  <a:srgbClr val="2C5282"/>
                </a:solidFill>
              </a:rPr>
              <a:t>Key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D2E33-5FDC-441E-BA3C-F82E4775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3C383-0F3E-41DC-A46B-C056C378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Incumbents bundle AI into broader suites and win on distribution.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5F01D4-AB31-4D13-A55B-4C8AF1C1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25FDE0-C28B-4AC4-8770-917A4522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338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Challengers sell workflow-specific output quality and collaboration.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CF11E-4F3D-4050-8FA9-21BC4519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48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706015-55CC-43A2-8B9B-BB100A4E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Specialists dominate narrow use cases with strong habit formation.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16D07A-5E93-4FC2-B6C4-3D68C030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57450"/>
            <a:ext cx="37338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80B3A9-5C71-48A9-815D-88C8D30E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241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D7E6"/>
                </a:solidFill>
              </a:defRPr>
            </a:pPr>
            <a:r>
              <a:rPr sz="900" b="1">
                <a:solidFill>
                  <a:srgbClr val="C9D7E6"/>
                </a:solidFill>
              </a:rPr>
              <a:t>Decision focus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3AE44D-4185-41A4-91E0-39A8B524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05150"/>
            <a:ext cx="2971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The useful question is not who exists. It is where a new entrant can compete without being compressed by bundling.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CFD6EF-2DBF-4BC4-B2EA-FAE7FFB0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1E0E12-C772-4CC0-A79D-199B5F46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Market Research Report | Self-initiated | 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624FEF-B075-40C9-9F19-090A3D97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7072831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E59857-EC02-4984-A634-6461572D7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4F51E-3CBA-45BA-9E8C-4365D602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E0BE5-74D0-4C5F-8C04-AB8D6F3E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9C2AB-2AC0-431A-AAD0-DBAF4835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MARKET RESEARCH | COMPETITIVE INTELLIGENCE | PRICING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D0A90-A29C-4C14-9DD8-0575F96F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03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FA332-F65E-4BF9-9C2C-8C2E7363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Three layers define the operating economics of the category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B4CDDE-3FA3-4975-846F-CF125147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Each layer uses a different combination of pricing, distribution, and product depth.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6E5C8-884A-4845-BC32-ED474562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D16921-D2BF-4D96-A77E-FCC939E4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Platform incumbents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99BF8-485A-4DC4-A804-AD376009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Low to moderate price points, strong distribution, AI as a retention feature.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521EB-8CFA-4D00-8E2E-7B59DB4E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15D1F7-5A8F-4F93-A7E9-6E9F18D5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Focused challengers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7D50DA-560C-467F-8524-0DE853A6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Higher pricing justified by output quality, workflows, and team features.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7B9A51-5F09-4E4C-9E92-627E6C8A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2D4682-5B53-46C8-88B3-34489D71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Niche specialists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7C6F7D-1A19-4F08-AE5A-3EBCB616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Single-use-case depth, organic acquisition, and narrower but stronger value propositions.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0D3FAE-B2D6-43AF-81B2-7B8A29C9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CE2EBB-0C7F-4809-AB3E-5086B3A1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Market Research Report | Self-initiated | 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7B372B-4D37-45B9-ACCB-4DE759F1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435049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E59857-EC02-4984-A634-6461572D7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7A0FD-B04F-47D0-97D0-843E0B7A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4D455-5A24-4A60-AE54-5EE44B95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7EB7C-6D8E-4D90-94A6-36FEC2FA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MARKET RESEARCH | COMPETITIVE INTELLIGENCE | PRICING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444BD-45AF-4B6B-8D8C-FCF35B1F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04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B415E-9467-49F0-9C98-FFCD3605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Average price points reflect product positioning, not just feature count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30E25-A0B3-486B-91DD-F5690C8E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Bundled incumbents anchor low. AI-native challengers sustain premium pricing when output quality is materially higher.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8A419-20AC-4FF3-A334-0AB27A12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8001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800100" y="2686050"/>
          <a:ext xmlns:a="http://schemas.openxmlformats.org/drawingml/2006/main" cx="76200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b40c5813d64a39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D6D5A-D0B2-4E2E-BB28-2118F25B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00300"/>
            <a:ext cx="2667000" cy="3143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8A391-AD69-42B7-9EF3-2DF9CAA9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860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D7E6"/>
                </a:solidFill>
              </a:defRPr>
            </a:pPr>
            <a:r>
              <a:rPr sz="825" b="1">
                <a:solidFill>
                  <a:srgbClr val="C9D7E6"/>
                </a:solidFill>
              </a:rPr>
              <a:t>Insight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876DF3-1C31-4740-9332-A90B1B9C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67050"/>
            <a:ext cx="21336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Premium pricing holds only when workflow specificity or output quality is visibly better than suite-native AI features.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7C6BC-0EBA-470E-96DC-9ADDDE41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C055E3-1693-466D-8D7A-AC3A2644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Market Research Report | Self-initiated | 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613A95-4A8A-4E39-B91A-F91C3DE0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17868806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E59857-EC02-4984-A634-6461572D7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A7246-6590-4C73-9461-FD8D7692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BA112-B24B-43CB-A527-BC93C262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D06344-4BDA-4A72-B6F6-A905ED3E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MARKET RESEARCH | COMPETITIVE INTELLIGENCE | PRICING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A746F-25D3-424F-B774-A2F332EF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05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D0F3F-4B77-431C-9DED-333AFBCF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Buyer needs explain why one price model does not fit the full market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269C7-60ED-4951-A8DC-FB82E184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Teams are buying different outcomes even when the products look superficially similar.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6D7FF-F670-4E05-96E9-A7671EF1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743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6FF381-5E4F-46B8-8281-4DF1E4E5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Segment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6BD4C3-01DC-428A-B92F-6C3A073A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57450"/>
            <a:ext cx="2743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A54BD-4BA3-413A-8354-55F3E7A0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52700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Price sensitivity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F356CB-22EC-429F-9484-BBEA27A2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57450"/>
            <a:ext cx="2743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840DF2-D33B-4622-A6A2-3815D951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52700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Key needs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C82E0C-9160-4CB3-9BFB-56668632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57450"/>
            <a:ext cx="2743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5A3C1-6EB9-41EE-A536-BB753776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52700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Churn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79BB01-FE98-43A3-AF28-7F2D20C8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74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EF727B-DB05-4F13-A5FF-A485114C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590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Solo professionals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82BEBA-D61F-4029-BBDA-FD064AB7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00350"/>
            <a:ext cx="274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DC2EE6-FF9F-4739-8AFE-B7AEAF1F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2590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High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151156-13CC-4F4D-8518-11955E41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274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2E3EF5-FD91-422B-A1D2-8D2AC1A7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76550"/>
            <a:ext cx="2590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Speed, simplicity, low friction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9551F7-CD11-46E9-9140-A9164A81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00350"/>
            <a:ext cx="274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CC6E68-A703-4033-A353-9B59B730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76550"/>
            <a:ext cx="2590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High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6A6530-EC38-4577-B625-94231C81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74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798A60-A8CB-48E1-8112-A4AD490C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590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SMB teams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58ED25-F085-4C9E-B03F-8A105D91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33750"/>
            <a:ext cx="274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93C852-1E27-46B4-B0D9-1D7E7D9A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09950"/>
            <a:ext cx="2590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Moderate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507075-47BA-4154-A3D6-B452C834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274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A08E21-D3EB-4255-AA38-769FABDC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09950"/>
            <a:ext cx="2590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Collaboration and integration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F39CAB-9DE2-479A-96D0-09152C89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33750"/>
            <a:ext cx="274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B934DB-7FB9-4B2B-B0D5-98806E60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09950"/>
            <a:ext cx="2590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Medium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44D68E-2EDC-4768-8DEF-21D1CA55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74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55477D-E3D3-427C-AE48-E2228D0B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590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Enterprise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EF797C-08E1-43A0-965B-49C9A74E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67150"/>
            <a:ext cx="274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90D434-F5C0-4149-B099-AA39C7E3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43350"/>
            <a:ext cx="2590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Low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D7CDED-278E-4E01-A173-7CFA7761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67150"/>
            <a:ext cx="274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A5FA47-2C5E-4772-9D4A-7B7417B0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43350"/>
            <a:ext cx="2590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Control, compliance, admin layers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85646E-2B0B-47D9-8E78-610476BF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67150"/>
            <a:ext cx="274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571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81C4F5-259E-4871-BE8F-AD842991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43350"/>
            <a:ext cx="2590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Low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5DBFC4-40F1-43F6-B7A9-80E75B95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A5568"/>
                </a:solidFill>
              </a:defRPr>
            </a:pPr>
            <a:r>
              <a:rPr sz="863" b="0">
                <a:solidFill>
                  <a:srgbClr val="4A5568"/>
                </a:solidFill>
              </a:rPr>
              <a:t>This segmentation is what turns a feature comparison into a market-entry strategy.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BEA47D-3C77-4033-B4BB-935D1D39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DB02B8-BF70-4960-8208-1C11D188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Market Research Report | Self-initiated | 02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58F355-B530-4671-9B17-F4DF9A7C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13381054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E59857-EC02-4984-A634-6461572D7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CA3B2-1A11-4D7C-A8DB-50D189CE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AEC35-E322-4C36-A745-0C6F036E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FE2C6-112B-4E06-B3B1-CF4C9D26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MARKET RESEARCH | COMPETITIVE INTELLIGENCE | PRICING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A18E7-51DC-4A1D-8C2E-AC4F7533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06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1D1A90-1ECC-43DB-B7DF-029B2A65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The evidence base mixed product, pricing, and customer signals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B8F205-034C-42D8-A7B2-E421D5DB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The method was intentionally practical: enough structure to support a recommendation without overbuilding the analysis.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2B1263-C144-4397-B24A-EDA38832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62E08-BB96-4D52-A671-D4326297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Pricing pages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E8B4B-45DD-484F-8361-E65A05C5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Used to capture packaging logic, upgrade fences, and monetization patterns.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7F0C5F-E602-4263-8007-8B03F6E8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08BDE-C75D-4F21-BCA0-48652A97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Product documentation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BC8A53-8E1E-4D29-AB93-3750FE74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Used to benchmark capabilities, workflows, and collaboration depth.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71EA98-FF3A-42C6-8362-22AE5F16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FCD4FC-1699-423A-A462-AF1ED25E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Review sentiment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176730-53C6-42F3-9CBC-B69F31ED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Used to identify what customers actually notice and value in daily use.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11CDC5-FD40-4D5A-B8AB-C315616F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308B15-A9A5-4DE2-8FBF-9A3E1D30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Market Research Report | Self-initiated | 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5C2E98-FE0B-405D-9F28-9099AE9D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21143745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E59857-EC02-4984-A634-6461572D7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1A06B-8554-47CF-9790-8C43E0C8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82C91-3A0E-415B-91F7-0A506B6E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C2A8F-2876-483D-934D-30AE25C7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MARKET RESEARCH | COMPETITIVE INTELLIGENCE | PRICING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E2CBA-799C-4C5E-9D5D-F9E53126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07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C68A5-AC11-4FE9-9E58-9076D08C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Three white spaces stand 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C1987-56F5-4ACF-9515-81468274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The best entry angles are specific enough to escape the broad-market bundle war.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957A4-9A03-41A7-86E1-7234BE7F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8DE4BB-8922-483C-B7E1-1180BFA4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Vertical compliance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C0C663-EF70-4739-A5E7-24E5F01D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Regulated industries value control features that broad tools add slowly.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E08F9-7FDE-4586-85C4-7DAFE0E2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2D719-A540-43FF-A9A6-471B8682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Emerging-market pricing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FEEF54-19B5-405C-AD17-70D34FAA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Local affordability and workflow realities remain under-served.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9D928A-8545-4B8C-AD7F-599788D8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47950"/>
            <a:ext cx="35052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F7B3B9-FE42-4BD5-A52B-3BD937DF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194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C5282"/>
                </a:solidFill>
              </a:defRPr>
            </a:pPr>
            <a:r>
              <a:rPr sz="1050" b="1">
                <a:solidFill>
                  <a:srgbClr val="2C5282"/>
                </a:solidFill>
              </a:rPr>
              <a:t>Premium solo operators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EA7003-358C-4701-9883-C45951BE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31623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Consultants and agency owners pay for quality if it protects billable time.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E92871-F525-48AB-95E9-EC0FE0E3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B8281B-7728-45AD-8CEB-D0BBED9E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Market Research Report | Self-initiated | 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BD0BBC-196A-4469-9221-EC4E6E3B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14759889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E59857-EC02-4984-A634-6461572D7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F22C2-6009-40B9-AA82-0F52E4BA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1D9E5-8DD0-423C-83E9-39762793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610BB-775E-4CE5-A0CA-543F2789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MARKET RESEARCH | COMPETITIVE INTELLIGENCE | PRICING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F488F-5745-4F6B-861D-ECA670A9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05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08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E1017-6980-47CF-8349-BBB5CC70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The market still carries four structural risks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02DE5-7638-44CE-82ED-93AE96F7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The recommendation is attractive only if the entry angle is sharp enough to survive these pressures.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2A066-1576-46A7-B560-922B3578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68580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152F62-1E89-4953-A50E-CF82C7C1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5282"/>
                </a:solidFill>
              </a:defRPr>
            </a:pPr>
            <a:r>
              <a:rPr sz="825" b="1">
                <a:solidFill>
                  <a:srgbClr val="2C5282"/>
                </a:solidFill>
              </a:rPr>
              <a:t>Key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D22B7-2516-497E-9F5E-6C6196A5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D53E2-67CF-44F0-8CDB-95C7C32D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Incumbent bundling can compress willingness to pay for general-purpose tools.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5C3442-0DD8-42BB-87BD-AAA2038A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4C21CA-5A69-4044-82DC-324FA57B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338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API cost volatility makes thin-margin offers fragile.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585EA4-B02A-4855-AFDF-9F00585B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48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49816B-80F9-4456-B60A-275A76CC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Base-feature commoditization lowers the value of undifferentiated launches.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918702-BCBB-4663-80D8-F04E114E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33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7DEB81-5097-473F-8A86-1FBC759E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Customer-acquisition costs remain challenging in saturated English-language markets.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CD57AB-4F8F-4482-9209-6CF00961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57450"/>
            <a:ext cx="37338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CC7829-C91A-4334-87C2-225B07F4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241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D7E6"/>
                </a:solidFill>
              </a:defRPr>
            </a:pPr>
            <a:r>
              <a:rPr sz="900" b="1">
                <a:solidFill>
                  <a:srgbClr val="C9D7E6"/>
                </a:solidFill>
              </a:rPr>
              <a:t>Implication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ABE9CF-88B0-4578-A947-534E7716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05150"/>
            <a:ext cx="2971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The default case is crowded. A viable entry thesis must be sharper than broad AI productivity positioning.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77FAC4-4D4E-42B2-9DBF-22CFA56B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350F6B-32B4-44B6-B7E3-30B9B9A5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Market Research Report | Self-initiated | 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3C542D-2F76-4C19-A216-A9B3B700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211063600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E59857-EC02-4984-A634-6461572D7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F03741-37E9-40A7-9D2A-9908A7BB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DD8D9-4F5A-4BAD-9AC4-543E0149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The recommendation is to enter through a wedge, not a category claim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FE15A4-DDED-4A42-B4C6-10CABACC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685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1EB"/>
                </a:solidFill>
              </a:defRPr>
            </a:pPr>
            <a:r>
              <a:rPr sz="1275" b="0">
                <a:solidFill>
                  <a:srgbClr val="D7E1EB"/>
                </a:solidFill>
              </a:rPr>
              <a:t>This report positions Santiago as a researcher who can turn scattered market signals into actionable positioning logic.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5DC95-3962-46FD-B2BB-5335E8D7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62293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8039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F9E7D-7F2B-4CBF-B0AC-0440CA90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7A5E1-CF84-4415-820C-D5134026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7660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Relevant for market-entry, landscape-mapping, and strategy-support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1C51E-84AB-46C1-8343-9678092E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31111-B38E-4B7B-B978-770914DC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6715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For portfolio reviews or project discussions, email santiago.garces.blevine@gmail.com. Include the role or project type, timeline, and expected deliverable format.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C46F8-6818-4B90-8549-14734B44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104900"/>
            <a:ext cx="3333750" cy="42862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B0A1C2-1385-436D-B463-9E6F73A5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0970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5282"/>
                </a:solidFill>
              </a:defRPr>
            </a:pPr>
            <a:r>
              <a:rPr sz="825" b="1">
                <a:solidFill>
                  <a:srgbClr val="2C5282"/>
                </a:solidFill>
              </a:rPr>
              <a:t>Contact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570534-013B-4BC3-8919-8961B409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2332"/>
                </a:solidFill>
              </a:defRPr>
            </a:pPr>
            <a:r>
              <a:rPr sz="1500" b="1">
                <a:solidFill>
                  <a:srgbClr val="1A2332"/>
                </a:solidFill>
              </a:rPr>
              <a:t>Santiago Garces Chavarria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37F136-FA74-470A-8A0B-515CB167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383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5568"/>
                </a:solidFill>
              </a:defRPr>
            </a:pPr>
            <a:r>
              <a:rPr sz="900" b="0">
                <a:solidFill>
                  <a:srgbClr val="4A5568"/>
                </a:solidFill>
              </a:rPr>
              <a:t>Market Research | Competitive Intelligence | AI Workflow 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127110-6679-4441-BCC4-E6E4CA89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09850"/>
            <a:ext cx="2571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202C"/>
                </a:solidFill>
              </a:defRPr>
            </a:pPr>
            <a:r>
              <a:rPr sz="1050" b="0">
                <a:solidFill>
                  <a:srgbClr val="1A202C"/>
                </a:solidFill>
              </a:rPr>
              <a:t>Self-initiated research report based on publicly available data. Simulated decision-grade sample.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E1CD0B-AA06-41C4-B8D0-8E201791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2571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santiago.garces.blevine@gmail.com</a:t>
            </a:r>
          </a:p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Medellin, Colombia</a:t>
            </a:r>
          </a:p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Available for portfolio review and project discussions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72598C-8877-4AC2-ABE0-EC54459F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149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Market Research Report</a:t>
            </a:r>
          </a:p>
        </p:txBody>
      </p:sp>
    </p:spTree>
    <p:extLst>
      <p:ext uri="{BB962C8B-B14F-4D97-AF65-F5344CB8AC3E}">
        <p14:creationId xmlns:p14="http://schemas.microsoft.com/office/powerpoint/2010/main" val="427282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2026-04-22T03:24:04.9110000Z</dcterms:created>
  <dcterms:modified xsi:type="dcterms:W3CDTF">2026-04-22T03:24:04.9110000Z</dcterms:modified>
</coreProperties>
</file>